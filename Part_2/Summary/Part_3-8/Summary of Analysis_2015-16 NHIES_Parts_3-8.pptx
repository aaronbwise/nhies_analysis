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CA6B4-A9CD-49AE-B9C1-64755B9EB3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9622B0-186E-4E22-82F7-79097BDF0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464E0B-D8CE-49A1-833D-AFEFD7938356}"/>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5" name="Footer Placeholder 4">
            <a:extLst>
              <a:ext uri="{FF2B5EF4-FFF2-40B4-BE49-F238E27FC236}">
                <a16:creationId xmlns:a16="http://schemas.microsoft.com/office/drawing/2014/main" id="{303DAB7D-1ABB-4CAF-8BFD-08611AD155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4BDC3F-A375-4004-8024-447793756070}"/>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77864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96A70-1E57-4895-B176-720511569A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256273-0BC2-4497-B0E5-33B95725D4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13FA40-25B4-4360-959B-519AFB08C845}"/>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5" name="Footer Placeholder 4">
            <a:extLst>
              <a:ext uri="{FF2B5EF4-FFF2-40B4-BE49-F238E27FC236}">
                <a16:creationId xmlns:a16="http://schemas.microsoft.com/office/drawing/2014/main" id="{C8F62033-0D86-4ABC-9444-B2D86CD1F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6E0CFF-7C37-4DB6-9D18-33F33EBFE49A}"/>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623140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BAAD0-576F-4382-B9F3-9E525C3D1A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0F2F14-E686-4C9A-BAFC-91206BE477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9A179D-2EFF-4ACC-A08E-93D8DCAF68AA}"/>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5" name="Footer Placeholder 4">
            <a:extLst>
              <a:ext uri="{FF2B5EF4-FFF2-40B4-BE49-F238E27FC236}">
                <a16:creationId xmlns:a16="http://schemas.microsoft.com/office/drawing/2014/main" id="{42AA5DE0-1237-4C62-999A-B48B8E137E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8C693-23AD-4748-991A-8A0A75BAF722}"/>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934014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3A98-B0C5-4410-83A7-6014610B49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6ABADA-3411-404C-98DB-333D4EB08C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281EA7-AC0F-4A57-9CD8-E4C4F88740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E3538A-C099-4C6F-AB61-C38474B08EC1}"/>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6" name="Footer Placeholder 5">
            <a:extLst>
              <a:ext uri="{FF2B5EF4-FFF2-40B4-BE49-F238E27FC236}">
                <a16:creationId xmlns:a16="http://schemas.microsoft.com/office/drawing/2014/main" id="{AC5A480A-57F5-406B-98A3-7F93AD659C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2F8CA-13AA-4850-A9DA-B9FE2083FDBB}"/>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3150336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45AC9-8B76-45D0-AE9A-D64D0969A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EC7AF7-5233-4AD1-B373-1B7A1B6A42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6C1637-A60B-44FE-B33E-59C5F3E0EB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7836FA-4728-40AD-ABF3-C5F47E9B65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E76A33-A1B8-4B80-A7A2-FE2C75D739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38C920-55BC-4203-A1F5-B1C9CEBA9551}"/>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8" name="Footer Placeholder 7">
            <a:extLst>
              <a:ext uri="{FF2B5EF4-FFF2-40B4-BE49-F238E27FC236}">
                <a16:creationId xmlns:a16="http://schemas.microsoft.com/office/drawing/2014/main" id="{10E413D1-4C7E-48D9-9C4A-D05422C9E2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EE8F6E-21F8-4171-9C35-FFE586CBE1AE}"/>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18561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2039-1BFC-4550-A6D3-1B4A6A0A4A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3996F7-6649-44E2-9F85-9FA0C0AF9D21}"/>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4" name="Footer Placeholder 3">
            <a:extLst>
              <a:ext uri="{FF2B5EF4-FFF2-40B4-BE49-F238E27FC236}">
                <a16:creationId xmlns:a16="http://schemas.microsoft.com/office/drawing/2014/main" id="{1AA98A43-C40A-4457-AF92-5288B4A480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020F24-3D65-4777-A191-E6B20D0E58F5}"/>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496519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EDD57A-B05A-46C4-AEE8-43CB51F2F199}"/>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3" name="Footer Placeholder 2">
            <a:extLst>
              <a:ext uri="{FF2B5EF4-FFF2-40B4-BE49-F238E27FC236}">
                <a16:creationId xmlns:a16="http://schemas.microsoft.com/office/drawing/2014/main" id="{3AC8DEF7-E2CD-443E-9200-473EF2FD49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F0DA3B-3EA7-48CB-95A7-43F5C6BD8D2B}"/>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1963955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ED687-8792-4846-9D6F-9D9B84F8E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3975E3-5376-4E97-91C9-8774F348D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BDD99A-DFA2-4D06-B3EE-DE24ECBD6E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E034BF-78C0-497B-ABEE-BFC25F729245}"/>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6" name="Footer Placeholder 5">
            <a:extLst>
              <a:ext uri="{FF2B5EF4-FFF2-40B4-BE49-F238E27FC236}">
                <a16:creationId xmlns:a16="http://schemas.microsoft.com/office/drawing/2014/main" id="{FB2AC9DC-6242-41F9-A087-A9C23849CD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E897CD-D388-4CB8-9C2C-B402E6D3E007}"/>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3807164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A1B77-35EF-4FE4-A66E-F765AB54BD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8E30B2-6A27-4E58-9DC4-48913A8BE7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59A05A-9AE9-44B8-849D-CF52EF09E2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A60853-BCFB-441B-92DA-722F94CFF346}"/>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6" name="Footer Placeholder 5">
            <a:extLst>
              <a:ext uri="{FF2B5EF4-FFF2-40B4-BE49-F238E27FC236}">
                <a16:creationId xmlns:a16="http://schemas.microsoft.com/office/drawing/2014/main" id="{FA044188-4485-408D-BDD0-67A277C217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39CE07-8574-41C7-AEA9-687B212271B3}"/>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64441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1C701-CC4B-4796-804E-19C0B9B6E0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8C697E-9017-414A-9388-6F294ACB6E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25C1FC-96B7-42B5-BB5E-B918AF37F78E}"/>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5" name="Footer Placeholder 4">
            <a:extLst>
              <a:ext uri="{FF2B5EF4-FFF2-40B4-BE49-F238E27FC236}">
                <a16:creationId xmlns:a16="http://schemas.microsoft.com/office/drawing/2014/main" id="{8D9DEEF5-83F3-4BD2-81C4-3D4FC82B9B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E8931-0F4B-4F8C-8E1E-B158AABB3504}"/>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11884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6510B4-0049-4B88-A17C-606A0B27D1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D7EF34-E34C-4FB9-98CD-B7486E0A5A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517E2-9D49-4BE1-A424-FDEF9B7BC02A}"/>
              </a:ext>
            </a:extLst>
          </p:cNvPr>
          <p:cNvSpPr>
            <a:spLocks noGrp="1"/>
          </p:cNvSpPr>
          <p:nvPr>
            <p:ph type="dt" sz="half" idx="10"/>
          </p:nvPr>
        </p:nvSpPr>
        <p:spPr/>
        <p:txBody>
          <a:bodyPr/>
          <a:lstStyle/>
          <a:p>
            <a:fld id="{2E9A838B-9EEB-4CEB-A0C0-44EBF9CD4AA5}" type="datetimeFigureOut">
              <a:rPr lang="en-US" smtClean="0"/>
              <a:t>18-Dec-20</a:t>
            </a:fld>
            <a:endParaRPr lang="en-US"/>
          </a:p>
        </p:txBody>
      </p:sp>
      <p:sp>
        <p:nvSpPr>
          <p:cNvPr id="5" name="Footer Placeholder 4">
            <a:extLst>
              <a:ext uri="{FF2B5EF4-FFF2-40B4-BE49-F238E27FC236}">
                <a16:creationId xmlns:a16="http://schemas.microsoft.com/office/drawing/2014/main" id="{3A028D6D-CB24-4EE8-871E-92F09DAC5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F95E9F-08CA-41BD-891A-D4C05C7C6A8B}"/>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330083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832634-01A2-479A-82A5-C994F11382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A4C0D4-9C7D-4903-A9E4-3ADD355357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D71CF-D87E-40D6-A688-0F8870C9EF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9A838B-9EEB-4CEB-A0C0-44EBF9CD4AA5}" type="datetimeFigureOut">
              <a:rPr lang="en-US" smtClean="0"/>
              <a:t>18-Dec-20</a:t>
            </a:fld>
            <a:endParaRPr lang="en-US"/>
          </a:p>
        </p:txBody>
      </p:sp>
      <p:sp>
        <p:nvSpPr>
          <p:cNvPr id="5" name="Footer Placeholder 4">
            <a:extLst>
              <a:ext uri="{FF2B5EF4-FFF2-40B4-BE49-F238E27FC236}">
                <a16:creationId xmlns:a16="http://schemas.microsoft.com/office/drawing/2014/main" id="{F992D081-3FF9-4F67-AECC-C7CD3325EA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468C6A7-80FB-404A-8C86-47D3CD4005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AC1C16-7A5B-45FA-952C-7D904534811D}" type="slidenum">
              <a:rPr lang="en-US" smtClean="0"/>
              <a:t>‹#›</a:t>
            </a:fld>
            <a:endParaRPr lang="en-US"/>
          </a:p>
        </p:txBody>
      </p:sp>
    </p:spTree>
    <p:extLst>
      <p:ext uri="{BB962C8B-B14F-4D97-AF65-F5344CB8AC3E}">
        <p14:creationId xmlns:p14="http://schemas.microsoft.com/office/powerpoint/2010/main" val="995431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4204362"/>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6012524"/>
            <a:ext cx="9144000" cy="369332"/>
          </a:xfrm>
          <a:prstGeom prst="rect">
            <a:avLst/>
          </a:prstGeom>
          <a:noFill/>
        </p:spPr>
        <p:txBody>
          <a:bodyPr wrap="square" rtlCol="0">
            <a:spAutoFit/>
          </a:bodyPr>
          <a:lstStyle/>
          <a:p>
            <a:pPr algn="ctr"/>
            <a:r>
              <a:rPr lang="en-US">
                <a:latin typeface="+mj-lt"/>
              </a:rPr>
              <a:t>18 December 2020</a:t>
            </a:r>
            <a:endParaRPr lang="en-US" dirty="0">
              <a:latin typeface="+mj-lt"/>
            </a:endParaRPr>
          </a:p>
        </p:txBody>
      </p:sp>
      <p:sp>
        <p:nvSpPr>
          <p:cNvPr id="5" name="TextBox 4">
            <a:extLst>
              <a:ext uri="{FF2B5EF4-FFF2-40B4-BE49-F238E27FC236}">
                <a16:creationId xmlns:a16="http://schemas.microsoft.com/office/drawing/2014/main" id="{FAF1A56F-655E-4AED-8650-FCB49B6F8779}"/>
              </a:ext>
            </a:extLst>
          </p:cNvPr>
          <p:cNvSpPr txBox="1"/>
          <p:nvPr/>
        </p:nvSpPr>
        <p:spPr>
          <a:xfrm>
            <a:off x="1524000" y="3192087"/>
            <a:ext cx="9144000" cy="707886"/>
          </a:xfrm>
          <a:prstGeom prst="rect">
            <a:avLst/>
          </a:prstGeom>
          <a:noFill/>
        </p:spPr>
        <p:txBody>
          <a:bodyPr wrap="square" rtlCol="0">
            <a:spAutoFit/>
          </a:bodyPr>
          <a:lstStyle/>
          <a:p>
            <a:pPr algn="ctr"/>
            <a:r>
              <a:rPr lang="en-US" sz="4000" dirty="0">
                <a:latin typeface="Tw Cen MT" panose="020B0602020104020603" pitchFamily="34" charset="0"/>
              </a:rPr>
              <a:t>Tasks 3-8</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Task 3</a:t>
            </a:r>
          </a:p>
          <a:p>
            <a:pPr marL="571500" indent="-571500">
              <a:spcBef>
                <a:spcPts val="600"/>
              </a:spcBef>
              <a:spcAft>
                <a:spcPts val="1200"/>
              </a:spcAft>
              <a:buFont typeface="+mj-lt"/>
              <a:buAutoNum type="romanUcPeriod"/>
            </a:pPr>
            <a:r>
              <a:rPr lang="en-US" sz="2400" dirty="0">
                <a:latin typeface="+mj-lt"/>
              </a:rPr>
              <a:t>Task 4</a:t>
            </a:r>
          </a:p>
          <a:p>
            <a:pPr marL="571500" indent="-571500">
              <a:spcBef>
                <a:spcPts val="600"/>
              </a:spcBef>
              <a:spcAft>
                <a:spcPts val="1200"/>
              </a:spcAft>
              <a:buFont typeface="+mj-lt"/>
              <a:buAutoNum type="romanUcPeriod"/>
            </a:pPr>
            <a:r>
              <a:rPr lang="en-US" sz="2400" dirty="0">
                <a:latin typeface="+mj-lt"/>
              </a:rPr>
              <a:t>Task 5</a:t>
            </a:r>
          </a:p>
          <a:p>
            <a:pPr marL="571500" indent="-571500">
              <a:spcBef>
                <a:spcPts val="600"/>
              </a:spcBef>
              <a:spcAft>
                <a:spcPts val="1200"/>
              </a:spcAft>
              <a:buFont typeface="+mj-lt"/>
              <a:buAutoNum type="romanUcPeriod"/>
            </a:pPr>
            <a:r>
              <a:rPr lang="en-US" sz="2400" dirty="0">
                <a:latin typeface="+mj-lt"/>
              </a:rPr>
              <a:t>Task 6</a:t>
            </a:r>
          </a:p>
          <a:p>
            <a:pPr marL="571500" indent="-571500">
              <a:spcBef>
                <a:spcPts val="600"/>
              </a:spcBef>
              <a:spcAft>
                <a:spcPts val="1200"/>
              </a:spcAft>
              <a:buFont typeface="+mj-lt"/>
              <a:buAutoNum type="romanUcPeriod"/>
            </a:pPr>
            <a:r>
              <a:rPr lang="en-US" sz="2400" dirty="0">
                <a:latin typeface="+mj-lt"/>
              </a:rPr>
              <a:t>Task 7</a:t>
            </a:r>
          </a:p>
          <a:p>
            <a:pPr marL="571500" indent="-571500">
              <a:spcBef>
                <a:spcPts val="600"/>
              </a:spcBef>
              <a:spcAft>
                <a:spcPts val="1200"/>
              </a:spcAft>
              <a:buFont typeface="+mj-lt"/>
              <a:buAutoNum type="romanUcPeriod"/>
            </a:pPr>
            <a:r>
              <a:rPr lang="en-US" sz="2400" dirty="0">
                <a:latin typeface="+mj-lt"/>
              </a:rPr>
              <a:t>Task 8</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C1E60-5132-4E90-9AB3-AE22F110A83F}"/>
              </a:ext>
            </a:extLst>
          </p:cNvPr>
          <p:cNvSpPr>
            <a:spLocks noGrp="1"/>
          </p:cNvSpPr>
          <p:nvPr>
            <p:ph type="title"/>
          </p:nvPr>
        </p:nvSpPr>
        <p:spPr/>
        <p:txBody>
          <a:bodyPr/>
          <a:lstStyle/>
          <a:p>
            <a:r>
              <a:rPr lang="en-US" dirty="0">
                <a:latin typeface="Tw Cen MT" panose="020B0602020104020603" pitchFamily="34" charset="0"/>
              </a:rPr>
              <a:t>Task 3</a:t>
            </a:r>
          </a:p>
        </p:txBody>
      </p:sp>
      <p:sp>
        <p:nvSpPr>
          <p:cNvPr id="3" name="Content Placeholder 2">
            <a:extLst>
              <a:ext uri="{FF2B5EF4-FFF2-40B4-BE49-F238E27FC236}">
                <a16:creationId xmlns:a16="http://schemas.microsoft.com/office/drawing/2014/main" id="{461BBE5C-A6A1-4913-9B80-D2C8762D4CC6}"/>
              </a:ext>
            </a:extLst>
          </p:cNvPr>
          <p:cNvSpPr>
            <a:spLocks noGrp="1"/>
          </p:cNvSpPr>
          <p:nvPr>
            <p:ph idx="1"/>
          </p:nvPr>
        </p:nvSpPr>
        <p:spPr/>
        <p:txBody>
          <a:bodyPr/>
          <a:lstStyle/>
          <a:p>
            <a:pPr marL="0" indent="0">
              <a:buNone/>
            </a:pPr>
            <a:r>
              <a:rPr lang="en-US" i="1" dirty="0">
                <a:latin typeface="+mj-lt"/>
              </a:rPr>
              <a:t>From most appropriate sources, calculate consumption/availability of fortifiable (imported and commercially produced) wheat, maize and </a:t>
            </a:r>
            <a:r>
              <a:rPr lang="en-US" i="1" dirty="0" err="1">
                <a:latin typeface="+mj-lt"/>
              </a:rPr>
              <a:t>mahangu</a:t>
            </a:r>
            <a:r>
              <a:rPr lang="en-US" i="1" dirty="0">
                <a:latin typeface="+mj-lt"/>
              </a:rPr>
              <a:t>, vegetable oil, and milk as average g/capita/day nationally, for development of national fortification standards. Where available, compile data on regional consumption/availability of these foods, to illustrate regional variations in consumption/availability.</a:t>
            </a:r>
          </a:p>
        </p:txBody>
      </p:sp>
    </p:spTree>
    <p:extLst>
      <p:ext uri="{BB962C8B-B14F-4D97-AF65-F5344CB8AC3E}">
        <p14:creationId xmlns:p14="http://schemas.microsoft.com/office/powerpoint/2010/main" val="592820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DD39A-14D8-45D5-B432-D3F93E831E07}"/>
              </a:ext>
            </a:extLst>
          </p:cNvPr>
          <p:cNvSpPr>
            <a:spLocks noGrp="1"/>
          </p:cNvSpPr>
          <p:nvPr>
            <p:ph type="title"/>
          </p:nvPr>
        </p:nvSpPr>
        <p:spPr/>
        <p:txBody>
          <a:bodyPr/>
          <a:lstStyle/>
          <a:p>
            <a:r>
              <a:rPr lang="en-US" dirty="0">
                <a:latin typeface="Tw Cen MT" panose="020B0602020104020603" pitchFamily="34" charset="0"/>
              </a:rPr>
              <a:t>Task 3: Methodology</a:t>
            </a:r>
          </a:p>
        </p:txBody>
      </p:sp>
      <p:sp>
        <p:nvSpPr>
          <p:cNvPr id="3" name="Content Placeholder 2">
            <a:extLst>
              <a:ext uri="{FF2B5EF4-FFF2-40B4-BE49-F238E27FC236}">
                <a16:creationId xmlns:a16="http://schemas.microsoft.com/office/drawing/2014/main" id="{702CFCF2-4DA6-4761-A4B6-7B10DB9BBB25}"/>
              </a:ext>
            </a:extLst>
          </p:cNvPr>
          <p:cNvSpPr>
            <a:spLocks noGrp="1"/>
          </p:cNvSpPr>
          <p:nvPr>
            <p:ph idx="1"/>
          </p:nvPr>
        </p:nvSpPr>
        <p:spPr/>
        <p:txBody>
          <a:bodyPr>
            <a:normAutofit fontScale="85000" lnSpcReduction="10000"/>
          </a:bodyPr>
          <a:lstStyle/>
          <a:p>
            <a:pPr marL="274320">
              <a:spcBef>
                <a:spcPts val="1200"/>
              </a:spcBef>
              <a:spcAft>
                <a:spcPts val="1200"/>
              </a:spcAft>
              <a:buFont typeface="Wingdings" panose="05000000000000000000" pitchFamily="2" charset="2"/>
              <a:buChar char="§"/>
            </a:pPr>
            <a:r>
              <a:rPr lang="en-US" sz="2800" b="1" dirty="0">
                <a:latin typeface="+mj-lt"/>
              </a:rPr>
              <a:t>Data Sources</a:t>
            </a:r>
            <a:r>
              <a:rPr lang="en-US" sz="2800" dirty="0">
                <a:latin typeface="+mj-lt"/>
              </a:rPr>
              <a:t>: FAO </a:t>
            </a:r>
            <a:r>
              <a:rPr lang="en-US" sz="2800" dirty="0" err="1">
                <a:latin typeface="+mj-lt"/>
              </a:rPr>
              <a:t>ADePT</a:t>
            </a:r>
            <a:r>
              <a:rPr lang="en-US" sz="2800" dirty="0">
                <a:latin typeface="+mj-lt"/>
              </a:rPr>
              <a:t> results file (November 2020 version)</a:t>
            </a:r>
          </a:p>
          <a:p>
            <a:pPr marL="274320">
              <a:spcBef>
                <a:spcPts val="1200"/>
              </a:spcBef>
              <a:spcAft>
                <a:spcPts val="1200"/>
              </a:spcAft>
              <a:buFont typeface="Wingdings" panose="05000000000000000000" pitchFamily="2" charset="2"/>
              <a:buChar char="§"/>
            </a:pPr>
            <a:r>
              <a:rPr lang="en-US" sz="2800" b="1" dirty="0">
                <a:latin typeface="+mj-lt"/>
              </a:rPr>
              <a:t>Software</a:t>
            </a:r>
            <a:r>
              <a:rPr lang="en-US" sz="2800" dirty="0">
                <a:latin typeface="+mj-lt"/>
              </a:rPr>
              <a:t>: Python 3.8</a:t>
            </a:r>
          </a:p>
          <a:p>
            <a:pPr marL="274320">
              <a:spcBef>
                <a:spcPts val="1200"/>
              </a:spcBef>
              <a:spcAft>
                <a:spcPts val="1200"/>
              </a:spcAft>
              <a:buFont typeface="Wingdings" panose="05000000000000000000" pitchFamily="2" charset="2"/>
              <a:buChar char="§"/>
            </a:pPr>
            <a:r>
              <a:rPr lang="en-US" sz="2800" b="1" dirty="0">
                <a:latin typeface="+mj-lt"/>
              </a:rPr>
              <a:t>Analysis</a:t>
            </a:r>
            <a:r>
              <a:rPr lang="en-US" sz="2800" dirty="0">
                <a:latin typeface="+mj-lt"/>
              </a:rPr>
              <a:t> </a:t>
            </a:r>
            <a:r>
              <a:rPr lang="en-US" sz="2800" b="1" dirty="0">
                <a:latin typeface="+mj-lt"/>
              </a:rPr>
              <a:t>Process</a:t>
            </a:r>
            <a:r>
              <a:rPr lang="en-US" sz="2800" dirty="0">
                <a:latin typeface="+mj-lt"/>
              </a:rPr>
              <a:t>: The 2020 </a:t>
            </a:r>
            <a:r>
              <a:rPr lang="en-US" sz="2800" dirty="0" err="1">
                <a:latin typeface="+mj-lt"/>
              </a:rPr>
              <a:t>ADePT</a:t>
            </a:r>
            <a:r>
              <a:rPr lang="en-US" sz="2800" dirty="0">
                <a:latin typeface="+mj-lt"/>
              </a:rPr>
              <a:t> results for Namibia, calculated by FAO, were used to estimate the g/c/d at the national and regional level for several potential fortification vectors (food items), including wheat, maize, </a:t>
            </a:r>
            <a:r>
              <a:rPr lang="en-US" sz="2800" dirty="0" err="1">
                <a:latin typeface="+mj-lt"/>
              </a:rPr>
              <a:t>mahangu</a:t>
            </a:r>
            <a:r>
              <a:rPr lang="en-US" sz="2800" dirty="0">
                <a:latin typeface="+mj-lt"/>
              </a:rPr>
              <a:t>, salt, milk, oil and sugar. The estimated “fortifiable content” in each food item was provided by IGN. These proportions were applied to the individual food items in the </a:t>
            </a:r>
            <a:r>
              <a:rPr lang="en-US" sz="2800" dirty="0" err="1">
                <a:latin typeface="+mj-lt"/>
              </a:rPr>
              <a:t>ADePT</a:t>
            </a:r>
            <a:r>
              <a:rPr lang="en-US" sz="2800" dirty="0">
                <a:latin typeface="+mj-lt"/>
              </a:rPr>
              <a:t> results and summed to produce the output.</a:t>
            </a:r>
          </a:p>
          <a:p>
            <a:pPr marL="274320">
              <a:spcBef>
                <a:spcPts val="1200"/>
              </a:spcBef>
              <a:spcAft>
                <a:spcPts val="1200"/>
              </a:spcAft>
              <a:buFont typeface="Wingdings" panose="05000000000000000000" pitchFamily="2" charset="2"/>
              <a:buChar char="§"/>
            </a:pPr>
            <a:r>
              <a:rPr lang="en-US" sz="2800" b="1" dirty="0">
                <a:latin typeface="+mj-lt"/>
              </a:rPr>
              <a:t>Limitations</a:t>
            </a:r>
            <a:r>
              <a:rPr lang="en-US" sz="2800" dirty="0">
                <a:latin typeface="+mj-lt"/>
              </a:rPr>
              <a:t>: The accuracy of the analysis is dependent upon the accuracy of the underlying </a:t>
            </a:r>
            <a:r>
              <a:rPr lang="en-US" sz="2800" dirty="0" err="1">
                <a:latin typeface="+mj-lt"/>
              </a:rPr>
              <a:t>ADePT</a:t>
            </a:r>
            <a:r>
              <a:rPr lang="en-US" sz="2800" dirty="0">
                <a:latin typeface="+mj-lt"/>
              </a:rPr>
              <a:t> results. Small adjustments in the “fortifiable content” proportions could have material impacts on the outputs.</a:t>
            </a:r>
          </a:p>
        </p:txBody>
      </p:sp>
    </p:spTree>
    <p:extLst>
      <p:ext uri="{BB962C8B-B14F-4D97-AF65-F5344CB8AC3E}">
        <p14:creationId xmlns:p14="http://schemas.microsoft.com/office/powerpoint/2010/main" val="1457799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5144F-BBE1-4BFD-9417-852AD13B9FB1}"/>
              </a:ext>
            </a:extLst>
          </p:cNvPr>
          <p:cNvSpPr>
            <a:spLocks noGrp="1"/>
          </p:cNvSpPr>
          <p:nvPr>
            <p:ph type="title"/>
          </p:nvPr>
        </p:nvSpPr>
        <p:spPr/>
        <p:txBody>
          <a:bodyPr/>
          <a:lstStyle/>
          <a:p>
            <a:r>
              <a:rPr lang="en-US" dirty="0">
                <a:latin typeface="Tw Cen MT" panose="020B0602020104020603" pitchFamily="34" charset="0"/>
              </a:rPr>
              <a:t>Task 3: Key Findings/Results</a:t>
            </a:r>
          </a:p>
        </p:txBody>
      </p:sp>
      <p:sp>
        <p:nvSpPr>
          <p:cNvPr id="3" name="Content Placeholder 2">
            <a:extLst>
              <a:ext uri="{FF2B5EF4-FFF2-40B4-BE49-F238E27FC236}">
                <a16:creationId xmlns:a16="http://schemas.microsoft.com/office/drawing/2014/main" id="{C3B1CC37-9CF5-4D90-B347-DA54CC611B24}"/>
              </a:ext>
            </a:extLst>
          </p:cNvPr>
          <p:cNvSpPr>
            <a:spLocks noGrp="1"/>
          </p:cNvSpPr>
          <p:nvPr>
            <p:ph idx="1"/>
          </p:nvPr>
        </p:nvSpPr>
        <p:spPr>
          <a:xfrm>
            <a:off x="838200" y="1825625"/>
            <a:ext cx="4199021" cy="4667250"/>
          </a:xfrm>
        </p:spPr>
        <p:txBody>
          <a:bodyPr>
            <a:normAutofit/>
          </a:bodyPr>
          <a:lstStyle/>
          <a:p>
            <a:r>
              <a:rPr lang="en-US" sz="2400" dirty="0">
                <a:latin typeface="+mj-lt"/>
              </a:rPr>
              <a:t>Overall consumption (g/c/d) of the main cereals (maize, </a:t>
            </a:r>
            <a:r>
              <a:rPr lang="en-US" sz="2400" dirty="0" err="1">
                <a:latin typeface="+mj-lt"/>
              </a:rPr>
              <a:t>mahangu</a:t>
            </a:r>
            <a:r>
              <a:rPr lang="en-US" sz="2400" dirty="0">
                <a:latin typeface="+mj-lt"/>
              </a:rPr>
              <a:t> and wheat) was roughly consistent with the general production and consumption patterns observed from the DRB for Tasks 1 and 2.</a:t>
            </a:r>
          </a:p>
        </p:txBody>
      </p:sp>
      <p:pic>
        <p:nvPicPr>
          <p:cNvPr id="7" name="Picture 6" descr="Chart, bar chart&#10;&#10;Description automatically generated">
            <a:extLst>
              <a:ext uri="{FF2B5EF4-FFF2-40B4-BE49-F238E27FC236}">
                <a16:creationId xmlns:a16="http://schemas.microsoft.com/office/drawing/2014/main" id="{1EA37052-95C9-4E30-97B3-F094F6527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3041" y="1963403"/>
            <a:ext cx="6080759" cy="3648456"/>
          </a:xfrm>
          <a:prstGeom prst="rect">
            <a:avLst/>
          </a:prstGeom>
        </p:spPr>
      </p:pic>
    </p:spTree>
    <p:extLst>
      <p:ext uri="{BB962C8B-B14F-4D97-AF65-F5344CB8AC3E}">
        <p14:creationId xmlns:p14="http://schemas.microsoft.com/office/powerpoint/2010/main" val="2980625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4F119-313F-4DA3-8FBA-66D7DA17F026}"/>
              </a:ext>
            </a:extLst>
          </p:cNvPr>
          <p:cNvSpPr>
            <a:spLocks noGrp="1"/>
          </p:cNvSpPr>
          <p:nvPr>
            <p:ph type="title"/>
          </p:nvPr>
        </p:nvSpPr>
        <p:spPr/>
        <p:txBody>
          <a:bodyPr/>
          <a:lstStyle/>
          <a:p>
            <a:r>
              <a:rPr lang="en-US" dirty="0">
                <a:latin typeface="Tw Cen MT" panose="020B0602020104020603" pitchFamily="34" charset="0"/>
              </a:rPr>
              <a:t>Task 4</a:t>
            </a:r>
          </a:p>
        </p:txBody>
      </p:sp>
      <p:sp>
        <p:nvSpPr>
          <p:cNvPr id="3" name="Content Placeholder 2">
            <a:extLst>
              <a:ext uri="{FF2B5EF4-FFF2-40B4-BE49-F238E27FC236}">
                <a16:creationId xmlns:a16="http://schemas.microsoft.com/office/drawing/2014/main" id="{CD77F1B7-7F51-4C9F-8F09-BEF1E33FF7EA}"/>
              </a:ext>
            </a:extLst>
          </p:cNvPr>
          <p:cNvSpPr>
            <a:spLocks noGrp="1"/>
          </p:cNvSpPr>
          <p:nvPr>
            <p:ph idx="1"/>
          </p:nvPr>
        </p:nvSpPr>
        <p:spPr/>
        <p:txBody>
          <a:bodyPr>
            <a:normAutofit/>
          </a:bodyPr>
          <a:lstStyle/>
          <a:p>
            <a:pPr marL="0" indent="0">
              <a:buNone/>
            </a:pPr>
            <a:r>
              <a:rPr lang="en-US" i="1" dirty="0">
                <a:latin typeface="+mj-lt"/>
              </a:rPr>
              <a:t>Coordinate the integration of micronutrient values to enable FAO </a:t>
            </a:r>
            <a:r>
              <a:rPr lang="en-US" i="1" dirty="0" err="1">
                <a:latin typeface="+mj-lt"/>
              </a:rPr>
              <a:t>ADePT</a:t>
            </a:r>
            <a:r>
              <a:rPr lang="en-US" i="1" dirty="0">
                <a:latin typeface="+mj-lt"/>
              </a:rPr>
              <a:t> team to analyze micronutrient intake with breakdown by national, urban/rural, regions, ethno-linguistic group. This will involve reviewing the food matching, applying the most appropriate FCT for each food …</a:t>
            </a:r>
          </a:p>
        </p:txBody>
      </p:sp>
    </p:spTree>
    <p:extLst>
      <p:ext uri="{BB962C8B-B14F-4D97-AF65-F5344CB8AC3E}">
        <p14:creationId xmlns:p14="http://schemas.microsoft.com/office/powerpoint/2010/main" val="3037828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82CD6-DAFF-480B-A3DE-FAC4048C112C}"/>
              </a:ext>
            </a:extLst>
          </p:cNvPr>
          <p:cNvSpPr>
            <a:spLocks noGrp="1"/>
          </p:cNvSpPr>
          <p:nvPr>
            <p:ph type="title"/>
          </p:nvPr>
        </p:nvSpPr>
        <p:spPr/>
        <p:txBody>
          <a:bodyPr/>
          <a:lstStyle/>
          <a:p>
            <a:r>
              <a:rPr lang="en-US" dirty="0">
                <a:latin typeface="Tw Cen MT" panose="020B0602020104020603" pitchFamily="34" charset="0"/>
              </a:rPr>
              <a:t>Task 4: Methodology</a:t>
            </a:r>
          </a:p>
        </p:txBody>
      </p:sp>
      <p:sp>
        <p:nvSpPr>
          <p:cNvPr id="3" name="Content Placeholder 2">
            <a:extLst>
              <a:ext uri="{FF2B5EF4-FFF2-40B4-BE49-F238E27FC236}">
                <a16:creationId xmlns:a16="http://schemas.microsoft.com/office/drawing/2014/main" id="{D97FCDE7-22C3-4919-92BE-7117C52D6CB6}"/>
              </a:ext>
            </a:extLst>
          </p:cNvPr>
          <p:cNvSpPr>
            <a:spLocks noGrp="1"/>
          </p:cNvSpPr>
          <p:nvPr>
            <p:ph idx="1"/>
          </p:nvPr>
        </p:nvSpPr>
        <p:spPr/>
        <p:txBody>
          <a:bodyPr>
            <a:normAutofit fontScale="77500" lnSpcReduction="20000"/>
          </a:bodyPr>
          <a:lstStyle/>
          <a:p>
            <a:pPr marL="274320">
              <a:spcBef>
                <a:spcPts val="1200"/>
              </a:spcBef>
              <a:spcAft>
                <a:spcPts val="1200"/>
              </a:spcAft>
              <a:buFont typeface="Wingdings" panose="05000000000000000000" pitchFamily="2" charset="2"/>
              <a:buChar char="§"/>
            </a:pPr>
            <a:r>
              <a:rPr lang="en-US" sz="2800" b="1" dirty="0">
                <a:latin typeface="+mj-lt"/>
              </a:rPr>
              <a:t>Data Sources</a:t>
            </a:r>
            <a:r>
              <a:rPr lang="en-US" sz="2800" dirty="0">
                <a:latin typeface="+mj-lt"/>
              </a:rPr>
              <a:t>: </a:t>
            </a:r>
            <a:r>
              <a:rPr lang="en-US" sz="2800" b="0" kern="1200" dirty="0">
                <a:solidFill>
                  <a:schemeClr val="tx1"/>
                </a:solidFill>
                <a:latin typeface="+mj-lt"/>
                <a:ea typeface="+mn-ea"/>
                <a:cs typeface="+mn-cs"/>
              </a:rPr>
              <a:t>FAO </a:t>
            </a:r>
            <a:r>
              <a:rPr lang="en-US" sz="2800" b="0" kern="1200" dirty="0" err="1">
                <a:solidFill>
                  <a:schemeClr val="tx1"/>
                </a:solidFill>
                <a:latin typeface="+mj-lt"/>
                <a:ea typeface="+mn-ea"/>
                <a:cs typeface="+mn-cs"/>
              </a:rPr>
              <a:t>ADePT</a:t>
            </a:r>
            <a:r>
              <a:rPr lang="en-US" sz="2800" b="0" kern="1200" dirty="0">
                <a:solidFill>
                  <a:schemeClr val="tx1"/>
                </a:solidFill>
                <a:latin typeface="+mj-lt"/>
                <a:ea typeface="+mn-ea"/>
                <a:cs typeface="+mn-cs"/>
              </a:rPr>
              <a:t> matching file; West Africa FCT; Kenya FCT; USDA FCT; South Africa FCT</a:t>
            </a:r>
          </a:p>
          <a:p>
            <a:pPr marL="274320">
              <a:spcBef>
                <a:spcPts val="1200"/>
              </a:spcBef>
              <a:spcAft>
                <a:spcPts val="1200"/>
              </a:spcAft>
              <a:buFont typeface="Wingdings" panose="05000000000000000000" pitchFamily="2" charset="2"/>
              <a:buChar char="§"/>
            </a:pPr>
            <a:r>
              <a:rPr lang="en-US" sz="2800" b="1" dirty="0">
                <a:latin typeface="+mj-lt"/>
              </a:rPr>
              <a:t>Software</a:t>
            </a:r>
            <a:r>
              <a:rPr lang="en-US" sz="2800" dirty="0">
                <a:latin typeface="+mj-lt"/>
              </a:rPr>
              <a:t>: Python 3.8</a:t>
            </a:r>
          </a:p>
          <a:p>
            <a:pPr marL="274320">
              <a:spcBef>
                <a:spcPts val="1200"/>
              </a:spcBef>
              <a:spcAft>
                <a:spcPts val="1200"/>
              </a:spcAft>
              <a:buFont typeface="Wingdings" panose="05000000000000000000" pitchFamily="2" charset="2"/>
              <a:buChar char="§"/>
            </a:pPr>
            <a:r>
              <a:rPr lang="en-US" sz="2800" b="1" dirty="0">
                <a:latin typeface="+mj-lt"/>
              </a:rPr>
              <a:t>Analysis</a:t>
            </a:r>
            <a:r>
              <a:rPr lang="en-US" sz="2800" dirty="0">
                <a:latin typeface="+mj-lt"/>
              </a:rPr>
              <a:t> </a:t>
            </a:r>
            <a:r>
              <a:rPr lang="en-US" sz="2800" b="1" dirty="0">
                <a:latin typeface="+mj-lt"/>
              </a:rPr>
              <a:t>Process</a:t>
            </a:r>
            <a:r>
              <a:rPr lang="en-US" sz="2800" dirty="0">
                <a:latin typeface="+mj-lt"/>
              </a:rPr>
              <a:t>: The 2019 FAO </a:t>
            </a:r>
            <a:r>
              <a:rPr lang="en-US" sz="2800" dirty="0" err="1">
                <a:latin typeface="+mj-lt"/>
              </a:rPr>
              <a:t>ADePT</a:t>
            </a:r>
            <a:r>
              <a:rPr lang="en-US" sz="2800" dirty="0">
                <a:latin typeface="+mj-lt"/>
              </a:rPr>
              <a:t> food matching file for NHIES was updated through an iterative process to ensure optimal results. Using the FCT name and FCT codes in the matching file, micronutrient data from the corresponding FCTs was imported and matched. The resulting file was comprehensively verified and cleaned. Since the SA FCT was available only in pdf format, a separate extraction script was developed to facilitate the programmatic access/incorporation of this data.</a:t>
            </a:r>
          </a:p>
          <a:p>
            <a:pPr marL="274320">
              <a:spcBef>
                <a:spcPts val="1200"/>
              </a:spcBef>
              <a:spcAft>
                <a:spcPts val="1200"/>
              </a:spcAft>
              <a:buFont typeface="Wingdings" panose="05000000000000000000" pitchFamily="2" charset="2"/>
              <a:buChar char="§"/>
            </a:pPr>
            <a:r>
              <a:rPr lang="en-US" sz="2800" b="1" dirty="0">
                <a:latin typeface="+mj-lt"/>
              </a:rPr>
              <a:t>Limitations</a:t>
            </a:r>
            <a:r>
              <a:rPr lang="en-US" sz="2800" dirty="0">
                <a:latin typeface="+mj-lt"/>
              </a:rPr>
              <a:t>: The food item matchings (i.e. between NHIES and FCTs) can also be further refined. </a:t>
            </a:r>
            <a:r>
              <a:rPr lang="en-US" dirty="0">
                <a:latin typeface="+mj-lt"/>
              </a:rPr>
              <a:t>Incorrect matchings (e.g., a cooked food with an uncooked food; an unfortified food with a fortified food) can have material impacts on the overall results.</a:t>
            </a:r>
            <a:endParaRPr lang="en-US" sz="2800" dirty="0">
              <a:latin typeface="+mj-lt"/>
            </a:endParaRPr>
          </a:p>
        </p:txBody>
      </p:sp>
    </p:spTree>
    <p:extLst>
      <p:ext uri="{BB962C8B-B14F-4D97-AF65-F5344CB8AC3E}">
        <p14:creationId xmlns:p14="http://schemas.microsoft.com/office/powerpoint/2010/main" val="1147246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801E3-134C-44B2-8E30-1EF9ECF135AD}"/>
              </a:ext>
            </a:extLst>
          </p:cNvPr>
          <p:cNvSpPr>
            <a:spLocks noGrp="1"/>
          </p:cNvSpPr>
          <p:nvPr>
            <p:ph type="title"/>
          </p:nvPr>
        </p:nvSpPr>
        <p:spPr/>
        <p:txBody>
          <a:bodyPr/>
          <a:lstStyle/>
          <a:p>
            <a:r>
              <a:rPr lang="en-US" dirty="0">
                <a:latin typeface="Tw Cen MT" panose="020B0602020104020603" pitchFamily="34" charset="0"/>
              </a:rPr>
              <a:t>Task 4: Key Findings/Results</a:t>
            </a:r>
          </a:p>
        </p:txBody>
      </p:sp>
      <p:sp>
        <p:nvSpPr>
          <p:cNvPr id="3" name="Content Placeholder 2">
            <a:extLst>
              <a:ext uri="{FF2B5EF4-FFF2-40B4-BE49-F238E27FC236}">
                <a16:creationId xmlns:a16="http://schemas.microsoft.com/office/drawing/2014/main" id="{1E2E63BE-FE65-447E-AAE1-983993C8225F}"/>
              </a:ext>
            </a:extLst>
          </p:cNvPr>
          <p:cNvSpPr>
            <a:spLocks noGrp="1"/>
          </p:cNvSpPr>
          <p:nvPr>
            <p:ph idx="1"/>
          </p:nvPr>
        </p:nvSpPr>
        <p:spPr/>
        <p:txBody>
          <a:bodyPr/>
          <a:lstStyle/>
          <a:p>
            <a:r>
              <a:rPr lang="en-US" sz="2800" dirty="0">
                <a:latin typeface="+mj-lt"/>
              </a:rPr>
              <a:t>An updated matching file was prepared and shared with FAO who subsequently performed a new, clean </a:t>
            </a:r>
            <a:r>
              <a:rPr lang="en-US" sz="2800" dirty="0" err="1">
                <a:latin typeface="+mj-lt"/>
              </a:rPr>
              <a:t>ADePT</a:t>
            </a:r>
            <a:r>
              <a:rPr lang="en-US" sz="2800" dirty="0">
                <a:latin typeface="+mj-lt"/>
              </a:rPr>
              <a:t> analysis.</a:t>
            </a:r>
          </a:p>
        </p:txBody>
      </p:sp>
    </p:spTree>
    <p:extLst>
      <p:ext uri="{BB962C8B-B14F-4D97-AF65-F5344CB8AC3E}">
        <p14:creationId xmlns:p14="http://schemas.microsoft.com/office/powerpoint/2010/main" val="403831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64DAD-F852-49B2-8961-9C3444D26067}"/>
              </a:ext>
            </a:extLst>
          </p:cNvPr>
          <p:cNvSpPr>
            <a:spLocks noGrp="1"/>
          </p:cNvSpPr>
          <p:nvPr>
            <p:ph type="title"/>
          </p:nvPr>
        </p:nvSpPr>
        <p:spPr/>
        <p:txBody>
          <a:bodyPr/>
          <a:lstStyle/>
          <a:p>
            <a:r>
              <a:rPr lang="en-US" dirty="0">
                <a:latin typeface="Tw Cen MT" panose="020B0602020104020603" pitchFamily="34" charset="0"/>
              </a:rPr>
              <a:t>Task 5</a:t>
            </a:r>
          </a:p>
        </p:txBody>
      </p:sp>
      <p:sp>
        <p:nvSpPr>
          <p:cNvPr id="3" name="Content Placeholder 2">
            <a:extLst>
              <a:ext uri="{FF2B5EF4-FFF2-40B4-BE49-F238E27FC236}">
                <a16:creationId xmlns:a16="http://schemas.microsoft.com/office/drawing/2014/main" id="{DB26C58F-5EB8-417F-87BE-D4EBE909ECEA}"/>
              </a:ext>
            </a:extLst>
          </p:cNvPr>
          <p:cNvSpPr>
            <a:spLocks noGrp="1"/>
          </p:cNvSpPr>
          <p:nvPr>
            <p:ph idx="1"/>
          </p:nvPr>
        </p:nvSpPr>
        <p:spPr/>
        <p:txBody>
          <a:bodyPr/>
          <a:lstStyle/>
          <a:p>
            <a:pPr marL="0" indent="0">
              <a:buNone/>
            </a:pPr>
            <a:r>
              <a:rPr lang="en-US" i="1" dirty="0">
                <a:latin typeface="+mj-lt"/>
              </a:rPr>
              <a:t>Review SADC calculations, which used the A2Z Food Formulator, on estimated nutrient contribution of fortified foods to ensure calculations were correctly done.</a:t>
            </a:r>
          </a:p>
        </p:txBody>
      </p:sp>
    </p:spTree>
    <p:extLst>
      <p:ext uri="{BB962C8B-B14F-4D97-AF65-F5344CB8AC3E}">
        <p14:creationId xmlns:p14="http://schemas.microsoft.com/office/powerpoint/2010/main" val="2788372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98820-D500-4616-977A-A93932F6A325}"/>
              </a:ext>
            </a:extLst>
          </p:cNvPr>
          <p:cNvSpPr>
            <a:spLocks noGrp="1"/>
          </p:cNvSpPr>
          <p:nvPr>
            <p:ph type="title"/>
          </p:nvPr>
        </p:nvSpPr>
        <p:spPr/>
        <p:txBody>
          <a:bodyPr/>
          <a:lstStyle/>
          <a:p>
            <a:r>
              <a:rPr lang="en-US" dirty="0">
                <a:latin typeface="Tw Cen MT" panose="020B0602020104020603" pitchFamily="34" charset="0"/>
              </a:rPr>
              <a:t>Task 5: Methodology</a:t>
            </a:r>
          </a:p>
        </p:txBody>
      </p:sp>
      <p:sp>
        <p:nvSpPr>
          <p:cNvPr id="3" name="Content Placeholder 2">
            <a:extLst>
              <a:ext uri="{FF2B5EF4-FFF2-40B4-BE49-F238E27FC236}">
                <a16:creationId xmlns:a16="http://schemas.microsoft.com/office/drawing/2014/main" id="{2F4D65B8-3983-4B9D-99A7-0DA5845766E6}"/>
              </a:ext>
            </a:extLst>
          </p:cNvPr>
          <p:cNvSpPr>
            <a:spLocks noGrp="1"/>
          </p:cNvSpPr>
          <p:nvPr>
            <p:ph idx="1"/>
          </p:nvPr>
        </p:nvSpPr>
        <p:spPr/>
        <p:txBody>
          <a:bodyPr>
            <a:normAutofit/>
          </a:bodyPr>
          <a:lstStyle/>
          <a:p>
            <a:pPr marL="274320">
              <a:spcBef>
                <a:spcPts val="1200"/>
              </a:spcBef>
              <a:spcAft>
                <a:spcPts val="1200"/>
              </a:spcAft>
              <a:buFont typeface="Wingdings" panose="05000000000000000000" pitchFamily="2" charset="2"/>
              <a:buChar char="§"/>
            </a:pPr>
            <a:r>
              <a:rPr lang="en-US" sz="2800" b="1" dirty="0">
                <a:latin typeface="+mj-lt"/>
              </a:rPr>
              <a:t>Data Sources</a:t>
            </a:r>
            <a:r>
              <a:rPr lang="en-US" sz="2800" dirty="0">
                <a:latin typeface="+mj-lt"/>
              </a:rPr>
              <a:t>: </a:t>
            </a:r>
            <a:r>
              <a:rPr lang="en-US" sz="2800" b="0" kern="1200" dirty="0">
                <a:solidFill>
                  <a:schemeClr val="tx1"/>
                </a:solidFill>
                <a:latin typeface="+mj-lt"/>
                <a:ea typeface="+mn-ea"/>
                <a:cs typeface="+mn-cs"/>
              </a:rPr>
              <a:t>EAR summaries prepared by SADC consultant</a:t>
            </a:r>
          </a:p>
          <a:p>
            <a:pPr marL="274320">
              <a:spcBef>
                <a:spcPts val="1200"/>
              </a:spcBef>
              <a:spcAft>
                <a:spcPts val="1200"/>
              </a:spcAft>
              <a:buFont typeface="Wingdings" panose="05000000000000000000" pitchFamily="2" charset="2"/>
              <a:buChar char="§"/>
            </a:pPr>
            <a:r>
              <a:rPr lang="en-US" sz="2800" b="1" dirty="0">
                <a:latin typeface="+mj-lt"/>
              </a:rPr>
              <a:t>Software</a:t>
            </a:r>
            <a:r>
              <a:rPr lang="en-US" sz="2800" dirty="0">
                <a:latin typeface="+mj-lt"/>
              </a:rPr>
              <a:t>: Excel</a:t>
            </a:r>
          </a:p>
          <a:p>
            <a:pPr marL="274320">
              <a:spcBef>
                <a:spcPts val="1200"/>
              </a:spcBef>
              <a:spcAft>
                <a:spcPts val="1200"/>
              </a:spcAft>
              <a:buFont typeface="Wingdings" panose="05000000000000000000" pitchFamily="2" charset="2"/>
              <a:buChar char="§"/>
            </a:pPr>
            <a:r>
              <a:rPr lang="en-US" sz="2800" b="1" dirty="0">
                <a:latin typeface="+mj-lt"/>
              </a:rPr>
              <a:t>Analysis</a:t>
            </a:r>
            <a:r>
              <a:rPr lang="en-US" sz="2800" dirty="0">
                <a:latin typeface="+mj-lt"/>
              </a:rPr>
              <a:t> </a:t>
            </a:r>
            <a:r>
              <a:rPr lang="en-US" sz="2800" b="1" dirty="0">
                <a:latin typeface="+mj-lt"/>
              </a:rPr>
              <a:t>Process</a:t>
            </a:r>
            <a:r>
              <a:rPr lang="en-US" sz="2800" dirty="0">
                <a:latin typeface="+mj-lt"/>
              </a:rPr>
              <a:t>: In order to confirm SADC consultant’s calculation process, A2Z formulator for different food items were reviewed to understand the underlying methodology. Values for Namibia were then plugged in to determine if SADC results could be replicated.</a:t>
            </a:r>
          </a:p>
          <a:p>
            <a:pPr marL="274320">
              <a:spcBef>
                <a:spcPts val="1200"/>
              </a:spcBef>
              <a:spcAft>
                <a:spcPts val="1200"/>
              </a:spcAft>
              <a:buFont typeface="Wingdings" panose="05000000000000000000" pitchFamily="2" charset="2"/>
              <a:buChar char="§"/>
            </a:pPr>
            <a:r>
              <a:rPr lang="en-US" sz="2800" b="1" dirty="0">
                <a:latin typeface="+mj-lt"/>
              </a:rPr>
              <a:t>Limitations</a:t>
            </a:r>
            <a:r>
              <a:rPr lang="en-US" sz="2800" dirty="0">
                <a:latin typeface="+mj-lt"/>
              </a:rPr>
              <a:t>: SADC consultant did not document well the inputs or assumptions used in calculations</a:t>
            </a:r>
            <a:r>
              <a:rPr lang="en-US" dirty="0">
                <a:latin typeface="+mj-lt"/>
              </a:rPr>
              <a:t>.</a:t>
            </a:r>
            <a:endParaRPr lang="en-US" sz="2800" dirty="0">
              <a:latin typeface="+mj-lt"/>
            </a:endParaRPr>
          </a:p>
        </p:txBody>
      </p:sp>
    </p:spTree>
    <p:extLst>
      <p:ext uri="{BB962C8B-B14F-4D97-AF65-F5344CB8AC3E}">
        <p14:creationId xmlns:p14="http://schemas.microsoft.com/office/powerpoint/2010/main" val="3955570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904F-D3F8-48E6-A65C-98BB5143C451}"/>
              </a:ext>
            </a:extLst>
          </p:cNvPr>
          <p:cNvSpPr>
            <a:spLocks noGrp="1"/>
          </p:cNvSpPr>
          <p:nvPr>
            <p:ph type="title"/>
          </p:nvPr>
        </p:nvSpPr>
        <p:spPr/>
        <p:txBody>
          <a:bodyPr/>
          <a:lstStyle/>
          <a:p>
            <a:r>
              <a:rPr lang="en-US" dirty="0">
                <a:latin typeface="Tw Cen MT" panose="020B0602020104020603" pitchFamily="34" charset="0"/>
              </a:rPr>
              <a:t>Task 5: Key Findings/Results</a:t>
            </a:r>
          </a:p>
        </p:txBody>
      </p:sp>
      <p:sp>
        <p:nvSpPr>
          <p:cNvPr id="3" name="Content Placeholder 2">
            <a:extLst>
              <a:ext uri="{FF2B5EF4-FFF2-40B4-BE49-F238E27FC236}">
                <a16:creationId xmlns:a16="http://schemas.microsoft.com/office/drawing/2014/main" id="{D4128627-12A3-48C6-97F1-CCB5E8D72A1C}"/>
              </a:ext>
            </a:extLst>
          </p:cNvPr>
          <p:cNvSpPr>
            <a:spLocks noGrp="1"/>
          </p:cNvSpPr>
          <p:nvPr>
            <p:ph idx="1"/>
          </p:nvPr>
        </p:nvSpPr>
        <p:spPr/>
        <p:txBody>
          <a:bodyPr/>
          <a:lstStyle/>
          <a:p>
            <a:r>
              <a:rPr lang="en-US" sz="2800" dirty="0">
                <a:latin typeface="+mj-lt"/>
              </a:rPr>
              <a:t>Notwithstanding the limitations, was able to (generally) confirm that</a:t>
            </a:r>
            <a:r>
              <a:rPr lang="en-US" dirty="0">
                <a:latin typeface="+mj-lt"/>
              </a:rPr>
              <a:t>, at the very least, the approach used by the SADC consultant agreed with that required by the A2Z formulator.</a:t>
            </a:r>
            <a:endParaRPr lang="en-US" sz="2800" dirty="0">
              <a:latin typeface="+mj-lt"/>
            </a:endParaRPr>
          </a:p>
          <a:p>
            <a:endParaRPr lang="en-US" dirty="0"/>
          </a:p>
        </p:txBody>
      </p:sp>
    </p:spTree>
    <p:extLst>
      <p:ext uri="{BB962C8B-B14F-4D97-AF65-F5344CB8AC3E}">
        <p14:creationId xmlns:p14="http://schemas.microsoft.com/office/powerpoint/2010/main" val="3716024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79C5-9690-432C-9986-510BDA9687AF}"/>
              </a:ext>
            </a:extLst>
          </p:cNvPr>
          <p:cNvSpPr>
            <a:spLocks noGrp="1"/>
          </p:cNvSpPr>
          <p:nvPr>
            <p:ph type="title"/>
          </p:nvPr>
        </p:nvSpPr>
        <p:spPr/>
        <p:txBody>
          <a:bodyPr/>
          <a:lstStyle/>
          <a:p>
            <a:r>
              <a:rPr lang="en-US" dirty="0">
                <a:latin typeface="Tw Cen MT" panose="020B0602020104020603" pitchFamily="34" charset="0"/>
              </a:rPr>
              <a:t>Task 6</a:t>
            </a:r>
          </a:p>
        </p:txBody>
      </p:sp>
      <p:sp>
        <p:nvSpPr>
          <p:cNvPr id="3" name="Content Placeholder 2">
            <a:extLst>
              <a:ext uri="{FF2B5EF4-FFF2-40B4-BE49-F238E27FC236}">
                <a16:creationId xmlns:a16="http://schemas.microsoft.com/office/drawing/2014/main" id="{A1DA5879-DCE9-45AF-902D-31B811E47DE6}"/>
              </a:ext>
            </a:extLst>
          </p:cNvPr>
          <p:cNvSpPr>
            <a:spLocks noGrp="1"/>
          </p:cNvSpPr>
          <p:nvPr>
            <p:ph idx="1"/>
          </p:nvPr>
        </p:nvSpPr>
        <p:spPr/>
        <p:txBody>
          <a:bodyPr/>
          <a:lstStyle/>
          <a:p>
            <a:pPr marL="0" indent="0">
              <a:buNone/>
            </a:pPr>
            <a:r>
              <a:rPr lang="en-US" i="1" dirty="0">
                <a:latin typeface="+mj-lt"/>
              </a:rPr>
              <a:t>Analyze raw data from Namibia DHS as follows: </a:t>
            </a:r>
          </a:p>
          <a:p>
            <a:pPr marL="514350" indent="-514350">
              <a:buFont typeface="+mj-lt"/>
              <a:buAutoNum type="alphaLcPeriod"/>
            </a:pPr>
            <a:r>
              <a:rPr lang="en-US" i="1" dirty="0">
                <a:latin typeface="+mj-lt"/>
              </a:rPr>
              <a:t>DHS 2000 to identify proportion of households per region with (</a:t>
            </a:r>
            <a:r>
              <a:rPr lang="en-US" i="1" dirty="0" err="1">
                <a:latin typeface="+mj-lt"/>
              </a:rPr>
              <a:t>i</a:t>
            </a:r>
            <a:r>
              <a:rPr lang="en-US" i="1" dirty="0">
                <a:latin typeface="+mj-lt"/>
              </a:rPr>
              <a:t>) “block salt” and (ii) salt from salt pans</a:t>
            </a:r>
          </a:p>
          <a:p>
            <a:pPr marL="514350" indent="-514350">
              <a:buFont typeface="+mj-lt"/>
              <a:buAutoNum type="alphaLcPeriod"/>
            </a:pPr>
            <a:r>
              <a:rPr lang="en-US" i="1" dirty="0">
                <a:latin typeface="+mj-lt"/>
              </a:rPr>
              <a:t>DHS 2006/7 to see if household coverage of iodized salt is available</a:t>
            </a:r>
          </a:p>
          <a:p>
            <a:pPr marL="514350" indent="-514350">
              <a:buFont typeface="+mj-lt"/>
              <a:buAutoNum type="alphaLcPeriod"/>
            </a:pPr>
            <a:r>
              <a:rPr lang="en-US" i="1" dirty="0">
                <a:latin typeface="+mj-lt"/>
              </a:rPr>
              <a:t>Comparison of household coverage of iodized salt from 2000 and 2013 to see if there is a poor correlation between the two years. </a:t>
            </a:r>
          </a:p>
        </p:txBody>
      </p:sp>
    </p:spTree>
    <p:extLst>
      <p:ext uri="{BB962C8B-B14F-4D97-AF65-F5344CB8AC3E}">
        <p14:creationId xmlns:p14="http://schemas.microsoft.com/office/powerpoint/2010/main" val="2582577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8046D-E6D0-491F-B943-306B307EBE0F}"/>
              </a:ext>
            </a:extLst>
          </p:cNvPr>
          <p:cNvSpPr>
            <a:spLocks noGrp="1"/>
          </p:cNvSpPr>
          <p:nvPr>
            <p:ph type="title"/>
          </p:nvPr>
        </p:nvSpPr>
        <p:spPr/>
        <p:txBody>
          <a:bodyPr/>
          <a:lstStyle/>
          <a:p>
            <a:r>
              <a:rPr lang="en-US" dirty="0">
                <a:latin typeface="Tw Cen MT" panose="020B0602020104020603" pitchFamily="34" charset="0"/>
              </a:rPr>
              <a:t>Task 6: Methodology</a:t>
            </a:r>
          </a:p>
        </p:txBody>
      </p:sp>
      <p:sp>
        <p:nvSpPr>
          <p:cNvPr id="3" name="Content Placeholder 2">
            <a:extLst>
              <a:ext uri="{FF2B5EF4-FFF2-40B4-BE49-F238E27FC236}">
                <a16:creationId xmlns:a16="http://schemas.microsoft.com/office/drawing/2014/main" id="{CB34B28B-1854-4B08-B858-F4424521B643}"/>
              </a:ext>
            </a:extLst>
          </p:cNvPr>
          <p:cNvSpPr>
            <a:spLocks noGrp="1"/>
          </p:cNvSpPr>
          <p:nvPr>
            <p:ph idx="1"/>
          </p:nvPr>
        </p:nvSpPr>
        <p:spPr/>
        <p:txBody>
          <a:bodyPr/>
          <a:lstStyle/>
          <a:p>
            <a:pPr marL="274320">
              <a:spcBef>
                <a:spcPts val="1200"/>
              </a:spcBef>
              <a:spcAft>
                <a:spcPts val="1200"/>
              </a:spcAft>
              <a:buFont typeface="Wingdings" panose="05000000000000000000" pitchFamily="2" charset="2"/>
              <a:buChar char="§"/>
            </a:pPr>
            <a:r>
              <a:rPr lang="en-US" sz="2800" b="1" dirty="0">
                <a:latin typeface="+mj-lt"/>
              </a:rPr>
              <a:t>Data Sources</a:t>
            </a:r>
            <a:r>
              <a:rPr lang="en-US" sz="2800" dirty="0">
                <a:latin typeface="+mj-lt"/>
              </a:rPr>
              <a:t>: </a:t>
            </a:r>
            <a:r>
              <a:rPr lang="en-US" sz="2800" b="0" kern="1200" dirty="0">
                <a:solidFill>
                  <a:schemeClr val="tx1"/>
                </a:solidFill>
                <a:latin typeface="+mj-lt"/>
                <a:ea typeface="+mn-ea"/>
                <a:cs typeface="+mn-cs"/>
              </a:rPr>
              <a:t>2000, 2006, 2013 Namibia DHS datasets</a:t>
            </a:r>
          </a:p>
          <a:p>
            <a:pPr marL="274320">
              <a:spcBef>
                <a:spcPts val="1200"/>
              </a:spcBef>
              <a:spcAft>
                <a:spcPts val="1200"/>
              </a:spcAft>
              <a:buFont typeface="Wingdings" panose="05000000000000000000" pitchFamily="2" charset="2"/>
              <a:buChar char="§"/>
            </a:pPr>
            <a:r>
              <a:rPr lang="en-US" sz="2800" b="1" dirty="0">
                <a:latin typeface="+mj-lt"/>
              </a:rPr>
              <a:t>Software</a:t>
            </a:r>
            <a:r>
              <a:rPr lang="en-US" sz="2800" dirty="0">
                <a:latin typeface="+mj-lt"/>
              </a:rPr>
              <a:t>: Python 3.8</a:t>
            </a:r>
          </a:p>
          <a:p>
            <a:pPr marL="274320">
              <a:spcBef>
                <a:spcPts val="1200"/>
              </a:spcBef>
              <a:spcAft>
                <a:spcPts val="1200"/>
              </a:spcAft>
              <a:buFont typeface="Wingdings" panose="05000000000000000000" pitchFamily="2" charset="2"/>
              <a:buChar char="§"/>
            </a:pPr>
            <a:r>
              <a:rPr lang="en-US" sz="2800" b="1" dirty="0">
                <a:latin typeface="+mj-lt"/>
              </a:rPr>
              <a:t>Analysis</a:t>
            </a:r>
            <a:r>
              <a:rPr lang="en-US" sz="2800" dirty="0">
                <a:latin typeface="+mj-lt"/>
              </a:rPr>
              <a:t> </a:t>
            </a:r>
            <a:r>
              <a:rPr lang="en-US" sz="2800" b="1" dirty="0">
                <a:latin typeface="+mj-lt"/>
              </a:rPr>
              <a:t>Process</a:t>
            </a:r>
            <a:r>
              <a:rPr lang="en-US" sz="2800" dirty="0">
                <a:latin typeface="+mj-lt"/>
              </a:rPr>
              <a:t>: HH files from each year were imported and reviewed based on the key objectives outlined.</a:t>
            </a:r>
          </a:p>
          <a:p>
            <a:pPr marL="274320">
              <a:spcBef>
                <a:spcPts val="1200"/>
              </a:spcBef>
              <a:spcAft>
                <a:spcPts val="1200"/>
              </a:spcAft>
              <a:buFont typeface="Wingdings" panose="05000000000000000000" pitchFamily="2" charset="2"/>
              <a:buChar char="§"/>
            </a:pPr>
            <a:r>
              <a:rPr lang="en-US" sz="2800" b="1" dirty="0">
                <a:latin typeface="+mj-lt"/>
              </a:rPr>
              <a:t>Limitations</a:t>
            </a:r>
            <a:r>
              <a:rPr lang="en-US" sz="2800" dirty="0">
                <a:latin typeface="+mj-lt"/>
              </a:rPr>
              <a:t>: Salt data not available in 2006. Methods for testing salt for iodine in 2000 were different than in 2013 – the former tested ppm whilst the latter on check if present or not. This made comparison between the two years less robust.</a:t>
            </a:r>
          </a:p>
        </p:txBody>
      </p:sp>
    </p:spTree>
    <p:extLst>
      <p:ext uri="{BB962C8B-B14F-4D97-AF65-F5344CB8AC3E}">
        <p14:creationId xmlns:p14="http://schemas.microsoft.com/office/powerpoint/2010/main" val="1758800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2D552-AF94-4FAC-93ED-FE07A02F3FEC}"/>
              </a:ext>
            </a:extLst>
          </p:cNvPr>
          <p:cNvSpPr>
            <a:spLocks noGrp="1"/>
          </p:cNvSpPr>
          <p:nvPr>
            <p:ph type="title"/>
          </p:nvPr>
        </p:nvSpPr>
        <p:spPr/>
        <p:txBody>
          <a:bodyPr/>
          <a:lstStyle/>
          <a:p>
            <a:r>
              <a:rPr lang="en-US" dirty="0">
                <a:latin typeface="Tw Cen MT" panose="020B0602020104020603" pitchFamily="34" charset="0"/>
              </a:rPr>
              <a:t>Task 6: Key Findings/Results</a:t>
            </a:r>
          </a:p>
        </p:txBody>
      </p:sp>
      <p:sp>
        <p:nvSpPr>
          <p:cNvPr id="3" name="Content Placeholder 2">
            <a:extLst>
              <a:ext uri="{FF2B5EF4-FFF2-40B4-BE49-F238E27FC236}">
                <a16:creationId xmlns:a16="http://schemas.microsoft.com/office/drawing/2014/main" id="{221CB2DA-A532-41B2-9048-D94B2D1E5375}"/>
              </a:ext>
            </a:extLst>
          </p:cNvPr>
          <p:cNvSpPr>
            <a:spLocks noGrp="1"/>
          </p:cNvSpPr>
          <p:nvPr>
            <p:ph idx="1"/>
          </p:nvPr>
        </p:nvSpPr>
        <p:spPr/>
        <p:txBody>
          <a:bodyPr/>
          <a:lstStyle/>
          <a:p>
            <a:r>
              <a:rPr lang="en-US" dirty="0">
                <a:latin typeface="+mj-lt"/>
              </a:rPr>
              <a:t>A substantial proportion of households in </a:t>
            </a:r>
            <a:r>
              <a:rPr lang="en-US" dirty="0" err="1">
                <a:latin typeface="+mj-lt"/>
              </a:rPr>
              <a:t>Omusati</a:t>
            </a:r>
            <a:r>
              <a:rPr lang="en-US" dirty="0">
                <a:latin typeface="+mj-lt"/>
              </a:rPr>
              <a:t> and Oshana regions (17%) reported that the main source of their household salt was from a salt pan.</a:t>
            </a:r>
          </a:p>
          <a:p>
            <a:r>
              <a:rPr lang="en-US" sz="2800" dirty="0">
                <a:latin typeface="+mj-lt"/>
              </a:rPr>
              <a:t>The iodine data from 2000 and 2013 by region were roughly similar but given the difference in testing methodology it is difficult to draw </a:t>
            </a:r>
            <a:r>
              <a:rPr lang="en-US" dirty="0">
                <a:latin typeface="+mj-lt"/>
              </a:rPr>
              <a:t>any strong conclusion from this.</a:t>
            </a:r>
            <a:endParaRPr lang="en-US" sz="2800" dirty="0">
              <a:latin typeface="+mj-lt"/>
            </a:endParaRPr>
          </a:p>
          <a:p>
            <a:endParaRPr lang="en-US" dirty="0"/>
          </a:p>
        </p:txBody>
      </p:sp>
    </p:spTree>
    <p:extLst>
      <p:ext uri="{BB962C8B-B14F-4D97-AF65-F5344CB8AC3E}">
        <p14:creationId xmlns:p14="http://schemas.microsoft.com/office/powerpoint/2010/main" val="4050146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A7B5C-4791-455F-9F92-16110931D00D}"/>
              </a:ext>
            </a:extLst>
          </p:cNvPr>
          <p:cNvSpPr>
            <a:spLocks noGrp="1"/>
          </p:cNvSpPr>
          <p:nvPr>
            <p:ph type="title"/>
          </p:nvPr>
        </p:nvSpPr>
        <p:spPr/>
        <p:txBody>
          <a:bodyPr/>
          <a:lstStyle/>
          <a:p>
            <a:r>
              <a:rPr lang="en-US" dirty="0">
                <a:latin typeface="Tw Cen MT" panose="020B0602020104020603" pitchFamily="34" charset="0"/>
              </a:rPr>
              <a:t>Task 7</a:t>
            </a:r>
          </a:p>
        </p:txBody>
      </p:sp>
      <p:sp>
        <p:nvSpPr>
          <p:cNvPr id="3" name="Content Placeholder 2">
            <a:extLst>
              <a:ext uri="{FF2B5EF4-FFF2-40B4-BE49-F238E27FC236}">
                <a16:creationId xmlns:a16="http://schemas.microsoft.com/office/drawing/2014/main" id="{3D98BDB9-5A6C-47B2-815E-C1F8E64F2A96}"/>
              </a:ext>
            </a:extLst>
          </p:cNvPr>
          <p:cNvSpPr>
            <a:spLocks noGrp="1"/>
          </p:cNvSpPr>
          <p:nvPr>
            <p:ph idx="1"/>
          </p:nvPr>
        </p:nvSpPr>
        <p:spPr/>
        <p:txBody>
          <a:bodyPr/>
          <a:lstStyle/>
          <a:p>
            <a:pPr marL="0" indent="0">
              <a:buNone/>
            </a:pPr>
            <a:r>
              <a:rPr lang="en-US" i="1" dirty="0">
                <a:latin typeface="+mj-lt"/>
              </a:rPr>
              <a:t>Review DRB data on household salt intake to address any data quality issues and generate a direct assessment of national and regional intake (g/c/d) of household salt (01192.01 Salt)</a:t>
            </a:r>
          </a:p>
        </p:txBody>
      </p:sp>
    </p:spTree>
    <p:extLst>
      <p:ext uri="{BB962C8B-B14F-4D97-AF65-F5344CB8AC3E}">
        <p14:creationId xmlns:p14="http://schemas.microsoft.com/office/powerpoint/2010/main" val="1640765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24D0E-A7C1-48D8-8CA2-5ED7A4316DB4}"/>
              </a:ext>
            </a:extLst>
          </p:cNvPr>
          <p:cNvSpPr>
            <a:spLocks noGrp="1"/>
          </p:cNvSpPr>
          <p:nvPr>
            <p:ph type="title"/>
          </p:nvPr>
        </p:nvSpPr>
        <p:spPr/>
        <p:txBody>
          <a:bodyPr/>
          <a:lstStyle/>
          <a:p>
            <a:r>
              <a:rPr lang="en-US" dirty="0">
                <a:latin typeface="Tw Cen MT" panose="020B0602020104020603" pitchFamily="34" charset="0"/>
              </a:rPr>
              <a:t>Task 7: Methodology</a:t>
            </a:r>
          </a:p>
        </p:txBody>
      </p:sp>
      <p:sp>
        <p:nvSpPr>
          <p:cNvPr id="3" name="Content Placeholder 2">
            <a:extLst>
              <a:ext uri="{FF2B5EF4-FFF2-40B4-BE49-F238E27FC236}">
                <a16:creationId xmlns:a16="http://schemas.microsoft.com/office/drawing/2014/main" id="{6128AF9A-ED46-48AD-A8D6-36D3EB37C136}"/>
              </a:ext>
            </a:extLst>
          </p:cNvPr>
          <p:cNvSpPr>
            <a:spLocks noGrp="1"/>
          </p:cNvSpPr>
          <p:nvPr>
            <p:ph idx="1"/>
          </p:nvPr>
        </p:nvSpPr>
        <p:spPr>
          <a:xfrm>
            <a:off x="838200" y="1825624"/>
            <a:ext cx="10515600" cy="5032375"/>
          </a:xfrm>
        </p:spPr>
        <p:txBody>
          <a:bodyPr>
            <a:normAutofit fontScale="85000" lnSpcReduction="20000"/>
          </a:bodyPr>
          <a:lstStyle/>
          <a:p>
            <a:pPr marL="274320">
              <a:spcBef>
                <a:spcPts val="1200"/>
              </a:spcBef>
              <a:spcAft>
                <a:spcPts val="1200"/>
              </a:spcAft>
              <a:buFont typeface="Wingdings" panose="05000000000000000000" pitchFamily="2" charset="2"/>
              <a:buChar char="§"/>
            </a:pPr>
            <a:r>
              <a:rPr lang="en-US" sz="2800" b="1" dirty="0">
                <a:latin typeface="+mj-lt"/>
              </a:rPr>
              <a:t>Data Sources</a:t>
            </a:r>
            <a:r>
              <a:rPr lang="en-US" sz="2800" dirty="0">
                <a:latin typeface="+mj-lt"/>
              </a:rPr>
              <a:t>: </a:t>
            </a:r>
            <a:r>
              <a:rPr lang="en-US" sz="2800" b="0" kern="1200" dirty="0">
                <a:solidFill>
                  <a:schemeClr val="tx1"/>
                </a:solidFill>
                <a:latin typeface="+mj-lt"/>
                <a:ea typeface="+mn-ea"/>
                <a:cs typeface="+mn-cs"/>
              </a:rPr>
              <a:t>NHIES 2015/16 Daily Record Book Dataset file</a:t>
            </a:r>
          </a:p>
          <a:p>
            <a:pPr marL="274320">
              <a:spcBef>
                <a:spcPts val="1200"/>
              </a:spcBef>
              <a:spcAft>
                <a:spcPts val="1200"/>
              </a:spcAft>
              <a:buFont typeface="Wingdings" panose="05000000000000000000" pitchFamily="2" charset="2"/>
              <a:buChar char="§"/>
            </a:pPr>
            <a:r>
              <a:rPr lang="en-US" sz="2800" b="1" dirty="0">
                <a:latin typeface="+mj-lt"/>
              </a:rPr>
              <a:t>Software</a:t>
            </a:r>
            <a:r>
              <a:rPr lang="en-US" sz="2800" dirty="0">
                <a:latin typeface="+mj-lt"/>
              </a:rPr>
              <a:t>: Python 3.8</a:t>
            </a:r>
          </a:p>
          <a:p>
            <a:pPr marL="274320">
              <a:spcBef>
                <a:spcPts val="1200"/>
              </a:spcBef>
              <a:spcAft>
                <a:spcPts val="1200"/>
              </a:spcAft>
              <a:buFont typeface="Wingdings" panose="05000000000000000000" pitchFamily="2" charset="2"/>
              <a:buChar char="§"/>
            </a:pPr>
            <a:r>
              <a:rPr lang="en-US" sz="2800" b="1" dirty="0">
                <a:latin typeface="+mj-lt"/>
              </a:rPr>
              <a:t>Analysis</a:t>
            </a:r>
            <a:r>
              <a:rPr lang="en-US" sz="2800" dirty="0">
                <a:latin typeface="+mj-lt"/>
              </a:rPr>
              <a:t> </a:t>
            </a:r>
            <a:r>
              <a:rPr lang="en-US" sz="2800" b="1" dirty="0">
                <a:latin typeface="+mj-lt"/>
              </a:rPr>
              <a:t>Process</a:t>
            </a:r>
            <a:r>
              <a:rPr lang="en-US" sz="2800" dirty="0">
                <a:latin typeface="+mj-lt"/>
              </a:rPr>
              <a:t>: A subset of the DRB file was created containing all rows wherein the HH had consumed salt in the last 7 days. Estimated number of grams consumed wa</a:t>
            </a:r>
            <a:r>
              <a:rPr lang="en-US" dirty="0">
                <a:latin typeface="+mj-lt"/>
              </a:rPr>
              <a:t>s calculated by assuming different values for the units of measure (e.g., 1 teaspoon of salt was assumed to weigh 5.9 grams). These values were applied, and extreme outliers cleaned/removed by preparing a cumulative density distribution of the grams/cap/day consumed. The mean and medians of this truncated distribution were then calculated.</a:t>
            </a:r>
            <a:endParaRPr lang="en-US" sz="2800" dirty="0">
              <a:latin typeface="+mj-lt"/>
            </a:endParaRPr>
          </a:p>
          <a:p>
            <a:pPr marL="274320">
              <a:spcBef>
                <a:spcPts val="1200"/>
              </a:spcBef>
              <a:spcAft>
                <a:spcPts val="1200"/>
              </a:spcAft>
              <a:buFont typeface="Wingdings" panose="05000000000000000000" pitchFamily="2" charset="2"/>
              <a:buChar char="§"/>
            </a:pPr>
            <a:r>
              <a:rPr lang="en-US" sz="2800" b="1" dirty="0">
                <a:latin typeface="+mj-lt"/>
              </a:rPr>
              <a:t>Limitations</a:t>
            </a:r>
            <a:r>
              <a:rPr lang="en-US" sz="2800" dirty="0">
                <a:latin typeface="+mj-lt"/>
              </a:rPr>
              <a:t>: The volume of data (e.g., salt dataset was 48,000+ rows) and available time prevented a more comprehensive cleaning approach. The CDF truncation approach was effective for obtaining a “best estimate” quickly. The </a:t>
            </a:r>
            <a:r>
              <a:rPr lang="en-US" sz="2800" dirty="0" err="1">
                <a:latin typeface="+mj-lt"/>
              </a:rPr>
              <a:t>ADePT</a:t>
            </a:r>
            <a:r>
              <a:rPr lang="en-US" sz="2800" dirty="0">
                <a:latin typeface="+mj-lt"/>
              </a:rPr>
              <a:t> cleaning methodology and algorithm is not well documented, making it challenging to understand key differences.</a:t>
            </a:r>
          </a:p>
        </p:txBody>
      </p:sp>
    </p:spTree>
    <p:extLst>
      <p:ext uri="{BB962C8B-B14F-4D97-AF65-F5344CB8AC3E}">
        <p14:creationId xmlns:p14="http://schemas.microsoft.com/office/powerpoint/2010/main" val="670661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B07D5-62CA-492E-867D-1F0F96DF4071}"/>
              </a:ext>
            </a:extLst>
          </p:cNvPr>
          <p:cNvSpPr>
            <a:spLocks noGrp="1"/>
          </p:cNvSpPr>
          <p:nvPr>
            <p:ph type="title"/>
          </p:nvPr>
        </p:nvSpPr>
        <p:spPr/>
        <p:txBody>
          <a:bodyPr/>
          <a:lstStyle/>
          <a:p>
            <a:r>
              <a:rPr lang="en-US" dirty="0">
                <a:latin typeface="Tw Cen MT" panose="020B0602020104020603" pitchFamily="34" charset="0"/>
              </a:rPr>
              <a:t>Task 7: Key Findings/Results</a:t>
            </a:r>
          </a:p>
        </p:txBody>
      </p:sp>
      <p:sp>
        <p:nvSpPr>
          <p:cNvPr id="3" name="Content Placeholder 2">
            <a:extLst>
              <a:ext uri="{FF2B5EF4-FFF2-40B4-BE49-F238E27FC236}">
                <a16:creationId xmlns:a16="http://schemas.microsoft.com/office/drawing/2014/main" id="{4B8256A7-E270-49D7-98B5-A4998979F903}"/>
              </a:ext>
            </a:extLst>
          </p:cNvPr>
          <p:cNvSpPr>
            <a:spLocks noGrp="1"/>
          </p:cNvSpPr>
          <p:nvPr>
            <p:ph idx="1"/>
          </p:nvPr>
        </p:nvSpPr>
        <p:spPr>
          <a:xfrm>
            <a:off x="838199" y="1825625"/>
            <a:ext cx="6139649" cy="4351338"/>
          </a:xfrm>
        </p:spPr>
        <p:txBody>
          <a:bodyPr>
            <a:normAutofit/>
          </a:bodyPr>
          <a:lstStyle/>
          <a:p>
            <a:r>
              <a:rPr lang="en-US" dirty="0">
                <a:latin typeface="+mj-lt"/>
              </a:rPr>
              <a:t>Based on the methodology outlined above, the estimated amount of salt consumed in Namibia was 5.38 g/c/d. This is substantially higher than the 1.26 g/c/d estimated by </a:t>
            </a:r>
            <a:r>
              <a:rPr lang="en-US" dirty="0" err="1">
                <a:latin typeface="+mj-lt"/>
              </a:rPr>
              <a:t>ADePT</a:t>
            </a:r>
            <a:r>
              <a:rPr lang="en-US" dirty="0">
                <a:latin typeface="+mj-lt"/>
              </a:rPr>
              <a:t> software.</a:t>
            </a:r>
          </a:p>
          <a:p>
            <a:r>
              <a:rPr lang="en-US" sz="2800" dirty="0">
                <a:latin typeface="+mj-lt"/>
              </a:rPr>
              <a:t>Apart from </a:t>
            </a:r>
            <a:r>
              <a:rPr lang="en-US" sz="2800" dirty="0" err="1">
                <a:latin typeface="+mj-lt"/>
              </a:rPr>
              <a:t>Kavango</a:t>
            </a:r>
            <a:r>
              <a:rPr lang="en-US" sz="2800" dirty="0">
                <a:latin typeface="+mj-lt"/>
              </a:rPr>
              <a:t> East and West, the distribution of salt consumption was very similar throughout the regions. </a:t>
            </a:r>
          </a:p>
          <a:p>
            <a:endParaRPr lang="en-US" dirty="0"/>
          </a:p>
        </p:txBody>
      </p:sp>
      <p:pic>
        <p:nvPicPr>
          <p:cNvPr id="9" name="Graphic 8">
            <a:extLst>
              <a:ext uri="{FF2B5EF4-FFF2-40B4-BE49-F238E27FC236}">
                <a16:creationId xmlns:a16="http://schemas.microsoft.com/office/drawing/2014/main" id="{2B4333D5-05DB-44A2-AF73-697B8B54E5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1027906"/>
            <a:ext cx="4114800" cy="2743200"/>
          </a:xfrm>
          <a:prstGeom prst="rect">
            <a:avLst/>
          </a:prstGeom>
        </p:spPr>
      </p:pic>
      <p:pic>
        <p:nvPicPr>
          <p:cNvPr id="11" name="Graphic 10">
            <a:extLst>
              <a:ext uri="{FF2B5EF4-FFF2-40B4-BE49-F238E27FC236}">
                <a16:creationId xmlns:a16="http://schemas.microsoft.com/office/drawing/2014/main" id="{269574AF-C646-4CA8-89FD-A7FB46E5F0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3771106"/>
            <a:ext cx="4114800" cy="2743200"/>
          </a:xfrm>
          <a:prstGeom prst="rect">
            <a:avLst/>
          </a:prstGeom>
        </p:spPr>
      </p:pic>
    </p:spTree>
    <p:extLst>
      <p:ext uri="{BB962C8B-B14F-4D97-AF65-F5344CB8AC3E}">
        <p14:creationId xmlns:p14="http://schemas.microsoft.com/office/powerpoint/2010/main" val="3582587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AB91A-4084-4374-9209-4B2CA738037A}"/>
              </a:ext>
            </a:extLst>
          </p:cNvPr>
          <p:cNvSpPr>
            <a:spLocks noGrp="1"/>
          </p:cNvSpPr>
          <p:nvPr>
            <p:ph type="title"/>
          </p:nvPr>
        </p:nvSpPr>
        <p:spPr/>
        <p:txBody>
          <a:bodyPr/>
          <a:lstStyle/>
          <a:p>
            <a:r>
              <a:rPr lang="en-US" dirty="0">
                <a:latin typeface="Tw Cen MT" panose="020B0602020104020603" pitchFamily="34" charset="0"/>
              </a:rPr>
              <a:t>Task 8</a:t>
            </a:r>
          </a:p>
        </p:txBody>
      </p:sp>
      <p:sp>
        <p:nvSpPr>
          <p:cNvPr id="3" name="Content Placeholder 2">
            <a:extLst>
              <a:ext uri="{FF2B5EF4-FFF2-40B4-BE49-F238E27FC236}">
                <a16:creationId xmlns:a16="http://schemas.microsoft.com/office/drawing/2014/main" id="{582B6E26-7D67-4393-8879-7CAB3B744849}"/>
              </a:ext>
            </a:extLst>
          </p:cNvPr>
          <p:cNvSpPr>
            <a:spLocks noGrp="1"/>
          </p:cNvSpPr>
          <p:nvPr>
            <p:ph idx="1"/>
          </p:nvPr>
        </p:nvSpPr>
        <p:spPr/>
        <p:txBody>
          <a:bodyPr/>
          <a:lstStyle/>
          <a:p>
            <a:pPr marL="0" indent="0">
              <a:buNone/>
            </a:pPr>
            <a:r>
              <a:rPr lang="en-US" i="1" dirty="0">
                <a:latin typeface="+mj-lt"/>
              </a:rPr>
              <a:t>Calculate the contribution of household salt (from point 7) and processed food to salt and iodine intake using the IGN Programme Guidance on the Use of Iodized Salt in Industrially Processed Foods.</a:t>
            </a:r>
          </a:p>
          <a:p>
            <a:pPr marL="0" indent="0">
              <a:buNone/>
            </a:pPr>
            <a:endParaRPr lang="en-US" i="1" dirty="0">
              <a:latin typeface="+mj-lt"/>
            </a:endParaRPr>
          </a:p>
          <a:p>
            <a:pPr marL="0" indent="0">
              <a:buNone/>
            </a:pPr>
            <a:r>
              <a:rPr lang="en-US" dirty="0">
                <a:latin typeface="+mj-lt"/>
              </a:rPr>
              <a:t>NB: This task was not performed as IGN was able to impute the outputs from Task 3 and Task 7. Only small edits to the corresponding output charts were made.</a:t>
            </a:r>
          </a:p>
        </p:txBody>
      </p:sp>
    </p:spTree>
    <p:extLst>
      <p:ext uri="{BB962C8B-B14F-4D97-AF65-F5344CB8AC3E}">
        <p14:creationId xmlns:p14="http://schemas.microsoft.com/office/powerpoint/2010/main" val="586393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1259</Words>
  <Application>Microsoft Office PowerPoint</Application>
  <PresentationFormat>Widescreen</PresentationFormat>
  <Paragraphs>65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Tw Cen MT</vt:lpstr>
      <vt:lpstr>Wingdings</vt:lpstr>
      <vt:lpstr>Office Theme</vt:lpstr>
      <vt:lpstr>Food Production and Consumption Patterns in Namibia</vt:lpstr>
      <vt:lpstr>Overview</vt:lpstr>
      <vt:lpstr>Task 3</vt:lpstr>
      <vt:lpstr>Task 3: Methodology</vt:lpstr>
      <vt:lpstr>Task 3: Key Findings/Results</vt:lpstr>
      <vt:lpstr>Task 4</vt:lpstr>
      <vt:lpstr>Task 4: Methodology</vt:lpstr>
      <vt:lpstr>Task 4: Key Findings/Results</vt:lpstr>
      <vt:lpstr>Task 5</vt:lpstr>
      <vt:lpstr>Task 5: Methodology</vt:lpstr>
      <vt:lpstr>Task 5: Key Findings/Results</vt:lpstr>
      <vt:lpstr>Task 6</vt:lpstr>
      <vt:lpstr>Task 6: Methodology</vt:lpstr>
      <vt:lpstr>Task 6: Key Findings/Results</vt:lpstr>
      <vt:lpstr>Task 7</vt:lpstr>
      <vt:lpstr>Task 7: Methodology</vt:lpstr>
      <vt:lpstr>Task 7: Key Findings/Results</vt:lpstr>
      <vt:lpstr>Task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Aaron WISE</cp:lastModifiedBy>
  <cp:revision>17</cp:revision>
  <dcterms:created xsi:type="dcterms:W3CDTF">2020-12-18T10:23:39Z</dcterms:created>
  <dcterms:modified xsi:type="dcterms:W3CDTF">2020-12-18T12:47:01Z</dcterms:modified>
</cp:coreProperties>
</file>