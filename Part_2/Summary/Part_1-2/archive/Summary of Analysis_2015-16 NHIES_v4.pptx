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73" r:id="rId12"/>
    <p:sldId id="262" r:id="rId13"/>
    <p:sldId id="268" r:id="rId14"/>
    <p:sldId id="269" r:id="rId15"/>
    <p:sldId id="270" r:id="rId16"/>
    <p:sldId id="272"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06" autoAdjust="0"/>
    <p:restoredTop sz="94660"/>
  </p:normalViewPr>
  <p:slideViewPr>
    <p:cSldViewPr snapToGrid="0">
      <p:cViewPr varScale="1">
        <p:scale>
          <a:sx n="104" d="100"/>
          <a:sy n="104" d="100"/>
        </p:scale>
        <p:origin x="13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04-Nov-20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1.</a:t>
            </a:r>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9" y="2498305"/>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2.</a:t>
            </a:r>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pic>
        <p:nvPicPr>
          <p:cNvPr id="8" name="Picture 7" descr="Chart, bar chart&#10;&#10;Description automatically generated">
            <a:extLst>
              <a:ext uri="{FF2B5EF4-FFF2-40B4-BE49-F238E27FC236}">
                <a16:creationId xmlns:a16="http://schemas.microsoft.com/office/drawing/2014/main" id="{CE7111E6-2E39-4CD7-B91E-2C498340C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638030"/>
            <a:ext cx="4701260" cy="2743200"/>
          </a:xfrm>
          <a:prstGeom prst="rect">
            <a:avLst/>
          </a:prstGeom>
        </p:spPr>
      </p:pic>
      <p:pic>
        <p:nvPicPr>
          <p:cNvPr id="10" name="Picture 9" descr="Chart, bar chart&#10;&#10;Description automatically generated">
            <a:extLst>
              <a:ext uri="{FF2B5EF4-FFF2-40B4-BE49-F238E27FC236}">
                <a16:creationId xmlns:a16="http://schemas.microsoft.com/office/drawing/2014/main" id="{5399B525-A884-4F9E-8AC0-4361FE29A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8458" y="645319"/>
            <a:ext cx="4705366" cy="2743200"/>
          </a:xfrm>
          <a:prstGeom prst="rect">
            <a:avLst/>
          </a:prstGeom>
        </p:spPr>
      </p:pic>
      <p:pic>
        <p:nvPicPr>
          <p:cNvPr id="12" name="Picture 11" descr="Chart, bar chart&#10;&#10;Description automatically generated">
            <a:extLst>
              <a:ext uri="{FF2B5EF4-FFF2-40B4-BE49-F238E27FC236}">
                <a16:creationId xmlns:a16="http://schemas.microsoft.com/office/drawing/2014/main" id="{6AB88CCA-1537-43BA-A49F-842D41675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8458" y="3639734"/>
            <a:ext cx="4705366" cy="2743200"/>
          </a:xfrm>
          <a:prstGeom prst="rect">
            <a:avLst/>
          </a:prstGeom>
        </p:spPr>
      </p:pic>
      <p:sp>
        <p:nvSpPr>
          <p:cNvPr id="14" name="TextBox 13">
            <a:extLst>
              <a:ext uri="{FF2B5EF4-FFF2-40B4-BE49-F238E27FC236}">
                <a16:creationId xmlns:a16="http://schemas.microsoft.com/office/drawing/2014/main" id="{0114402D-A727-4B8F-A422-86870180A9A1}"/>
              </a:ext>
            </a:extLst>
          </p:cNvPr>
          <p:cNvSpPr txBox="1"/>
          <p:nvPr/>
        </p:nvSpPr>
        <p:spPr>
          <a:xfrm>
            <a:off x="1056395" y="3290500"/>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3.</a:t>
            </a:r>
          </a:p>
        </p:txBody>
      </p:sp>
      <p:sp>
        <p:nvSpPr>
          <p:cNvPr id="18" name="TextBox 17">
            <a:extLst>
              <a:ext uri="{FF2B5EF4-FFF2-40B4-BE49-F238E27FC236}">
                <a16:creationId xmlns:a16="http://schemas.microsoft.com/office/drawing/2014/main" id="{2B7F2D11-18FE-42CD-A150-0198AEF4D68F}"/>
              </a:ext>
            </a:extLst>
          </p:cNvPr>
          <p:cNvSpPr txBox="1"/>
          <p:nvPr/>
        </p:nvSpPr>
        <p:spPr>
          <a:xfrm>
            <a:off x="7054524" y="336566"/>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4.</a:t>
            </a:r>
          </a:p>
        </p:txBody>
      </p:sp>
      <p:sp>
        <p:nvSpPr>
          <p:cNvPr id="20" name="TextBox 19">
            <a:extLst>
              <a:ext uri="{FF2B5EF4-FFF2-40B4-BE49-F238E27FC236}">
                <a16:creationId xmlns:a16="http://schemas.microsoft.com/office/drawing/2014/main" id="{D96EDDB9-D3FB-4426-8592-72F6873CE529}"/>
              </a:ext>
            </a:extLst>
          </p:cNvPr>
          <p:cNvSpPr txBox="1"/>
          <p:nvPr/>
        </p:nvSpPr>
        <p:spPr>
          <a:xfrm>
            <a:off x="6987412" y="3393277"/>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5.</a:t>
            </a:r>
          </a:p>
        </p:txBody>
      </p:sp>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63203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1315013" y="3164770"/>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740025" y="3102861"/>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7.</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876636" cy="498475"/>
          </a:xfrm>
        </p:spPr>
        <p:txBody>
          <a:bodyPr>
            <a:normAutofit fontScale="77500" lnSpcReduction="20000"/>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2039170"/>
            <a:ext cx="5876636" cy="2923877"/>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(Figures 8 &amp; 9 below)</a:t>
            </a:r>
            <a:r>
              <a:rPr lang="en-US" baseline="30000" dirty="0">
                <a:latin typeface="+mj-lt"/>
              </a:rPr>
              <a:t>12</a:t>
            </a:r>
          </a:p>
          <a:p>
            <a:pPr marL="285750" indent="-285750">
              <a:buFont typeface="Arial" panose="020B0604020202020204" pitchFamily="34" charset="0"/>
              <a:buChar char="•"/>
            </a:pPr>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648849" y="630474"/>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8.</a:t>
            </a:r>
          </a:p>
        </p:txBody>
      </p:sp>
      <p:pic>
        <p:nvPicPr>
          <p:cNvPr id="12" name="Graphic 11">
            <a:extLst>
              <a:ext uri="{FF2B5EF4-FFF2-40B4-BE49-F238E27FC236}">
                <a16:creationId xmlns:a16="http://schemas.microsoft.com/office/drawing/2014/main" id="{A2B3F735-3B9D-47BA-85D6-A5ED99E7EE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464693"/>
            <a:ext cx="4114800" cy="2743200"/>
          </a:xfrm>
          <a:prstGeom prst="rect">
            <a:avLst/>
          </a:prstGeom>
        </p:spPr>
      </p:pic>
      <p:sp>
        <p:nvSpPr>
          <p:cNvPr id="16" name="TextBox 15">
            <a:extLst>
              <a:ext uri="{FF2B5EF4-FFF2-40B4-BE49-F238E27FC236}">
                <a16:creationId xmlns:a16="http://schemas.microsoft.com/office/drawing/2014/main" id="{7D66A16F-D962-4EF4-BB3F-AA7CCBFE4B94}"/>
              </a:ext>
            </a:extLst>
          </p:cNvPr>
          <p:cNvSpPr txBox="1"/>
          <p:nvPr/>
        </p:nvSpPr>
        <p:spPr>
          <a:xfrm>
            <a:off x="7648849" y="3409563"/>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9.</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872345" cy="498475"/>
          </a:xfrm>
        </p:spPr>
        <p:txBody>
          <a:bodyPr>
            <a:normAutofit fontScale="70000" lnSpcReduction="20000"/>
          </a:bodyPr>
          <a:lstStyle/>
          <a:p>
            <a:pPr marL="0" indent="0">
              <a:buNone/>
            </a:pPr>
            <a:r>
              <a:rPr lang="en-US" sz="2400" b="1" dirty="0">
                <a:latin typeface="+mj-lt"/>
              </a:rPr>
              <a:t>C. Regional and temporal variations in grain consumption</a:t>
            </a:r>
            <a:endParaRPr lang="en-US" sz="2400" b="1" dirty="0"/>
          </a:p>
        </p:txBody>
      </p:sp>
      <p:pic>
        <p:nvPicPr>
          <p:cNvPr id="7" name="Picture 6" descr="Chart, bar chart&#10;&#10;Description automatically generated">
            <a:extLst>
              <a:ext uri="{FF2B5EF4-FFF2-40B4-BE49-F238E27FC236}">
                <a16:creationId xmlns:a16="http://schemas.microsoft.com/office/drawing/2014/main" id="{73755B22-1608-451B-99F6-6E2BC1983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92192"/>
            <a:ext cx="4572000" cy="2743200"/>
          </a:xfrm>
          <a:prstGeom prst="rect">
            <a:avLst/>
          </a:prstGeom>
        </p:spPr>
      </p:pic>
      <p:sp>
        <p:nvSpPr>
          <p:cNvPr id="17" name="TextBox 16">
            <a:extLst>
              <a:ext uri="{FF2B5EF4-FFF2-40B4-BE49-F238E27FC236}">
                <a16:creationId xmlns:a16="http://schemas.microsoft.com/office/drawing/2014/main" id="{EA95631F-6057-4778-AAAC-29F3DB21AA43}"/>
              </a:ext>
            </a:extLst>
          </p:cNvPr>
          <p:cNvSpPr txBox="1"/>
          <p:nvPr/>
        </p:nvSpPr>
        <p:spPr>
          <a:xfrm>
            <a:off x="1137213" y="3429000"/>
            <a:ext cx="1339273" cy="276999"/>
          </a:xfrm>
          <a:prstGeom prst="rect">
            <a:avLst/>
          </a:prstGeom>
          <a:noFill/>
        </p:spPr>
        <p:txBody>
          <a:bodyPr wrap="square" rtlCol="0">
            <a:spAutoFit/>
          </a:bodyPr>
          <a:lstStyle/>
          <a:p>
            <a:r>
              <a:rPr lang="en-US" sz="1200" b="1" dirty="0">
                <a:solidFill>
                  <a:srgbClr val="FF0000"/>
                </a:solidFill>
                <a:latin typeface="Tw Cen MT" panose="020B0602020104020603" pitchFamily="34" charset="0"/>
              </a:rPr>
              <a:t>Figure 10.</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10515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a:t>
            </a:r>
            <a:r>
              <a:rPr lang="en-US" dirty="0" err="1">
                <a:latin typeface="+mj-lt"/>
              </a:rPr>
              <a:t>mahangu</a:t>
            </a:r>
            <a:r>
              <a:rPr lang="en-US" dirty="0">
                <a:latin typeface="+mj-lt"/>
              </a:rPr>
              <a:t> production (Figure 10).</a:t>
            </a:r>
          </a:p>
          <a:p>
            <a:endParaRPr lang="en-US" dirty="0"/>
          </a:p>
        </p:txBody>
      </p:sp>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1400</TotalTime>
  <Words>2133</Words>
  <Application>Microsoft Office PowerPoint</Application>
  <PresentationFormat>Widescreen</PresentationFormat>
  <Paragraphs>318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99</cp:revision>
  <dcterms:created xsi:type="dcterms:W3CDTF">2020-10-13T02:26:37Z</dcterms:created>
  <dcterms:modified xsi:type="dcterms:W3CDTF">2020-11-04T14:44:08Z</dcterms:modified>
</cp:coreProperties>
</file>