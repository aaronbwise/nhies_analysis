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65" r:id="rId8"/>
    <p:sldId id="266" r:id="rId9"/>
    <p:sldId id="267" r:id="rId10"/>
    <p:sldId id="271" r:id="rId11"/>
    <p:sldId id="262"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dling" initials="kc" lastIdx="30" clrIdx="0">
    <p:extLst>
      <p:ext uri="{19B8F6BF-5375-455C-9EA6-DF929625EA0E}">
        <p15:presenceInfo xmlns:p15="http://schemas.microsoft.com/office/powerpoint/2012/main" userId="c257a15a2433dd29" providerId="Windows Live"/>
      </p:ext>
    </p:extLst>
  </p:cmAuthor>
  <p:cmAuthor id="2" name="Aaron WISE" initials="AW" lastIdx="31" clrIdx="1">
    <p:extLst>
      <p:ext uri="{19B8F6BF-5375-455C-9EA6-DF929625EA0E}">
        <p15:presenceInfo xmlns:p15="http://schemas.microsoft.com/office/powerpoint/2012/main" userId="Aaron W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12" autoAdjust="0"/>
    <p:restoredTop sz="94660"/>
  </p:normalViewPr>
  <p:slideViewPr>
    <p:cSldViewPr snapToGrid="0">
      <p:cViewPr varScale="1">
        <p:scale>
          <a:sx n="104" d="100"/>
          <a:sy n="104" d="100"/>
        </p:scale>
        <p:origin x="138"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0-13T21:55:55.381" idx="1">
    <p:pos x="5683" y="1290"/>
    <p:text>Add a title esp to avoid getting confused with the title: A. Analysis of household-level food consumption and grain production</p:text>
    <p:extLst>
      <p:ext uri="{C676402C-5697-4E1C-873F-D02D1690AC5C}">
        <p15:threadingInfo xmlns:p15="http://schemas.microsoft.com/office/powerpoint/2012/main" timeZoneBias="-120"/>
      </p:ext>
    </p:extLst>
  </p:cm>
  <p:cm authorId="2" dt="2020-10-17T11:30:46.989" idx="1">
    <p:pos x="5683" y="1386"/>
    <p:text>Done</p:text>
    <p:extLst>
      <p:ext uri="{C676402C-5697-4E1C-873F-D02D1690AC5C}">
        <p15:threadingInfo xmlns:p15="http://schemas.microsoft.com/office/powerpoint/2012/main" timeZoneBias="-420">
          <p15:parentCm authorId="1" idx="1"/>
        </p15:threadingInfo>
      </p:ext>
    </p:extLst>
  </p:cm>
  <p:cm authorId="1" dt="2020-10-13T21:56:34.980" idx="2">
    <p:pos x="2962" y="2096"/>
    <p:text>Add the units</p:text>
    <p:extLst>
      <p:ext uri="{C676402C-5697-4E1C-873F-D02D1690AC5C}">
        <p15:threadingInfo xmlns:p15="http://schemas.microsoft.com/office/powerpoint/2012/main" timeZoneBias="-120"/>
      </p:ext>
    </p:extLst>
  </p:cm>
  <p:cm authorId="2" dt="2020-10-17T11:30:59.688" idx="2">
    <p:pos x="2962" y="2192"/>
    <p:text>Done</p:text>
    <p:extLst>
      <p:ext uri="{C676402C-5697-4E1C-873F-D02D1690AC5C}">
        <p15:threadingInfo xmlns:p15="http://schemas.microsoft.com/office/powerpoint/2012/main" timeZoneBias="-420">
          <p15:parentCm authorId="1" idx="2"/>
        </p15:threadingInfo>
      </p:ext>
    </p:extLst>
  </p:cm>
  <p:cm authorId="1" dt="2020-10-13T21:56:54.656" idx="3">
    <p:pos x="3509" y="2480"/>
    <p:text>Add national data also - which you have already mentioned in the bullet points</p:text>
    <p:extLst>
      <p:ext uri="{C676402C-5697-4E1C-873F-D02D1690AC5C}">
        <p15:threadingInfo xmlns:p15="http://schemas.microsoft.com/office/powerpoint/2012/main" timeZoneBias="-120"/>
      </p:ext>
    </p:extLst>
  </p:cm>
  <p:cm authorId="2" dt="2020-10-17T11:31:05.901" idx="3">
    <p:pos x="3509" y="2576"/>
    <p:text>Done</p:text>
    <p:extLst>
      <p:ext uri="{C676402C-5697-4E1C-873F-D02D1690AC5C}">
        <p15:threadingInfo xmlns:p15="http://schemas.microsoft.com/office/powerpoint/2012/main" timeZoneBias="-420">
          <p15:parentCm authorId="1" idx="3"/>
        </p15:threadingInfo>
      </p:ext>
    </p:extLst>
  </p:cm>
  <p:cm authorId="1" dt="2020-10-13T21:57:39.564" idx="4">
    <p:pos x="4400" y="1964"/>
    <p:text>Add the data points</p:text>
    <p:extLst>
      <p:ext uri="{C676402C-5697-4E1C-873F-D02D1690AC5C}">
        <p15:threadingInfo xmlns:p15="http://schemas.microsoft.com/office/powerpoint/2012/main" timeZoneBias="-120"/>
      </p:ext>
    </p:extLst>
  </p:cm>
  <p:cm authorId="2" dt="2020-10-17T11:32:18.855" idx="4">
    <p:pos x="4400" y="2060"/>
    <p:text>@Karen, I added the data points but with all the regions and three values each, the chart because very busy and difficult to read. I suggest to keep data labels out and let the reader determine from the y-axis gridlines or look up specific numbers in the data tables</p:text>
    <p:extLst>
      <p:ext uri="{C676402C-5697-4E1C-873F-D02D1690AC5C}">
        <p15:threadingInfo xmlns:p15="http://schemas.microsoft.com/office/powerpoint/2012/main" timeZoneBias="-420">
          <p15:parentCm authorId="1" idx="4"/>
        </p15:threadingInfo>
      </p:ext>
    </p:extLst>
  </p:cm>
  <p:cm authorId="1" dt="2020-10-13T21:58:56.670" idx="5">
    <p:pos x="934" y="3755"/>
    <p:text>Is it really the regions with highest proportions or is it actually the proportions of HH growing each grain per region</p:text>
    <p:extLst>
      <p:ext uri="{C676402C-5697-4E1C-873F-D02D1690AC5C}">
        <p15:threadingInfo xmlns:p15="http://schemas.microsoft.com/office/powerpoint/2012/main" timeZoneBias="-120"/>
      </p:ext>
    </p:extLst>
  </p:cm>
  <p:cm authorId="2" dt="2020-10-17T11:33:22.239" idx="5">
    <p:pos x="934" y="3851"/>
    <p:text>Good catch, have removed this bullet</p:text>
    <p:extLst>
      <p:ext uri="{C676402C-5697-4E1C-873F-D02D1690AC5C}">
        <p15:threadingInfo xmlns:p15="http://schemas.microsoft.com/office/powerpoint/2012/main" timeZoneBias="-420">
          <p15:parentCm authorId="1" idx="5"/>
        </p15:threadingInfo>
      </p:ext>
    </p:extLst>
  </p:cm>
  <p:cm authorId="1" dt="2020-10-13T21:59:55.192" idx="6">
    <p:pos x="3291" y="1339"/>
    <p:text>Add Figure 1 to the title of the chart so that we can refer to charts my numbers</p:text>
    <p:extLst>
      <p:ext uri="{C676402C-5697-4E1C-873F-D02D1690AC5C}">
        <p15:threadingInfo xmlns:p15="http://schemas.microsoft.com/office/powerpoint/2012/main" timeZoneBias="-120"/>
      </p:ext>
    </p:extLst>
  </p:cm>
  <p:cm authorId="2" dt="2020-10-17T11:33:36" idx="6">
    <p:pos x="3291" y="1435"/>
    <p:text>Done</p:text>
    <p:extLst>
      <p:ext uri="{C676402C-5697-4E1C-873F-D02D1690AC5C}">
        <p15:threadingInfo xmlns:p15="http://schemas.microsoft.com/office/powerpoint/2012/main" timeZoneBias="-420">
          <p15:parentCm authorId="1" idx="6"/>
        </p15:threadingInfo>
      </p:ext>
    </p:extLst>
  </p:cm>
  <p:cm authorId="1" dt="2020-10-13T22:01:49.139" idx="7">
    <p:pos x="6083" y="845"/>
    <p:text>Is it relevant to specify or include a footnote that this is data from the HH questionnaire. It is kind of obvious for this particular data but when we are presenting consumption data we will need to specify</p:text>
    <p:extLst>
      <p:ext uri="{C676402C-5697-4E1C-873F-D02D1690AC5C}">
        <p15:threadingInfo xmlns:p15="http://schemas.microsoft.com/office/powerpoint/2012/main" timeZoneBias="-120"/>
      </p:ext>
    </p:extLst>
  </p:cm>
  <p:cm authorId="2" dt="2020-10-17T11:40:11.301" idx="8">
    <p:pos x="6083" y="941"/>
    <p:text>Done</p:text>
    <p:extLst>
      <p:ext uri="{C676402C-5697-4E1C-873F-D02D1690AC5C}">
        <p15:threadingInfo xmlns:p15="http://schemas.microsoft.com/office/powerpoint/2012/main" timeZoneBias="-420">
          <p15:parentCm authorId="1" idx="7"/>
        </p15:threadingInfo>
      </p:ext>
    </p:extLst>
  </p:cm>
  <p:cm authorId="1" dt="2020-10-13T22:25:10.618" idx="18">
    <p:pos x="2348" y="3371"/>
    <p:text>We probably need to mention that no wheat is domestically grown</p:text>
    <p:extLst>
      <p:ext uri="{C676402C-5697-4E1C-873F-D02D1690AC5C}">
        <p15:threadingInfo xmlns:p15="http://schemas.microsoft.com/office/powerpoint/2012/main" timeZoneBias="-120"/>
      </p:ext>
    </p:extLst>
  </p:cm>
  <p:cm authorId="2" dt="2020-10-17T11:37:12.468" idx="7">
    <p:pos x="2348" y="3467"/>
    <p:text>Done</p:text>
    <p:extLst>
      <p:ext uri="{C676402C-5697-4E1C-873F-D02D1690AC5C}">
        <p15:threadingInfo xmlns:p15="http://schemas.microsoft.com/office/powerpoint/2012/main" timeZoneBias="-420">
          <p15:parentCm authorId="1" idx="18"/>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10-13T22:07:05.462" idx="8">
    <p:pos x="6730" y="1605"/>
    <p:text>Same as previous slide can you add a title and axis heading and data points. I assume title here would be something like "percentage of households buying or consuming "other cereals"</p:text>
    <p:extLst>
      <p:ext uri="{C676402C-5697-4E1C-873F-D02D1690AC5C}">
        <p15:threadingInfo xmlns:p15="http://schemas.microsoft.com/office/powerpoint/2012/main" timeZoneBias="-120"/>
      </p:ext>
    </p:extLst>
  </p:cm>
  <p:cm authorId="2" dt="2020-10-17T12:24:49.658" idx="9">
    <p:pos x="6730" y="1701"/>
    <p:text>Done</p:text>
    <p:extLst>
      <p:ext uri="{C676402C-5697-4E1C-873F-D02D1690AC5C}">
        <p15:threadingInfo xmlns:p15="http://schemas.microsoft.com/office/powerpoint/2012/main" timeZoneBias="-420">
          <p15:parentCm authorId="1" idx="8"/>
        </p15:threadingInfo>
      </p:ext>
    </p:extLst>
  </p:cm>
  <p:cm authorId="1" dt="2020-10-13T22:08:28.349" idx="9">
    <p:pos x="3224" y="188"/>
    <p:text>I feel like we first need to explain that through the HH questionnaire HH reported on production and consumption and for production they reported what they did with it - sold it, ate it etc.</p:text>
    <p:extLst>
      <p:ext uri="{C676402C-5697-4E1C-873F-D02D1690AC5C}">
        <p15:threadingInfo xmlns:p15="http://schemas.microsoft.com/office/powerpoint/2012/main" timeZoneBias="-120"/>
      </p:ext>
    </p:extLst>
  </p:cm>
  <p:cm authorId="2" dt="2020-10-17T12:34:46.353" idx="11">
    <p:pos x="3224" y="284"/>
    <p:text>OK. I have placed this intro text in the previous slide, maybe it fits better there?</p:text>
    <p:extLst>
      <p:ext uri="{C676402C-5697-4E1C-873F-D02D1690AC5C}">
        <p15:threadingInfo xmlns:p15="http://schemas.microsoft.com/office/powerpoint/2012/main" timeZoneBias="-420">
          <p15:parentCm authorId="1" idx="9"/>
        </p15:threadingInfo>
      </p:ext>
    </p:extLst>
  </p:cm>
  <p:cm authorId="1" dt="2020-10-13T22:09:36.376" idx="10">
    <p:pos x="3740" y="233"/>
    <p:text>We need a definition of "other cereals" - is it just all cereals that are not "wheat flour/bread" or "rice"</p:text>
    <p:extLst>
      <p:ext uri="{C676402C-5697-4E1C-873F-D02D1690AC5C}">
        <p15:threadingInfo xmlns:p15="http://schemas.microsoft.com/office/powerpoint/2012/main" timeZoneBias="-120"/>
      </p:ext>
    </p:extLst>
  </p:cm>
  <p:cm authorId="2" dt="2020-10-17T12:48:17.015" idx="12">
    <p:pos x="3740" y="329"/>
    <p:text>Done</p:text>
    <p:extLst>
      <p:ext uri="{C676402C-5697-4E1C-873F-D02D1690AC5C}">
        <p15:threadingInfo xmlns:p15="http://schemas.microsoft.com/office/powerpoint/2012/main" timeZoneBias="-420">
          <p15:parentCm authorId="1" idx="10"/>
        </p15:threadingInfo>
      </p:ext>
    </p:extLst>
  </p:cm>
  <p:cm authorId="1" dt="2020-10-13T22:11:10.007" idx="11">
    <p:pos x="4354" y="186"/>
    <p:text>82% are the HH consuming "other cereals" or the HH consuming "wheat flour/bread and rice". I assume the former so probably clearly to just say 82% of HH reported consuming other cereals. And for comparison sake, add x%  of HH reported concussing wheat flour/bread</p:text>
    <p:extLst>
      <p:ext uri="{C676402C-5697-4E1C-873F-D02D1690AC5C}">
        <p15:threadingInfo xmlns:p15="http://schemas.microsoft.com/office/powerpoint/2012/main" timeZoneBias="-120"/>
      </p:ext>
    </p:extLst>
  </p:cm>
  <p:cm authorId="2" dt="2020-10-17T12:54:01.899" idx="13">
    <p:pos x="4354" y="282"/>
    <p:text>Adjusted text for better clarity</p:text>
    <p:extLst>
      <p:ext uri="{C676402C-5697-4E1C-873F-D02D1690AC5C}">
        <p15:threadingInfo xmlns:p15="http://schemas.microsoft.com/office/powerpoint/2012/main" timeZoneBias="-420">
          <p15:parentCm authorId="1" idx="11"/>
        </p15:threadingInfo>
      </p:ext>
    </p:extLst>
  </p:cm>
  <p:cm authorId="1" dt="2020-10-13T22:13:42.036" idx="12">
    <p:pos x="4973" y="148"/>
    <p:text>Ie this is the data shown the the figure? Figure 2?</p:text>
    <p:extLst>
      <p:ext uri="{C676402C-5697-4E1C-873F-D02D1690AC5C}">
        <p15:threadingInfo xmlns:p15="http://schemas.microsoft.com/office/powerpoint/2012/main" timeZoneBias="-120"/>
      </p:ext>
    </p:extLst>
  </p:cm>
  <p:cm authorId="2" dt="2020-10-17T12:56:00.924" idx="14">
    <p:pos x="4973" y="244"/>
    <p:text>Figure 2 (green bars) is logically connected to Figure 1. Income data is not depcited in Figrue 2.</p:text>
    <p:extLst>
      <p:ext uri="{C676402C-5697-4E1C-873F-D02D1690AC5C}">
        <p15:threadingInfo xmlns:p15="http://schemas.microsoft.com/office/powerpoint/2012/main" timeZoneBias="-420">
          <p15:parentCm authorId="1" idx="12"/>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0-10-13T22:15:19.672" idx="13">
    <p:pos x="2934" y="1166"/>
    <p:text>Perhaps add a bullet or footnote that as the NHIES was done in 2015/2016, it was compared with MAWF data for that year. Or since HHs were reporting on production in the last year did you compare it with MAWF data for 2014/2015?</p:text>
    <p:extLst>
      <p:ext uri="{C676402C-5697-4E1C-873F-D02D1690AC5C}">
        <p15:threadingInfo xmlns:p15="http://schemas.microsoft.com/office/powerpoint/2012/main" timeZoneBias="-120"/>
      </p:ext>
    </p:extLst>
  </p:cm>
  <p:cm authorId="2" dt="2020-10-17T13:33:14.607" idx="15">
    <p:pos x="2934" y="1262"/>
    <p:text>Done.</p:text>
    <p:extLst>
      <p:ext uri="{C676402C-5697-4E1C-873F-D02D1690AC5C}">
        <p15:threadingInfo xmlns:p15="http://schemas.microsoft.com/office/powerpoint/2012/main" timeZoneBias="-420">
          <p15:parentCm authorId="1" idx="13"/>
        </p15:threadingInfo>
      </p:ext>
    </p:extLst>
  </p:cm>
  <p:cm authorId="2" dt="2020-10-17T13:35:04.894" idx="17">
    <p:pos x="2934" y="1358"/>
    <p:text>Since the survey really started in late April/early May 2015, just as 2014/15 harvest was beginning, I compared NHIES data with 2014/15 MAWF data.</p:text>
    <p:extLst>
      <p:ext uri="{C676402C-5697-4E1C-873F-D02D1690AC5C}">
        <p15:threadingInfo xmlns:p15="http://schemas.microsoft.com/office/powerpoint/2012/main" timeZoneBias="-420">
          <p15:parentCm authorId="1" idx="13"/>
        </p15:threadingInfo>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0-10-13T22:18:28.616" idx="14">
    <p:pos x="6230" y="509"/>
    <p:text>Suggest referring to data from the HH questionnaire rather than the HH file which will be less understandable for some</p:text>
    <p:extLst>
      <p:ext uri="{C676402C-5697-4E1C-873F-D02D1690AC5C}">
        <p15:threadingInfo xmlns:p15="http://schemas.microsoft.com/office/powerpoint/2012/main" timeZoneBias="-120"/>
      </p:ext>
    </p:extLst>
  </p:cm>
  <p:cm authorId="2" dt="2020-10-17T14:16:16.146" idx="18">
    <p:pos x="6230" y="605"/>
    <p:text>Done. Rearranged slide 8 and 9 content a bit to improve logical flow</p:text>
    <p:extLst>
      <p:ext uri="{C676402C-5697-4E1C-873F-D02D1690AC5C}">
        <p15:threadingInfo xmlns:p15="http://schemas.microsoft.com/office/powerpoint/2012/main" timeZoneBias="-420">
          <p15:parentCm authorId="1" idx="14"/>
        </p15:threadingInfo>
      </p:ext>
    </p:extLst>
  </p:cm>
  <p:cm authorId="1" dt="2020-10-13T22:19:29.627" idx="15">
    <p:pos x="6658" y="528"/>
    <p:text>The bullet refers to "other cereals" where as the title of the figures refer to "Grains". Plus the  Oshikoto does not seem to be an illustration of the bullet point so I am a little confused</p:text>
    <p:extLst>
      <p:ext uri="{C676402C-5697-4E1C-873F-D02D1690AC5C}">
        <p15:threadingInfo xmlns:p15="http://schemas.microsoft.com/office/powerpoint/2012/main" timeZoneBias="-120"/>
      </p:ext>
    </p:extLst>
  </p:cm>
  <p:cm authorId="2" dt="2020-10-17T14:26:54.095" idx="20">
    <p:pos x="6658" y="624"/>
    <p:text>Fixed. Replaced Oshikoto chart with Omusati chart as the latter depcits the trend (slightly?) better. See next slide.</p:text>
    <p:extLst>
      <p:ext uri="{C676402C-5697-4E1C-873F-D02D1690AC5C}">
        <p15:threadingInfo xmlns:p15="http://schemas.microsoft.com/office/powerpoint/2012/main" timeZoneBias="-420">
          <p15:parentCm authorId="1" idx="15"/>
        </p15:threadingInfo>
      </p:ext>
    </p:extLst>
  </p:cm>
  <p:cm authorId="1" dt="2020-10-13T22:21:04.058" idx="16">
    <p:pos x="351" y="4055"/>
    <p:text>In a previous slide you will have defined "other cereals" so here I think worthwhile to mention that mahangu and maize, which make up the majority of "other cereals" are both harvested in the same months - May-August</p:text>
    <p:extLst>
      <p:ext uri="{C676402C-5697-4E1C-873F-D02D1690AC5C}">
        <p15:threadingInfo xmlns:p15="http://schemas.microsoft.com/office/powerpoint/2012/main" timeZoneBias="-120"/>
      </p:ext>
    </p:extLst>
  </p:cm>
  <p:cm authorId="2" dt="2020-10-17T14:26:04.949" idx="19">
    <p:pos x="351" y="4151"/>
    <p:text>Done</p:text>
    <p:extLst>
      <p:ext uri="{C676402C-5697-4E1C-873F-D02D1690AC5C}">
        <p15:threadingInfo xmlns:p15="http://schemas.microsoft.com/office/powerpoint/2012/main" timeZoneBias="-420">
          <p15:parentCm authorId="1" idx="16"/>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0-10-13T22:23:41.160" idx="17">
    <p:pos x="3840" y="594"/>
    <p:text>Feel we need to explain of the three staples - all wheat is imported and consumed as purchased bread, other flour products or flour, majority of maize is imported and consumed as purchased maize meal/flour, majority of mahangu is domestically grown and consumed by the HHs that grow  it. Otherwise people will wonder why we don't have categories like maize-own production. </p:text>
    <p:extLst>
      <p:ext uri="{C676402C-5697-4E1C-873F-D02D1690AC5C}">
        <p15:threadingInfo xmlns:p15="http://schemas.microsoft.com/office/powerpoint/2012/main" timeZoneBias="-120"/>
      </p:ext>
    </p:extLst>
  </p:cm>
  <p:cm authorId="2" dt="2020-10-17T15:38:11.366" idx="25">
    <p:pos x="3840" y="690"/>
    <p:text>Placed in the previus slide to intro the work conducted as part of C.</p:text>
    <p:extLst>
      <p:ext uri="{C676402C-5697-4E1C-873F-D02D1690AC5C}">
        <p15:threadingInfo xmlns:p15="http://schemas.microsoft.com/office/powerpoint/2012/main" timeZoneBias="-420">
          <p15:parentCm authorId="1" idx="17"/>
        </p15:threadingInfo>
      </p:ext>
    </p:extLst>
  </p:cm>
  <p:cm authorId="1" dt="2020-10-13T22:29:32.376" idx="20">
    <p:pos x="6829" y="658"/>
    <p:text>As with previous slide refer to data from the 7-day  food diary</p:text>
    <p:extLst>
      <p:ext uri="{C676402C-5697-4E1C-873F-D02D1690AC5C}">
        <p15:threadingInfo xmlns:p15="http://schemas.microsoft.com/office/powerpoint/2012/main" timeZoneBias="-120"/>
      </p:ext>
    </p:extLst>
  </p:cm>
  <p:cm authorId="2" dt="2020-10-17T15:31:59.987" idx="21">
    <p:pos x="6829" y="754"/>
    <p:text>Done</p:text>
    <p:extLst>
      <p:ext uri="{C676402C-5697-4E1C-873F-D02D1690AC5C}">
        <p15:threadingInfo xmlns:p15="http://schemas.microsoft.com/office/powerpoint/2012/main" timeZoneBias="-420">
          <p15:parentCm authorId="1" idx="20"/>
        </p15:threadingInfo>
      </p:ext>
    </p:extLst>
  </p:cm>
  <p:cm authorId="1" dt="2020-10-13T22:30:24.418" idx="21">
    <p:pos x="4565" y="482"/>
    <p:text>Can you change the percent - assuming this is 60% rather than 0.6%</p:text>
    <p:extLst>
      <p:ext uri="{C676402C-5697-4E1C-873F-D02D1690AC5C}">
        <p15:threadingInfo xmlns:p15="http://schemas.microsoft.com/office/powerpoint/2012/main" timeZoneBias="-120"/>
      </p:ext>
    </p:extLst>
  </p:cm>
  <p:cm authorId="2" dt="2020-10-17T15:36:50.733" idx="22">
    <p:pos x="4565" y="578"/>
    <p:text>Done</p:text>
    <p:extLst>
      <p:ext uri="{C676402C-5697-4E1C-873F-D02D1690AC5C}">
        <p15:threadingInfo xmlns:p15="http://schemas.microsoft.com/office/powerpoint/2012/main" timeZoneBias="-420">
          <p15:parentCm authorId="1" idx="21"/>
        </p15:threadingInfo>
      </p:ext>
    </p:extLst>
  </p:cm>
  <p:cm authorId="1" dt="2020-10-13T22:30:52.824" idx="22">
    <p:pos x="6349" y="655"/>
    <p:text>Similar pattern to what?</p:text>
    <p:extLst>
      <p:ext uri="{C676402C-5697-4E1C-873F-D02D1690AC5C}">
        <p15:threadingInfo xmlns:p15="http://schemas.microsoft.com/office/powerpoint/2012/main" timeZoneBias="-120"/>
      </p:ext>
    </p:extLst>
  </p:cm>
  <p:cm authorId="2" dt="2020-10-17T15:36:55.934" idx="23">
    <p:pos x="6349" y="751"/>
    <p:text>Updated for clarity</p:text>
    <p:extLst>
      <p:ext uri="{C676402C-5697-4E1C-873F-D02D1690AC5C}">
        <p15:threadingInfo xmlns:p15="http://schemas.microsoft.com/office/powerpoint/2012/main" timeZoneBias="-420">
          <p15:parentCm authorId="1" idx="22"/>
        </p15:threadingInfo>
      </p:ext>
    </p:extLst>
  </p:cm>
  <p:cm authorId="1" dt="2020-10-13T22:32:01.043" idx="23">
    <p:pos x="5558" y="647"/>
    <p:text>I think the point we are focusing on is "mahangu consumption from own production is greatest in mahangu-growing areas and in the months during and following harvest. However, even in high mahangu growing areas, the proportion of HHs consuming purchased maize and bread is moderate throughout the year</p:text>
    <p:extLst>
      <p:ext uri="{C676402C-5697-4E1C-873F-D02D1690AC5C}">
        <p15:threadingInfo xmlns:p15="http://schemas.microsoft.com/office/powerpoint/2012/main" timeZoneBias="-120"/>
      </p:ext>
    </p:extLst>
  </p:cm>
  <p:cm authorId="2" dt="2020-10-17T20:10:04.783" idx="31">
    <p:pos x="5558" y="743"/>
    <p:text>Tried to address this in slides 8 &amp; 10</p:text>
    <p:extLst>
      <p:ext uri="{C676402C-5697-4E1C-873F-D02D1690AC5C}">
        <p15:threadingInfo xmlns:p15="http://schemas.microsoft.com/office/powerpoint/2012/main" timeZoneBias="-420">
          <p15:parentCm authorId="1" idx="23"/>
        </p15:threadingInfo>
      </p:ext>
    </p:extLst>
  </p:cm>
  <p:cm authorId="1" dt="2020-10-13T22:47:20.479" idx="30">
    <p:pos x="4991" y="479"/>
    <p:text>For these charts which are based on % of HHs you were also going to include a little stacked bar chart with quantities of these foods consumed - if I am remembering our discussion correctly?</p:text>
    <p:extLst>
      <p:ext uri="{C676402C-5697-4E1C-873F-D02D1690AC5C}">
        <p15:threadingInfo xmlns:p15="http://schemas.microsoft.com/office/powerpoint/2012/main" timeZoneBias="-120"/>
      </p:ext>
    </p:extLst>
  </p:cm>
  <p:cm authorId="2" dt="2020-10-17T15:37:31.860" idx="24">
    <p:pos x="4991" y="575"/>
    <p:text>Am working on a way to do this cleanly, will take a little bit longer</p:text>
    <p:extLst>
      <p:ext uri="{C676402C-5697-4E1C-873F-D02D1690AC5C}">
        <p15:threadingInfo xmlns:p15="http://schemas.microsoft.com/office/powerpoint/2012/main" timeZoneBias="-420">
          <p15:parentCm authorId="1" idx="30"/>
        </p15:threadingInfo>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0-10-13T22:36:47.287" idx="24">
    <p:pos x="5122" y="916"/>
    <p:text>I like these slides - details are beyond me but it is good that we have this record. But we have to assume many people will not read these slides eg definition of "other cereals" is here but we have to also have it on the earlier slides</p:text>
    <p:extLst>
      <p:ext uri="{C676402C-5697-4E1C-873F-D02D1690AC5C}">
        <p15:threadingInfo xmlns:p15="http://schemas.microsoft.com/office/powerpoint/2012/main" timeZoneBias="-120"/>
      </p:ext>
    </p:extLst>
  </p:cm>
  <p:cm authorId="2" dt="2020-10-17T17:18:52.195" idx="26">
    <p:pos x="5122" y="1012"/>
    <p:text>Done</p:text>
    <p:extLst>
      <p:ext uri="{C676402C-5697-4E1C-873F-D02D1690AC5C}">
        <p15:threadingInfo xmlns:p15="http://schemas.microsoft.com/office/powerpoint/2012/main" timeZoneBias="-420">
          <p15:parentCm authorId="1" idx="24"/>
        </p15:threadingInfo>
      </p:ext>
    </p:extLst>
  </p:cm>
  <p:cm authorId="1" dt="2020-10-13T22:38:28.579" idx="25">
    <p:pos x="2224" y="1512"/>
    <p:text>Is materials correct or software?</p:text>
    <p:extLst>
      <p:ext uri="{C676402C-5697-4E1C-873F-D02D1690AC5C}">
        <p15:threadingInfo xmlns:p15="http://schemas.microsoft.com/office/powerpoint/2012/main" timeZoneBias="-120"/>
      </p:ext>
    </p:extLst>
  </p:cm>
  <p:cm authorId="2" dt="2020-10-17T12:26:57.212" idx="10">
    <p:pos x="2224" y="1608"/>
    <p:text>Corrected</p:text>
    <p:extLst>
      <p:ext uri="{C676402C-5697-4E1C-873F-D02D1690AC5C}">
        <p15:threadingInfo xmlns:p15="http://schemas.microsoft.com/office/powerpoint/2012/main" timeZoneBias="-420">
          <p15:parentCm authorId="1" idx="25"/>
        </p15:threadingInfo>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0-10-13T22:40:15.858" idx="26">
    <p:pos x="6472" y="3673"/>
    <p:text>What do you mean "also relies on... doesn't NHIES ONLY rely on HH reports?</p:text>
    <p:extLst>
      <p:ext uri="{C676402C-5697-4E1C-873F-D02D1690AC5C}">
        <p15:threadingInfo xmlns:p15="http://schemas.microsoft.com/office/powerpoint/2012/main" timeZoneBias="-120"/>
      </p:ext>
    </p:extLst>
  </p:cm>
  <p:cm authorId="2" dt="2020-10-17T19:58:27.338" idx="27">
    <p:pos x="6472" y="3769"/>
    <p:text>Reworded for clarification</p:text>
    <p:extLst>
      <p:ext uri="{C676402C-5697-4E1C-873F-D02D1690AC5C}">
        <p15:threadingInfo xmlns:p15="http://schemas.microsoft.com/office/powerpoint/2012/main" timeZoneBias="-420">
          <p15:parentCm authorId="1" idx="26"/>
        </p15:threadingInfo>
      </p:ext>
    </p:extLst>
  </p:cm>
  <p:cm authorId="1" dt="2020-10-13T22:40:59.304" idx="27">
    <p:pos x="3378" y="3711"/>
    <p:text>What are "crop cuttings". Does MAWF not get reports from HHs/farmers?</p:text>
    <p:extLst>
      <p:ext uri="{C676402C-5697-4E1C-873F-D02D1690AC5C}">
        <p15:threadingInfo xmlns:p15="http://schemas.microsoft.com/office/powerpoint/2012/main" timeZoneBias="-120"/>
      </p:ext>
    </p:extLst>
  </p:cm>
  <p:cm authorId="2" dt="2020-10-17T19:58:35.236" idx="28">
    <p:pos x="3378" y="3807"/>
    <p:text>Removed for clarity. Normally agricultural minisitries have farily well-documented/supported procedures for arriving at crop production  and yield estimates/forecasts (often supported by international statisticians). This often involves a quasi sample survey which includes cutting down e.g. a 1x1 or 3x3 meter square of a crop to weigh/measure the grain -&gt; this is then extrapolated to the area.</p:text>
    <p:extLst>
      <p:ext uri="{C676402C-5697-4E1C-873F-D02D1690AC5C}">
        <p15:threadingInfo xmlns:p15="http://schemas.microsoft.com/office/powerpoint/2012/main" timeZoneBias="-420">
          <p15:parentCm authorId="1" idx="27"/>
        </p15:threadingInfo>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0-10-13T22:42:13.090" idx="28">
    <p:pos x="3417" y="1679"/>
    <p:text>You mean because data collection only started in April 2015, if a data point had a collection data before April 2015 it must be a mistake?</p:text>
    <p:extLst>
      <p:ext uri="{C676402C-5697-4E1C-873F-D02D1690AC5C}">
        <p15:threadingInfo xmlns:p15="http://schemas.microsoft.com/office/powerpoint/2012/main" timeZoneBias="-120"/>
      </p:ext>
    </p:extLst>
  </p:cm>
  <p:cm authorId="2" dt="2020-10-17T20:02:41.717" idx="29">
    <p:pos x="3417" y="1775"/>
    <p:text>Yes that was my assumption. There were I think 4-5 entries that were removed out of ~10,000</p:text>
    <p:extLst>
      <p:ext uri="{C676402C-5697-4E1C-873F-D02D1690AC5C}">
        <p15:threadingInfo xmlns:p15="http://schemas.microsoft.com/office/powerpoint/2012/main" timeZoneBias="-420">
          <p15:parentCm authorId="1" idx="28"/>
        </p15:threadingInfo>
      </p:ext>
    </p:extLst>
  </p:cm>
  <p:cm authorId="1" dt="2020-10-13T22:43:11.960" idx="29">
    <p:pos x="6235" y="2462"/>
    <p:text>Is there a need to spell out HHID - household identification number?</p:text>
    <p:extLst>
      <p:ext uri="{C676402C-5697-4E1C-873F-D02D1690AC5C}">
        <p15:threadingInfo xmlns:p15="http://schemas.microsoft.com/office/powerpoint/2012/main" timeZoneBias="-120"/>
      </p:ext>
    </p:extLst>
  </p:cm>
  <p:cm authorId="2" dt="2020-10-17T20:05:25.209" idx="30">
    <p:pos x="6235" y="2558"/>
    <p:text>done</p:text>
    <p:extLst>
      <p:ext uri="{C676402C-5697-4E1C-873F-D02D1690AC5C}">
        <p15:threadingInfo xmlns:p15="http://schemas.microsoft.com/office/powerpoint/2012/main" timeZoneBias="-420">
          <p15:parentCm authorId="1" idx="29"/>
        </p15:threadingInfo>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17-Oct-20</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17-Oct-20</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17-Oct-20</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17-Oct-20</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17-Oct-20</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17-Oct-20</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17-Oct-20</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17-Oct-20</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17-Oct-20</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17-Oct-20</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17-Oct-20</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17-Oct-20</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comments" Target="../comments/comment3.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comments" Target="../comments/comment5.xm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aaronbwise/NHIES-Analysi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3240088"/>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5048250"/>
            <a:ext cx="9144000" cy="369332"/>
          </a:xfrm>
          <a:prstGeom prst="rect">
            <a:avLst/>
          </a:prstGeom>
          <a:noFill/>
        </p:spPr>
        <p:txBody>
          <a:bodyPr wrap="square" rtlCol="0">
            <a:spAutoFit/>
          </a:bodyPr>
          <a:lstStyle/>
          <a:p>
            <a:pPr algn="ctr"/>
            <a:r>
              <a:rPr lang="en-US" dirty="0">
                <a:highlight>
                  <a:srgbClr val="FFFF00"/>
                </a:highlight>
                <a:latin typeface="+mj-lt"/>
              </a:rPr>
              <a:t>Date</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Background</a:t>
            </a:r>
          </a:p>
          <a:p>
            <a:pPr marL="571500" indent="-571500">
              <a:spcBef>
                <a:spcPts val="600"/>
              </a:spcBef>
              <a:spcAft>
                <a:spcPts val="1200"/>
              </a:spcAft>
              <a:buFont typeface="+mj-lt"/>
              <a:buAutoNum type="romanUcPeriod"/>
            </a:pPr>
            <a:r>
              <a:rPr lang="en-US" sz="2400" dirty="0">
                <a:latin typeface="+mj-lt"/>
              </a:rPr>
              <a:t>Methodology</a:t>
            </a:r>
          </a:p>
          <a:p>
            <a:pPr marL="571500" indent="-571500">
              <a:spcBef>
                <a:spcPts val="600"/>
              </a:spcBef>
              <a:spcAft>
                <a:spcPts val="1200"/>
              </a:spcAft>
              <a:buFont typeface="+mj-lt"/>
              <a:buAutoNum type="romanUcPeriod"/>
            </a:pPr>
            <a:r>
              <a:rPr lang="en-US" sz="2400" dirty="0">
                <a:latin typeface="+mj-lt"/>
              </a:rPr>
              <a:t>Key Findings</a:t>
            </a:r>
          </a:p>
          <a:p>
            <a:pPr marL="571500" indent="-571500">
              <a:spcBef>
                <a:spcPts val="600"/>
              </a:spcBef>
              <a:spcAft>
                <a:spcPts val="1200"/>
              </a:spcAft>
              <a:buFont typeface="+mj-lt"/>
              <a:buAutoNum type="romanUcPeriod"/>
            </a:pPr>
            <a:r>
              <a:rPr lang="en-US" sz="2400" dirty="0">
                <a:latin typeface="+mj-lt"/>
              </a:rPr>
              <a:t>Appendix: Summary of Methods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283464" indent="-283464">
              <a:lnSpc>
                <a:spcPct val="100000"/>
              </a:lnSpc>
              <a:spcBef>
                <a:spcPts val="1800"/>
              </a:spcBef>
            </a:pPr>
            <a:r>
              <a:rPr lang="en-US" sz="2400" dirty="0">
                <a:latin typeface="+mj-lt"/>
              </a:rPr>
              <a:t>The Food and Nutrition Security Policy and Implementation Action Plan (2019-2024) includes strategies to implement and strengthen mandatory fortification of staple foods and condiments.</a:t>
            </a:r>
          </a:p>
          <a:p>
            <a:pPr marL="283464" indent="-283464">
              <a:lnSpc>
                <a:spcPct val="100000"/>
              </a:lnSpc>
              <a:spcBef>
                <a:spcPts val="1800"/>
              </a:spcBef>
            </a:pPr>
            <a:r>
              <a:rPr lang="en-US" sz="2400" dirty="0">
                <a:latin typeface="+mj-lt"/>
              </a:rPr>
              <a:t>Data and analyses on food production and consumption within households are required to appropriately inform the design and implementation of food and nutrition security policies.</a:t>
            </a:r>
          </a:p>
          <a:p>
            <a:pPr marL="283464" indent="-283464">
              <a:lnSpc>
                <a:spcPct val="100000"/>
              </a:lnSpc>
              <a:spcBef>
                <a:spcPts val="1800"/>
              </a:spcBef>
            </a:pPr>
            <a:r>
              <a:rPr lang="en-US" sz="2400" dirty="0">
                <a:latin typeface="+mj-lt"/>
              </a:rPr>
              <a:t>From April 2015 to March 2016, the Namibia Statistics Agency undertook the Household Income and Expenditure Survey (NHIES).</a:t>
            </a:r>
          </a:p>
          <a:p>
            <a:pPr marL="566928" lvl="1" indent="-283464">
              <a:lnSpc>
                <a:spcPct val="100000"/>
              </a:lnSpc>
              <a:spcBef>
                <a:spcPts val="1200"/>
              </a:spcBef>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283464" indent="-283464">
              <a:lnSpc>
                <a:spcPct val="100000"/>
              </a:lnSpc>
              <a:spcBef>
                <a:spcPts val="1800"/>
              </a:spcBef>
            </a:pPr>
            <a:r>
              <a:rPr lang="en-US" sz="2400" dirty="0">
                <a:latin typeface="+mj-lt"/>
              </a:rPr>
              <a:t>To better understand the household food production and consumption patterns within Namibia, a series of analyses were performed:</a:t>
            </a:r>
          </a:p>
          <a:p>
            <a:pPr marL="566928" indent="-283464">
              <a:lnSpc>
                <a:spcPct val="100000"/>
              </a:lnSpc>
              <a:spcBef>
                <a:spcPts val="1200"/>
              </a:spcBef>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566928" indent="-283464">
              <a:lnSpc>
                <a:spcPct val="100000"/>
              </a:lnSpc>
              <a:spcBef>
                <a:spcPts val="1200"/>
              </a:spcBef>
              <a:buFont typeface="+mj-lt"/>
              <a:buAutoNum type="alphaUcPeriod"/>
            </a:pPr>
            <a:r>
              <a:rPr lang="en-US" sz="2400" dirty="0">
                <a:latin typeface="+mj-lt"/>
              </a:rPr>
              <a:t>Comparison of regional cereal production data from MAWF and NHIES-derived estimates;</a:t>
            </a:r>
          </a:p>
          <a:p>
            <a:pPr marL="566928" indent="-283464">
              <a:lnSpc>
                <a:spcPct val="100000"/>
              </a:lnSpc>
              <a:spcBef>
                <a:spcPts val="1200"/>
              </a:spcBef>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369332"/>
          </a:xfrm>
          <a:prstGeom prst="rect">
            <a:avLst/>
          </a:prstGeom>
          <a:noFill/>
        </p:spPr>
        <p:txBody>
          <a:bodyPr wrap="square" rtlCol="0">
            <a:spAutoFit/>
          </a:bodyPr>
          <a:lstStyle/>
          <a:p>
            <a:r>
              <a:rPr lang="en-US" sz="900" baseline="30000" dirty="0">
                <a:latin typeface="+mj-lt"/>
              </a:rPr>
              <a:t>1</a:t>
            </a:r>
            <a:r>
              <a:rPr lang="en-US" sz="900" dirty="0">
                <a:latin typeface="+mj-lt"/>
              </a:rPr>
              <a:t> Wheat, other cereals, rice, oil, and spices.</a:t>
            </a:r>
          </a:p>
          <a:p>
            <a:r>
              <a:rPr lang="en-US" sz="900" baseline="30000" dirty="0">
                <a:latin typeface="+mj-lt"/>
              </a:rPr>
              <a:t>2</a:t>
            </a:r>
            <a:r>
              <a:rPr lang="en-US" sz="900" dirty="0">
                <a:latin typeface="+mj-lt"/>
              </a:rPr>
              <a:t> Maize, </a:t>
            </a:r>
            <a:r>
              <a:rPr lang="en-US" sz="900" dirty="0" err="1">
                <a:latin typeface="+mj-lt"/>
              </a:rPr>
              <a:t>mahangu</a:t>
            </a:r>
            <a:r>
              <a:rPr lang="en-US" sz="900" dirty="0">
                <a:latin typeface="+mj-lt"/>
              </a:rPr>
              <a:t> (millet), sorghum, wheat, and other grains</a:t>
            </a:r>
            <a:endParaRPr lang="en-US" sz="9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r>
              <a:rPr lang="en-US" sz="2400" baseline="30000" dirty="0">
                <a:latin typeface="+mj-lt"/>
              </a:rPr>
              <a:t>3</a:t>
            </a:r>
            <a:endParaRPr lang="en-US" sz="2400" baseline="30000"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1949450"/>
            <a:ext cx="3743326" cy="3847207"/>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dirty="0">
                <a:latin typeface="+mj-lt"/>
              </a:rPr>
              <a:t>In the NHIES 2015/16, households were asked to report:</a:t>
            </a:r>
          </a:p>
          <a:p>
            <a:pPr marL="566928" lvl="1" indent="-285750">
              <a:buFont typeface="Calibri Light" panose="020F0302020204030204" pitchFamily="34" charset="0"/>
              <a:buChar char="-"/>
            </a:pPr>
            <a:r>
              <a:rPr lang="en-US" dirty="0">
                <a:latin typeface="+mj-lt"/>
              </a:rPr>
              <a:t>Foods consumed over the previous 7 days (and their source)</a:t>
            </a:r>
          </a:p>
          <a:p>
            <a:pPr marL="566928" lvl="1" indent="-285750">
              <a:buFont typeface="Calibri Light" panose="020F0302020204030204" pitchFamily="34" charset="0"/>
              <a:buChar char="-"/>
            </a:pPr>
            <a:r>
              <a:rPr lang="en-US" dirty="0">
                <a:latin typeface="+mj-lt"/>
              </a:rPr>
              <a:t>Detailed crop production information (if grown and quantities consumed, given away and sold)</a:t>
            </a:r>
          </a:p>
          <a:p>
            <a:pPr marL="285750" indent="-285750">
              <a:spcBef>
                <a:spcPts val="1200"/>
              </a:spcBef>
              <a:buFont typeface="Arial" panose="020B0604020202020204" pitchFamily="34" charset="0"/>
              <a:buChar char="•"/>
            </a:pPr>
            <a:r>
              <a:rPr lang="en-US" b="1" dirty="0" err="1">
                <a:latin typeface="+mj-lt"/>
              </a:rPr>
              <a:t>Mahangu</a:t>
            </a:r>
            <a:r>
              <a:rPr lang="en-US" dirty="0">
                <a:latin typeface="+mj-lt"/>
              </a:rPr>
              <a:t> (millet), </a:t>
            </a:r>
            <a:r>
              <a:rPr lang="en-US" b="1" dirty="0">
                <a:latin typeface="+mj-lt"/>
              </a:rPr>
              <a:t>sorghum</a:t>
            </a:r>
            <a:r>
              <a:rPr lang="en-US" dirty="0">
                <a:latin typeface="+mj-lt"/>
              </a:rPr>
              <a:t>, and </a:t>
            </a:r>
            <a:r>
              <a:rPr lang="en-US" b="1" dirty="0">
                <a:latin typeface="+mj-lt"/>
              </a:rPr>
              <a:t>maize</a:t>
            </a:r>
            <a:r>
              <a:rPr lang="en-US" dirty="0">
                <a:latin typeface="+mj-lt"/>
              </a:rPr>
              <a:t> were grown by 45, 14, and 12 percent of NHIES rural households, respectively.</a:t>
            </a:r>
            <a:r>
              <a:rPr lang="en-US" sz="2400" baseline="30000" dirty="0">
                <a:latin typeface="+mj-lt"/>
              </a:rPr>
              <a:t>4</a:t>
            </a:r>
          </a:p>
        </p:txBody>
      </p:sp>
      <p:sp>
        <p:nvSpPr>
          <p:cNvPr id="5" name="TextBox 4">
            <a:extLst>
              <a:ext uri="{FF2B5EF4-FFF2-40B4-BE49-F238E27FC236}">
                <a16:creationId xmlns:a16="http://schemas.microsoft.com/office/drawing/2014/main" id="{C4AE3F82-2D6D-4F65-B0B0-AC23B34729A4}"/>
              </a:ext>
            </a:extLst>
          </p:cNvPr>
          <p:cNvSpPr txBox="1"/>
          <p:nvPr/>
        </p:nvSpPr>
        <p:spPr>
          <a:xfrm>
            <a:off x="838200" y="6439885"/>
            <a:ext cx="10515600" cy="369332"/>
          </a:xfrm>
          <a:prstGeom prst="rect">
            <a:avLst/>
          </a:prstGeom>
          <a:noFill/>
        </p:spPr>
        <p:txBody>
          <a:bodyPr wrap="square" rtlCol="0">
            <a:spAutoFit/>
          </a:bodyPr>
          <a:lstStyle/>
          <a:p>
            <a:r>
              <a:rPr lang="en-US" sz="900" baseline="30000" dirty="0">
                <a:latin typeface="+mj-lt"/>
              </a:rPr>
              <a:t>3</a:t>
            </a:r>
            <a:r>
              <a:rPr lang="en-US" sz="900" dirty="0">
                <a:latin typeface="+mj-lt"/>
              </a:rPr>
              <a:t> Data in Figure 1 based on analysis of information collected in the NHIES 2015/16 NHIES household questionnaire.</a:t>
            </a:r>
          </a:p>
          <a:p>
            <a:r>
              <a:rPr lang="en-US" sz="900" baseline="30000" dirty="0">
                <a:latin typeface="+mj-lt"/>
              </a:rPr>
              <a:t>4 </a:t>
            </a:r>
            <a:r>
              <a:rPr lang="en-US" sz="900" dirty="0">
                <a:latin typeface="+mj-lt"/>
              </a:rPr>
              <a:t>A negligible proportion of households reported growing wheat (0.05%)</a:t>
            </a:r>
          </a:p>
        </p:txBody>
      </p:sp>
      <p:pic>
        <p:nvPicPr>
          <p:cNvPr id="13" name="Picture 12" descr="Chart, bar chart&#10;&#10;Description automatically generated">
            <a:extLst>
              <a:ext uri="{FF2B5EF4-FFF2-40B4-BE49-F238E27FC236}">
                <a16:creationId xmlns:a16="http://schemas.microsoft.com/office/drawing/2014/main" id="{6BFEE0B4-2700-4FD9-9D67-33BA4EB84A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0065" y="2200275"/>
            <a:ext cx="6902335" cy="3652058"/>
          </a:xfrm>
          <a:prstGeom prst="rect">
            <a:avLst/>
          </a:prstGeom>
        </p:spPr>
      </p:pic>
      <p:sp>
        <p:nvSpPr>
          <p:cNvPr id="14" name="Oval 13">
            <a:extLst>
              <a:ext uri="{FF2B5EF4-FFF2-40B4-BE49-F238E27FC236}">
                <a16:creationId xmlns:a16="http://schemas.microsoft.com/office/drawing/2014/main" id="{11D5E91B-B996-4795-97D5-675A6AB566AB}"/>
              </a:ext>
            </a:extLst>
          </p:cNvPr>
          <p:cNvSpPr/>
          <p:nvPr/>
        </p:nvSpPr>
        <p:spPr>
          <a:xfrm>
            <a:off x="5438775" y="5257800"/>
            <a:ext cx="5029200" cy="5945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2CC48FA-B60A-4EA4-9485-1FA0943C1031}"/>
              </a:ext>
            </a:extLst>
          </p:cNvPr>
          <p:cNvSpPr txBox="1"/>
          <p:nvPr/>
        </p:nvSpPr>
        <p:spPr>
          <a:xfrm>
            <a:off x="8401050" y="5892710"/>
            <a:ext cx="2495550" cy="461665"/>
          </a:xfrm>
          <a:prstGeom prst="rect">
            <a:avLst/>
          </a:prstGeom>
          <a:noFill/>
        </p:spPr>
        <p:txBody>
          <a:bodyPr wrap="square" rtlCol="0">
            <a:spAutoFit/>
          </a:bodyPr>
          <a:lstStyle/>
          <a:p>
            <a:r>
              <a:rPr lang="en-US" sz="1200" dirty="0">
                <a:solidFill>
                  <a:srgbClr val="FF0000"/>
                </a:solidFill>
              </a:rPr>
              <a:t>This is region total (i.e. urban plus rural) --&gt; OK or need rural only?</a:t>
            </a:r>
          </a:p>
        </p:txBody>
      </p:sp>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endParaRPr lang="en-US" sz="2400"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199" y="2767013"/>
            <a:ext cx="3867151"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1600" dirty="0">
                <a:latin typeface="+mj-lt"/>
              </a:rPr>
              <a:t>The main source of these “other cereals” varied by location, income, and ethnic group:</a:t>
            </a:r>
          </a:p>
          <a:p>
            <a:pPr marL="566928" lvl="1" indent="-285750">
              <a:buFont typeface="Calibri Light" panose="020F0302020204030204" pitchFamily="34" charset="0"/>
              <a:buChar char="-"/>
            </a:pPr>
            <a:r>
              <a:rPr lang="en-US" sz="1600" dirty="0">
                <a:latin typeface="+mj-lt"/>
              </a:rPr>
              <a:t>Households in regions with low overall grain production more often purchased “other cereals”</a:t>
            </a:r>
          </a:p>
          <a:p>
            <a:pPr marL="566928" lvl="1" indent="-285750">
              <a:buFont typeface="Calibri Light" panose="020F0302020204030204" pitchFamily="34" charset="0"/>
              <a:buChar char="-"/>
            </a:pPr>
            <a:r>
              <a:rPr lang="en-US" sz="1600" dirty="0">
                <a:latin typeface="+mj-lt"/>
              </a:rPr>
              <a:t>87 percent of households in the highest income bracket reported buying these “other cereals” with cash compared to just 59 percent of households in the lowest income bracket.</a:t>
            </a:r>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14691"/>
            <a:ext cx="10515600" cy="369332"/>
          </a:xfrm>
          <a:prstGeom prst="rect">
            <a:avLst/>
          </a:prstGeom>
          <a:noFill/>
        </p:spPr>
        <p:txBody>
          <a:bodyPr wrap="square" rtlCol="0">
            <a:spAutoFit/>
          </a:bodyPr>
          <a:lstStyle/>
          <a:p>
            <a:r>
              <a:rPr lang="en-US" sz="900" baseline="30000" dirty="0">
                <a:latin typeface="+mj-lt"/>
              </a:rPr>
              <a:t>5 </a:t>
            </a:r>
            <a:r>
              <a:rPr lang="en-US" sz="900" dirty="0">
                <a:latin typeface="+mj-lt"/>
              </a:rPr>
              <a:t>“Other cereals” is defined in the household questionnaire, Module 2E, as “maize, sorghum, millet, barley…” NB: The “other cereals” category does </a:t>
            </a:r>
            <a:r>
              <a:rPr lang="en-US" sz="900" u="sng" dirty="0">
                <a:latin typeface="+mj-lt"/>
              </a:rPr>
              <a:t>not</a:t>
            </a:r>
            <a:r>
              <a:rPr lang="en-US" sz="900" dirty="0">
                <a:latin typeface="+mj-lt"/>
              </a:rPr>
              <a:t> include wheat flour/bread and rice – these are captured separately. </a:t>
            </a:r>
          </a:p>
          <a:p>
            <a:r>
              <a:rPr lang="en-US" sz="900" baseline="30000" dirty="0">
                <a:latin typeface="+mj-lt"/>
              </a:rPr>
              <a:t>6</a:t>
            </a:r>
            <a:r>
              <a:rPr lang="en-US" sz="900" dirty="0">
                <a:latin typeface="+mj-lt"/>
              </a:rPr>
              <a:t> See Appendix for limitations of this analysis.</a:t>
            </a:r>
            <a:endParaRPr lang="en-US" sz="900" dirty="0"/>
          </a:p>
        </p:txBody>
      </p:sp>
      <p:pic>
        <p:nvPicPr>
          <p:cNvPr id="8" name="Picture 7" descr="Chart, bar chart&#10;&#10;Description automatically generated">
            <a:extLst>
              <a:ext uri="{FF2B5EF4-FFF2-40B4-BE49-F238E27FC236}">
                <a16:creationId xmlns:a16="http://schemas.microsoft.com/office/drawing/2014/main" id="{9788E365-9743-457C-AB7C-06FC96922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350" y="2625300"/>
            <a:ext cx="6902335" cy="3646516"/>
          </a:xfrm>
          <a:prstGeom prst="rect">
            <a:avLst/>
          </a:prstGeom>
        </p:spPr>
      </p:pic>
      <p:sp>
        <p:nvSpPr>
          <p:cNvPr id="9" name="TextBox 8">
            <a:extLst>
              <a:ext uri="{FF2B5EF4-FFF2-40B4-BE49-F238E27FC236}">
                <a16:creationId xmlns:a16="http://schemas.microsoft.com/office/drawing/2014/main" id="{F56683BB-E45E-40D5-A1BB-8FA0F57214E5}"/>
              </a:ext>
            </a:extLst>
          </p:cNvPr>
          <p:cNvSpPr txBox="1"/>
          <p:nvPr/>
        </p:nvSpPr>
        <p:spPr>
          <a:xfrm>
            <a:off x="838201" y="1924050"/>
            <a:ext cx="10515600"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rPr>
              <a:t>A large majority of households in the NHIES 2015/16 reported consuming “other cereals”</a:t>
            </a:r>
            <a:r>
              <a:rPr lang="en-US" sz="1600" baseline="30000" dirty="0">
                <a:latin typeface="+mj-lt"/>
              </a:rPr>
              <a:t>5</a:t>
            </a:r>
            <a:r>
              <a:rPr lang="en-US" sz="1600" dirty="0">
                <a:latin typeface="+mj-lt"/>
              </a:rPr>
              <a:t> in the week prior to the survey (82 percent).</a:t>
            </a:r>
            <a:r>
              <a:rPr lang="en-US" sz="1600" baseline="30000" dirty="0">
                <a:latin typeface="+mj-lt"/>
              </a:rPr>
              <a:t>6 </a:t>
            </a:r>
            <a:r>
              <a:rPr lang="en-US" sz="1600" dirty="0">
                <a:latin typeface="+mj-lt"/>
              </a:rPr>
              <a:t>By comparison, the proportions which consumed wheat flour/bread and rice were 72 percent and 52 percent, respectively. </a:t>
            </a:r>
          </a:p>
          <a:p>
            <a:endParaRPr lang="en-US" dirty="0"/>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5581650" cy="901700"/>
          </a:xfrm>
        </p:spPr>
        <p:txBody>
          <a:bodyPr>
            <a:normAutofit/>
          </a:bodyPr>
          <a:lstStyle/>
          <a:p>
            <a:pPr marL="0" indent="0">
              <a:buNone/>
            </a:pPr>
            <a:r>
              <a:rPr lang="en-US" sz="2400" b="1" dirty="0">
                <a:latin typeface="+mj-lt"/>
              </a:rPr>
              <a:t>B. Comparison of regional cereal production data: MAWF and NHIES (est.)</a:t>
            </a:r>
            <a:r>
              <a:rPr lang="en-US" sz="2400" b="1" baseline="30000" dirty="0">
                <a:latin typeface="+mj-lt"/>
              </a:rPr>
              <a:t>7</a:t>
            </a:r>
            <a:endParaRPr lang="en-US" sz="2400" b="1" baseline="30000" dirty="0"/>
          </a:p>
        </p:txBody>
      </p:sp>
      <p:sp>
        <p:nvSpPr>
          <p:cNvPr id="7" name="TextBox 6">
            <a:extLst>
              <a:ext uri="{FF2B5EF4-FFF2-40B4-BE49-F238E27FC236}">
                <a16:creationId xmlns:a16="http://schemas.microsoft.com/office/drawing/2014/main" id="{93B7C7F0-7F40-4974-A63D-F2B11722D633}"/>
              </a:ext>
            </a:extLst>
          </p:cNvPr>
          <p:cNvSpPr txBox="1"/>
          <p:nvPr/>
        </p:nvSpPr>
        <p:spPr>
          <a:xfrm>
            <a:off x="838198" y="2219146"/>
            <a:ext cx="5581649"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a:t>
            </a:r>
          </a:p>
        </p:txBody>
      </p:sp>
      <p:sp>
        <p:nvSpPr>
          <p:cNvPr id="4" name="TextBox 3">
            <a:extLst>
              <a:ext uri="{FF2B5EF4-FFF2-40B4-BE49-F238E27FC236}">
                <a16:creationId xmlns:a16="http://schemas.microsoft.com/office/drawing/2014/main" id="{E6339473-AD0E-4036-9919-D98072C19482}"/>
              </a:ext>
            </a:extLst>
          </p:cNvPr>
          <p:cNvSpPr txBox="1"/>
          <p:nvPr/>
        </p:nvSpPr>
        <p:spPr>
          <a:xfrm>
            <a:off x="838199" y="6490891"/>
            <a:ext cx="10715625" cy="230832"/>
          </a:xfrm>
          <a:prstGeom prst="rect">
            <a:avLst/>
          </a:prstGeom>
          <a:noFill/>
        </p:spPr>
        <p:txBody>
          <a:bodyPr wrap="square" rtlCol="0">
            <a:spAutoFit/>
          </a:bodyPr>
          <a:lstStyle/>
          <a:p>
            <a:r>
              <a:rPr lang="en-US" sz="900" baseline="30000" dirty="0">
                <a:latin typeface="+mj-lt"/>
              </a:rPr>
              <a:t>7 </a:t>
            </a:r>
            <a:r>
              <a:rPr lang="en-US" sz="900" dirty="0">
                <a:latin typeface="+mj-lt"/>
              </a:rPr>
              <a:t>Because the NHIES began collecting data in late April/early May 2015 -- just before the main harvest period – the derived production estimates (see Appendix) were compared with 2014/15 MAWF crop production statistics.</a:t>
            </a:r>
          </a:p>
        </p:txBody>
      </p:sp>
      <p:pic>
        <p:nvPicPr>
          <p:cNvPr id="6" name="Picture 5" descr="Chart, bar chart&#10;&#10;Description automatically generated">
            <a:extLst>
              <a:ext uri="{FF2B5EF4-FFF2-40B4-BE49-F238E27FC236}">
                <a16:creationId xmlns:a16="http://schemas.microsoft.com/office/drawing/2014/main" id="{70E89C3B-CDD4-4F96-9643-7F5A6D4109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8431" y="673309"/>
            <a:ext cx="4705367" cy="2743200"/>
          </a:xfrm>
          <a:prstGeom prst="rect">
            <a:avLst/>
          </a:prstGeom>
        </p:spPr>
      </p:pic>
      <p:pic>
        <p:nvPicPr>
          <p:cNvPr id="13" name="Picture 12" descr="Chart, bar chart, waterfall chart&#10;&#10;Description automatically generated">
            <a:extLst>
              <a:ext uri="{FF2B5EF4-FFF2-40B4-BE49-F238E27FC236}">
                <a16:creationId xmlns:a16="http://schemas.microsoft.com/office/drawing/2014/main" id="{FBA6D262-7EB6-40E1-97B8-A79AC5CB24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311" y="3529911"/>
            <a:ext cx="4701260" cy="2743200"/>
          </a:xfrm>
          <a:prstGeom prst="rect">
            <a:avLst/>
          </a:prstGeom>
        </p:spPr>
      </p:pic>
      <p:pic>
        <p:nvPicPr>
          <p:cNvPr id="15" name="Picture 14" descr="Chart, bar chart&#10;&#10;Description automatically generated">
            <a:extLst>
              <a:ext uri="{FF2B5EF4-FFF2-40B4-BE49-F238E27FC236}">
                <a16:creationId xmlns:a16="http://schemas.microsoft.com/office/drawing/2014/main" id="{263F0921-FED3-4CA1-9691-BA9A630A32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8430" y="3529911"/>
            <a:ext cx="4705367" cy="2743200"/>
          </a:xfrm>
          <a:prstGeom prst="rect">
            <a:avLst/>
          </a:prstGeom>
        </p:spPr>
      </p:pic>
    </p:spTree>
    <p:extLst>
      <p:ext uri="{BB962C8B-B14F-4D97-AF65-F5344CB8AC3E}">
        <p14:creationId xmlns:p14="http://schemas.microsoft.com/office/powerpoint/2010/main" val="406067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“other cereals” and grain consumption</a:t>
            </a:r>
            <a:endParaRPr lang="en-US" sz="2400"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144280"/>
            <a:ext cx="10915650" cy="553998"/>
          </a:xfrm>
          <a:prstGeom prst="rect">
            <a:avLst/>
          </a:prstGeom>
          <a:noFill/>
        </p:spPr>
        <p:txBody>
          <a:bodyPr wrap="square" rtlCol="0">
            <a:spAutoFit/>
          </a:bodyPr>
          <a:lstStyle/>
          <a:p>
            <a:r>
              <a:rPr lang="en-US" sz="1000" baseline="30000" dirty="0">
                <a:latin typeface="+mj-lt"/>
              </a:rPr>
              <a:t>8</a:t>
            </a:r>
            <a:r>
              <a:rPr lang="en-US" sz="1000" dirty="0">
                <a:latin typeface="+mj-lt"/>
              </a:rPr>
              <a:t>. See NAB annual reports for more details</a:t>
            </a:r>
          </a:p>
          <a:p>
            <a:r>
              <a:rPr lang="en-US" sz="1000" baseline="30000" dirty="0">
                <a:latin typeface="+mj-lt"/>
              </a:rPr>
              <a:t>9</a:t>
            </a:r>
            <a:r>
              <a:rPr lang="en-US" sz="1000" dirty="0">
                <a:latin typeface="+mj-lt"/>
              </a:rPr>
              <a:t> In Namibia, rainfed maize, </a:t>
            </a:r>
            <a:r>
              <a:rPr lang="en-US" sz="1000" dirty="0" err="1">
                <a:latin typeface="+mj-lt"/>
              </a:rPr>
              <a:t>mahangu</a:t>
            </a:r>
            <a:r>
              <a:rPr lang="en-US" sz="1000" dirty="0">
                <a:latin typeface="+mj-lt"/>
              </a:rPr>
              <a:t> and sorghum -- which represent the primary grains consumed in Namibia (and, thus, the main components of “other cereals”) – are normally harvested between May and August</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851779"/>
            <a:ext cx="10264902" cy="4355038"/>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A majority of households purchased the “other cereals” (grains) they consumed because most communal maize, </a:t>
            </a:r>
            <a:r>
              <a:rPr lang="en-US" dirty="0" err="1">
                <a:latin typeface="+mj-lt"/>
              </a:rPr>
              <a:t>manahgu</a:t>
            </a:r>
            <a:r>
              <a:rPr lang="en-US" dirty="0">
                <a:latin typeface="+mj-lt"/>
              </a:rPr>
              <a:t> and sorghum production in Namibia is rainfed and small-scale (see Fig. 2) </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Wheat, which is almost exclusively imported, is purchased and consumed as bread or other derived products;</a:t>
            </a:r>
          </a:p>
          <a:p>
            <a:pPr marL="742950" lvl="1" indent="-285750">
              <a:spcBef>
                <a:spcPts val="600"/>
              </a:spcBef>
              <a:buFont typeface="Arial" panose="020B0604020202020204" pitchFamily="34" charset="0"/>
              <a:buChar char="•"/>
            </a:pPr>
            <a:r>
              <a:rPr lang="en-US" sz="1800" dirty="0">
                <a:latin typeface="+mj-lt"/>
              </a:rPr>
              <a:t>There is significant commercial maize production in Namibia, both rainfed and irrigated, which, along with maize imports, comprises the majority of maize available for consumption;</a:t>
            </a:r>
            <a:r>
              <a:rPr lang="en-US" sz="1800" baseline="30000" dirty="0">
                <a:latin typeface="+mj-lt"/>
              </a:rPr>
              <a:t>8</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Most available </a:t>
            </a:r>
            <a:r>
              <a:rPr lang="en-US" dirty="0" err="1">
                <a:latin typeface="+mj-lt"/>
              </a:rPr>
              <a:t>mahangu</a:t>
            </a:r>
            <a:r>
              <a:rPr lang="en-US" dirty="0">
                <a:latin typeface="+mj-lt"/>
              </a:rPr>
              <a:t> is from communal production (with limited imports) but is primarily grown in the 6 northern regions where growing conditions are </a:t>
            </a:r>
            <a:r>
              <a:rPr lang="en-US" dirty="0" err="1">
                <a:latin typeface="+mj-lt"/>
              </a:rPr>
              <a:t>favourable</a:t>
            </a:r>
            <a:r>
              <a:rPr lang="en-US" dirty="0">
                <a:latin typeface="+mj-lt"/>
              </a:rPr>
              <a:t>.</a:t>
            </a:r>
          </a:p>
          <a:p>
            <a:pPr marL="285750" indent="-285750">
              <a:spcBef>
                <a:spcPts val="600"/>
              </a:spcBef>
              <a:buFont typeface="Arial" panose="020B0604020202020204" pitchFamily="34" charset="0"/>
              <a:buChar char="•"/>
            </a:pPr>
            <a:r>
              <a:rPr lang="en-US" dirty="0">
                <a:latin typeface="+mj-lt"/>
              </a:rPr>
              <a:t>However, one concern is that in the regions where communal production is common, </a:t>
            </a:r>
            <a:r>
              <a:rPr lang="en-US" u="sng" dirty="0">
                <a:latin typeface="+mj-lt"/>
              </a:rPr>
              <a:t>especially during and after the harvest season</a:t>
            </a:r>
            <a:r>
              <a:rPr lang="en-US" dirty="0">
                <a:latin typeface="+mj-lt"/>
              </a:rPr>
              <a:t>,</a:t>
            </a:r>
            <a:r>
              <a:rPr lang="en-US" baseline="30000" dirty="0">
                <a:latin typeface="+mj-lt"/>
              </a:rPr>
              <a:t>9</a:t>
            </a:r>
            <a:r>
              <a:rPr lang="en-US" dirty="0">
                <a:latin typeface="+mj-lt"/>
              </a:rPr>
              <a:t> a micronutrient fortification programme which targets imports and commercial production might not reach key segments of the population.</a:t>
            </a:r>
          </a:p>
          <a:p>
            <a:pPr marL="285750" indent="-285750">
              <a:spcBef>
                <a:spcPts val="600"/>
              </a:spcBef>
              <a:buFont typeface="Arial" panose="020B0604020202020204" pitchFamily="34" charset="0"/>
              <a:buChar char="•"/>
            </a:pPr>
            <a:r>
              <a:rPr lang="en-US" dirty="0">
                <a:latin typeface="+mj-lt"/>
              </a:rPr>
              <a:t>To explore this issue, data from the household questionnaire and 7-day food diary were aggregated and </a:t>
            </a:r>
            <a:r>
              <a:rPr lang="en-US" dirty="0" err="1">
                <a:latin typeface="+mj-lt"/>
              </a:rPr>
              <a:t>analysed</a:t>
            </a:r>
            <a:r>
              <a:rPr lang="en-US" dirty="0">
                <a:latin typeface="+mj-lt"/>
              </a:rPr>
              <a:t> according to the month in which the survey was conducted.</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370325"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Data from the household questionnaire revealed that consumption of “other cereals” from own production was highest during and following the main harvest period (May-August) in regions where communal production is common (see Figs. 6 &amp; 7)</a:t>
            </a:r>
          </a:p>
        </p:txBody>
      </p:sp>
      <p:pic>
        <p:nvPicPr>
          <p:cNvPr id="7" name="Graphic 6">
            <a:extLst>
              <a:ext uri="{FF2B5EF4-FFF2-40B4-BE49-F238E27FC236}">
                <a16:creationId xmlns:a16="http://schemas.microsoft.com/office/drawing/2014/main" id="{715E5731-B58E-4CD1-B238-BC748FDB62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8" y="3286721"/>
            <a:ext cx="4800600" cy="3200400"/>
          </a:xfrm>
          <a:prstGeom prst="rect">
            <a:avLst/>
          </a:prstGeom>
        </p:spPr>
      </p:pic>
      <p:pic>
        <p:nvPicPr>
          <p:cNvPr id="10" name="Graphic 9">
            <a:extLst>
              <a:ext uri="{FF2B5EF4-FFF2-40B4-BE49-F238E27FC236}">
                <a16:creationId xmlns:a16="http://schemas.microsoft.com/office/drawing/2014/main" id="{4A2ED368-2260-431A-BB2E-D7E1C228DE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53202" y="3286721"/>
            <a:ext cx="4800600" cy="3200400"/>
          </a:xfrm>
          <a:prstGeom prst="rect">
            <a:avLst/>
          </a:prstGeom>
        </p:spPr>
      </p:pic>
      <p:sp>
        <p:nvSpPr>
          <p:cNvPr id="11" name="TextBox 10">
            <a:extLst>
              <a:ext uri="{FF2B5EF4-FFF2-40B4-BE49-F238E27FC236}">
                <a16:creationId xmlns:a16="http://schemas.microsoft.com/office/drawing/2014/main" id="{3093BAA1-FB12-48AA-A853-9EEDC004E054}"/>
              </a:ext>
            </a:extLst>
          </p:cNvPr>
          <p:cNvSpPr txBox="1"/>
          <p:nvPr/>
        </p:nvSpPr>
        <p:spPr>
          <a:xfrm>
            <a:off x="1343025" y="3167390"/>
            <a:ext cx="1533525" cy="261610"/>
          </a:xfrm>
          <a:prstGeom prst="rect">
            <a:avLst/>
          </a:prstGeom>
          <a:noFill/>
        </p:spPr>
        <p:txBody>
          <a:bodyPr wrap="square" rtlCol="0">
            <a:spAutoFit/>
          </a:bodyPr>
          <a:lstStyle/>
          <a:p>
            <a:r>
              <a:rPr lang="en-US" sz="1050" b="1" dirty="0">
                <a:latin typeface="Tw Cen MT" panose="020B0602020104020603" pitchFamily="34" charset="0"/>
              </a:rPr>
              <a:t>Figure 6.</a:t>
            </a:r>
          </a:p>
        </p:txBody>
      </p:sp>
      <p:sp>
        <p:nvSpPr>
          <p:cNvPr id="13" name="TextBox 12">
            <a:extLst>
              <a:ext uri="{FF2B5EF4-FFF2-40B4-BE49-F238E27FC236}">
                <a16:creationId xmlns:a16="http://schemas.microsoft.com/office/drawing/2014/main" id="{D33281A9-0AD6-4A2A-AB09-7638141A7239}"/>
              </a:ext>
            </a:extLst>
          </p:cNvPr>
          <p:cNvSpPr txBox="1"/>
          <p:nvPr/>
        </p:nvSpPr>
        <p:spPr>
          <a:xfrm>
            <a:off x="7038975" y="3169935"/>
            <a:ext cx="1533525" cy="261610"/>
          </a:xfrm>
          <a:prstGeom prst="rect">
            <a:avLst/>
          </a:prstGeom>
          <a:noFill/>
        </p:spPr>
        <p:txBody>
          <a:bodyPr wrap="square" rtlCol="0">
            <a:spAutoFit/>
          </a:bodyPr>
          <a:lstStyle/>
          <a:p>
            <a:r>
              <a:rPr lang="en-US" sz="1050" b="1" dirty="0">
                <a:latin typeface="Tw Cen MT" panose="020B0602020104020603" pitchFamily="34" charset="0"/>
              </a:rPr>
              <a:t>Figure 7.</a:t>
            </a:r>
          </a:p>
        </p:txBody>
      </p:sp>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515600"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One finding from the 7-day food diary is that, of maize, </a:t>
            </a:r>
            <a:r>
              <a:rPr lang="en-US" dirty="0" err="1">
                <a:latin typeface="+mj-lt"/>
              </a:rPr>
              <a:t>mahangu</a:t>
            </a:r>
            <a:r>
              <a:rPr lang="en-US" dirty="0">
                <a:latin typeface="+mj-lt"/>
              </a:rPr>
              <a:t> and sorghum, </a:t>
            </a:r>
            <a:r>
              <a:rPr lang="en-US" dirty="0" err="1">
                <a:latin typeface="+mj-lt"/>
              </a:rPr>
              <a:t>mahangu</a:t>
            </a:r>
            <a:r>
              <a:rPr lang="en-US" dirty="0">
                <a:latin typeface="+mj-lt"/>
              </a:rPr>
              <a:t> is the only grain frequently consumed from own production. This is somewhat intuitive when considering the overall quantities produced (see Figs. 3, 4, &amp; 5)</a:t>
            </a:r>
            <a:r>
              <a:rPr lang="en-US" baseline="30000" dirty="0">
                <a:latin typeface="+mj-lt"/>
              </a:rPr>
              <a:t>10</a:t>
            </a:r>
          </a:p>
        </p:txBody>
      </p:sp>
      <p:sp>
        <p:nvSpPr>
          <p:cNvPr id="4" name="TextBox 3">
            <a:extLst>
              <a:ext uri="{FF2B5EF4-FFF2-40B4-BE49-F238E27FC236}">
                <a16:creationId xmlns:a16="http://schemas.microsoft.com/office/drawing/2014/main" id="{6B816729-B8A0-4DFA-984F-ABA93BC19A3A}"/>
              </a:ext>
            </a:extLst>
          </p:cNvPr>
          <p:cNvSpPr txBox="1"/>
          <p:nvPr/>
        </p:nvSpPr>
        <p:spPr>
          <a:xfrm>
            <a:off x="838200" y="6487180"/>
            <a:ext cx="10915650" cy="246221"/>
          </a:xfrm>
          <a:prstGeom prst="rect">
            <a:avLst/>
          </a:prstGeom>
          <a:noFill/>
        </p:spPr>
        <p:txBody>
          <a:bodyPr wrap="square" rtlCol="0">
            <a:spAutoFit/>
          </a:bodyPr>
          <a:lstStyle/>
          <a:p>
            <a:r>
              <a:rPr lang="en-US" sz="1000" baseline="30000" dirty="0">
                <a:latin typeface="+mj-lt"/>
              </a:rPr>
              <a:t>10</a:t>
            </a:r>
            <a:r>
              <a:rPr lang="en-US" sz="1000" dirty="0">
                <a:latin typeface="+mj-lt"/>
              </a:rPr>
              <a:t> The 7-day food diary, unlike the household questionnaire, contained more detailed information on the food consumed and allowed for analysis of specific grains</a:t>
            </a:r>
            <a:endParaRPr lang="en-US" sz="1000" dirty="0"/>
          </a:p>
        </p:txBody>
      </p:sp>
      <p:sp>
        <p:nvSpPr>
          <p:cNvPr id="7" name="TextBox 6">
            <a:extLst>
              <a:ext uri="{FF2B5EF4-FFF2-40B4-BE49-F238E27FC236}">
                <a16:creationId xmlns:a16="http://schemas.microsoft.com/office/drawing/2014/main" id="{BF365715-7D2A-410C-AB3E-21766B04A2F8}"/>
              </a:ext>
            </a:extLst>
          </p:cNvPr>
          <p:cNvSpPr txBox="1"/>
          <p:nvPr/>
        </p:nvSpPr>
        <p:spPr>
          <a:xfrm>
            <a:off x="838200" y="2920891"/>
            <a:ext cx="5353050"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Analyses of </a:t>
            </a:r>
            <a:r>
              <a:rPr lang="en-US" dirty="0" err="1">
                <a:latin typeface="+mj-lt"/>
              </a:rPr>
              <a:t>mahangu</a:t>
            </a:r>
            <a:r>
              <a:rPr lang="en-US" dirty="0">
                <a:latin typeface="+mj-lt"/>
              </a:rPr>
              <a:t> consumption from own production from the 7-day food diary reveal a similar regional and temporal pattern as observed for “other cereals” from the household questionnaire (see Figure 8)</a:t>
            </a:r>
          </a:p>
          <a:p>
            <a:pPr marL="285750" indent="-285750">
              <a:buFont typeface="Arial" panose="020B0604020202020204" pitchFamily="34" charset="0"/>
              <a:buChar char="•"/>
            </a:pPr>
            <a:r>
              <a:rPr lang="en-US" dirty="0">
                <a:latin typeface="+mj-lt"/>
              </a:rPr>
              <a:t>However, consumption of purchased maize and bread – items likely to be fortified – remain significant throughout the year even in regions with significant communal </a:t>
            </a:r>
            <a:r>
              <a:rPr lang="en-US" dirty="0" err="1">
                <a:latin typeface="+mj-lt"/>
              </a:rPr>
              <a:t>mahangu</a:t>
            </a:r>
            <a:r>
              <a:rPr lang="en-US" dirty="0">
                <a:latin typeface="+mj-lt"/>
              </a:rPr>
              <a:t> production.</a:t>
            </a:r>
          </a:p>
          <a:p>
            <a:endParaRPr lang="en-US" dirty="0"/>
          </a:p>
        </p:txBody>
      </p:sp>
      <p:pic>
        <p:nvPicPr>
          <p:cNvPr id="9" name="Graphic 8">
            <a:extLst>
              <a:ext uri="{FF2B5EF4-FFF2-40B4-BE49-F238E27FC236}">
                <a16:creationId xmlns:a16="http://schemas.microsoft.com/office/drawing/2014/main" id="{FB60478E-38B3-44D0-A3C8-730B024EBC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53200" y="2767013"/>
            <a:ext cx="4800600" cy="3200400"/>
          </a:xfrm>
          <a:prstGeom prst="rect">
            <a:avLst/>
          </a:prstGeom>
        </p:spPr>
      </p:pic>
      <p:sp>
        <p:nvSpPr>
          <p:cNvPr id="13" name="TextBox 12">
            <a:extLst>
              <a:ext uri="{FF2B5EF4-FFF2-40B4-BE49-F238E27FC236}">
                <a16:creationId xmlns:a16="http://schemas.microsoft.com/office/drawing/2014/main" id="{3E37FC40-24F5-4FC1-83B4-ED694D46F0D5}"/>
              </a:ext>
            </a:extLst>
          </p:cNvPr>
          <p:cNvSpPr txBox="1"/>
          <p:nvPr/>
        </p:nvSpPr>
        <p:spPr>
          <a:xfrm>
            <a:off x="7067550" y="2659281"/>
            <a:ext cx="1533525" cy="261610"/>
          </a:xfrm>
          <a:prstGeom prst="rect">
            <a:avLst/>
          </a:prstGeom>
          <a:noFill/>
        </p:spPr>
        <p:txBody>
          <a:bodyPr wrap="square" rtlCol="0">
            <a:spAutoFit/>
          </a:bodyPr>
          <a:lstStyle/>
          <a:p>
            <a:r>
              <a:rPr lang="en-US" sz="1050" b="1" dirty="0">
                <a:latin typeface="Tw Cen MT" panose="020B0602020104020603" pitchFamily="34" charset="0"/>
              </a:rPr>
              <a:t>Figure 8.</a:t>
            </a:r>
          </a:p>
        </p:txBody>
      </p:sp>
    </p:spTree>
    <p:extLst>
      <p:ext uri="{BB962C8B-B14F-4D97-AF65-F5344CB8AC3E}">
        <p14:creationId xmlns:p14="http://schemas.microsoft.com/office/powerpoint/2010/main" val="178920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Analysis files, including detailed source code, comprehensive tables and charts/graphs can be found on </a:t>
            </a:r>
            <a:r>
              <a:rPr lang="en-US" b="1" dirty="0">
                <a:solidFill>
                  <a:schemeClr val="accent1"/>
                </a:solidFill>
                <a:latin typeface="+mj-lt"/>
                <a:hlinkClick r:id="rId2"/>
              </a:rPr>
              <a:t>GitHub</a:t>
            </a:r>
            <a:r>
              <a:rPr lang="en-US"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a:t>
            </a:r>
            <a:r>
              <a:rPr lang="en-US" sz="1800" b="0" dirty="0">
                <a:latin typeface="+mj-lt"/>
              </a:rPr>
              <a:t>The household dataset/questionnaire did not allow analysis of consumption by specific grain type (e.g., maize, </a:t>
            </a:r>
            <a:r>
              <a:rPr lang="en-US" sz="1800" b="0" dirty="0" err="1">
                <a:latin typeface="+mj-lt"/>
              </a:rPr>
              <a:t>mahangu</a:t>
            </a:r>
            <a:r>
              <a:rPr lang="en-US" sz="18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MAWF regional crop production data; NAB commercial and import data; Namibia Inter-</a:t>
            </a:r>
            <a:r>
              <a:rPr lang="en-US" sz="1800" b="0" kern="1200" dirty="0" err="1">
                <a:solidFill>
                  <a:schemeClr val="tx1"/>
                </a:solidFill>
                <a:latin typeface="+mj-lt"/>
                <a:ea typeface="+mn-ea"/>
                <a:cs typeface="+mn-cs"/>
              </a:rPr>
              <a:t>censal</a:t>
            </a:r>
            <a:r>
              <a:rPr lang="en-US" sz="1800" b="0" kern="1200" dirty="0">
                <a:solidFill>
                  <a:schemeClr val="tx1"/>
                </a:solidFill>
                <a:latin typeface="+mj-lt"/>
                <a:ea typeface="+mn-ea"/>
                <a:cs typeface="+mn-cs"/>
              </a:rPr>
              <a:t> Demographic Survey</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1800" dirty="0" err="1">
                <a:latin typeface="+mj-lt"/>
              </a:rPr>
              <a:t>censal</a:t>
            </a:r>
            <a:r>
              <a:rPr lang="en-US" sz="1800" dirty="0">
                <a:latin typeface="+mj-lt"/>
              </a:rPr>
              <a:t> Survey 2016.</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MAWF only collects/records maize crop production estimates for high-production regions (East and West </a:t>
            </a:r>
            <a:r>
              <a:rPr lang="en-US" sz="1800" dirty="0" err="1">
                <a:latin typeface="+mj-lt"/>
              </a:rPr>
              <a:t>Kavango</a:t>
            </a:r>
            <a:r>
              <a:rPr lang="en-US" sz="1800" dirty="0">
                <a:latin typeface="+mj-lt"/>
              </a:rPr>
              <a:t>, Zambezi) which made comparison with other regions impossible. NHIES likely captured at least one large-scale (or commercial) maize and </a:t>
            </a:r>
            <a:r>
              <a:rPr lang="en-US" sz="1800" dirty="0" err="1">
                <a:latin typeface="+mj-lt"/>
              </a:rPr>
              <a:t>mahangu</a:t>
            </a:r>
            <a:r>
              <a:rPr lang="en-US" sz="1800" dirty="0">
                <a:latin typeface="+mj-lt"/>
              </a:rPr>
              <a:t> operation. Medians were used to minimize the impact of these outliers. While NHIES crop production data relies on households’ verbal reports, MAWF uses more sophisticated methods to calculated their estimates – this may help explain some discrepancy.</a:t>
            </a:r>
          </a:p>
        </p:txBody>
      </p:sp>
    </p:spTree>
    <p:extLst>
      <p:ext uri="{BB962C8B-B14F-4D97-AF65-F5344CB8AC3E}">
        <p14:creationId xmlns:p14="http://schemas.microsoft.com/office/powerpoint/2010/main" val="2223393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and Daily Record Book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6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A clean survey date variable </a:t>
            </a:r>
            <a:r>
              <a:rPr lang="en-US" sz="1400" dirty="0">
                <a:latin typeface="+mj-lt"/>
              </a:rPr>
              <a:t>[</a:t>
            </a:r>
            <a:r>
              <a:rPr lang="en-US" sz="1400" dirty="0" err="1">
                <a:latin typeface="Cascadia Code" panose="020B0609020000020004" pitchFamily="49" charset="0"/>
                <a:cs typeface="Cascadia Code" panose="020B0609020000020004" pitchFamily="49" charset="0"/>
              </a:rPr>
              <a:t>start_date</a:t>
            </a:r>
            <a:r>
              <a:rPr lang="en-US" sz="1400" dirty="0">
                <a:latin typeface="+mj-lt"/>
              </a:rPr>
              <a:t>] </a:t>
            </a:r>
            <a:r>
              <a:rPr lang="en-US" sz="1800" dirty="0">
                <a:latin typeface="+mj-lt"/>
              </a:rPr>
              <a:t>was created based on </a:t>
            </a:r>
            <a:r>
              <a:rPr lang="en-US" sz="1400" dirty="0">
                <a:latin typeface="+mj-lt"/>
              </a:rPr>
              <a:t>[</a:t>
            </a:r>
            <a:r>
              <a:rPr lang="en-US" sz="1400" dirty="0" err="1">
                <a:latin typeface="Cascadia Code" panose="020B0609020000020004" pitchFamily="49" charset="0"/>
                <a:cs typeface="Cascadia Code" panose="020B0609020000020004" pitchFamily="49" charset="0"/>
              </a:rPr>
              <a:t>ah_start_date</a:t>
            </a:r>
            <a:r>
              <a:rPr lang="en-US" sz="1400" dirty="0">
                <a:latin typeface="+mj-lt"/>
              </a:rPr>
              <a:t>]</a:t>
            </a:r>
            <a:r>
              <a:rPr lang="en-US" sz="1800" dirty="0">
                <a:latin typeface="+mj-lt"/>
              </a:rPr>
              <a:t> from the household questionnaire dataset. This household dataset was then sorted according to this variable and implausible entries removed (i.e. 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1800" dirty="0">
                <a:latin typeface="+mj-lt"/>
              </a:rPr>
              <a:t>For the 7-day food diary analysis, the same date variable was used (merged into 7-day food diary dataset using a unique household identification number [</a:t>
            </a:r>
            <a:r>
              <a:rPr lang="en-US" sz="1400" dirty="0" err="1">
                <a:latin typeface="Cascadia Code" panose="020B0609020000020004" pitchFamily="49" charset="0"/>
                <a:cs typeface="Cascadia Code" panose="020B0609020000020004" pitchFamily="49" charset="0"/>
              </a:rPr>
              <a:t>hhid</a:t>
            </a:r>
            <a:r>
              <a:rPr lang="en-US" sz="1800" dirty="0">
                <a:latin typeface="+mj-lt"/>
              </a:rPr>
              <a:t>]) and the same grouping process applied. However, the DRB contains counts of food items consumed over a 7-day period; therefore, the denominator is NOT total households (as above) but total number of food items consumed over a 7-day period.</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978</TotalTime>
  <Words>1622</Words>
  <Application>Microsoft Office PowerPoint</Application>
  <PresentationFormat>Widescreen</PresentationFormat>
  <Paragraphs>81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III. Key Findings</vt:lpstr>
      <vt:lpstr>IV. Appendix: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Aaron WISE</cp:lastModifiedBy>
  <cp:revision>75</cp:revision>
  <dcterms:created xsi:type="dcterms:W3CDTF">2020-10-13T02:26:37Z</dcterms:created>
  <dcterms:modified xsi:type="dcterms:W3CDTF">2020-10-17T13:36:36Z</dcterms:modified>
</cp:coreProperties>
</file>