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6" r:id="rId9"/>
    <p:sldId id="267" r:id="rId10"/>
    <p:sldId id="262" r:id="rId11"/>
    <p:sldId id="268"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13-Oct-20</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13-Oct-20</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aaronbwise/NHIES-Analysi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3240088"/>
            <a:ext cx="9144000" cy="893762"/>
          </a:xfrm>
        </p:spPr>
        <p:txBody>
          <a:bodyPr>
            <a:normAutofit fontScale="85000" lnSpcReduction="20000"/>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5048250"/>
            <a:ext cx="9144000" cy="369332"/>
          </a:xfrm>
          <a:prstGeom prst="rect">
            <a:avLst/>
          </a:prstGeom>
          <a:noFill/>
        </p:spPr>
        <p:txBody>
          <a:bodyPr wrap="square" rtlCol="0">
            <a:spAutoFit/>
          </a:bodyPr>
          <a:lstStyle/>
          <a:p>
            <a:pPr algn="ctr"/>
            <a:r>
              <a:rPr lang="en-US" dirty="0">
                <a:latin typeface="+mj-lt"/>
              </a:rPr>
              <a:t>13 October 2020</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lstStyle/>
          <a:p>
            <a:pPr marL="571500" indent="-571500">
              <a:spcBef>
                <a:spcPts val="600"/>
              </a:spcBef>
              <a:spcAft>
                <a:spcPts val="1200"/>
              </a:spcAft>
              <a:buFont typeface="+mj-lt"/>
              <a:buAutoNum type="romanUcPeriod"/>
            </a:pPr>
            <a:r>
              <a:rPr lang="en-US" dirty="0">
                <a:latin typeface="+mj-lt"/>
              </a:rPr>
              <a:t>Background</a:t>
            </a:r>
          </a:p>
          <a:p>
            <a:pPr marL="571500" indent="-571500">
              <a:spcBef>
                <a:spcPts val="600"/>
              </a:spcBef>
              <a:spcAft>
                <a:spcPts val="1200"/>
              </a:spcAft>
              <a:buFont typeface="+mj-lt"/>
              <a:buAutoNum type="romanUcPeriod"/>
            </a:pPr>
            <a:r>
              <a:rPr lang="en-US" dirty="0">
                <a:latin typeface="+mj-lt"/>
              </a:rPr>
              <a:t>Methodology</a:t>
            </a:r>
          </a:p>
          <a:p>
            <a:pPr marL="571500" indent="-571500">
              <a:spcBef>
                <a:spcPts val="600"/>
              </a:spcBef>
              <a:spcAft>
                <a:spcPts val="1200"/>
              </a:spcAft>
              <a:buFont typeface="+mj-lt"/>
              <a:buAutoNum type="romanUcPeriod"/>
            </a:pPr>
            <a:r>
              <a:rPr lang="en-US" dirty="0">
                <a:latin typeface="+mj-lt"/>
              </a:rPr>
              <a:t>Key Findings</a:t>
            </a:r>
          </a:p>
          <a:p>
            <a:pPr marL="571500" indent="-571500">
              <a:spcBef>
                <a:spcPts val="600"/>
              </a:spcBef>
              <a:spcAft>
                <a:spcPts val="1200"/>
              </a:spcAft>
              <a:buFont typeface="+mj-lt"/>
              <a:buAutoNum type="romanUcPeriod"/>
            </a:pPr>
            <a:r>
              <a:rPr lang="en-US" dirty="0">
                <a:latin typeface="+mj-lt"/>
              </a:rPr>
              <a:t>Appendix: Summary of Methods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0" indent="0">
              <a:spcBef>
                <a:spcPts val="600"/>
              </a:spcBef>
              <a:spcAft>
                <a:spcPts val="1200"/>
              </a:spcAft>
              <a:buNone/>
            </a:pPr>
            <a:r>
              <a:rPr lang="en-US" sz="2400" dirty="0">
                <a:latin typeface="+mj-lt"/>
              </a:rPr>
              <a:t>The Food and Nutrition Security Policy and Implementation Action Plan (2019-2024) includes strategies to implement and strengthen mandatory fortification of staple foods and condiments.</a:t>
            </a:r>
          </a:p>
          <a:p>
            <a:pPr marL="0" indent="0">
              <a:spcBef>
                <a:spcPts val="600"/>
              </a:spcBef>
              <a:spcAft>
                <a:spcPts val="1200"/>
              </a:spcAft>
              <a:buNone/>
            </a:pPr>
            <a:r>
              <a:rPr lang="en-US" sz="2400" dirty="0">
                <a:latin typeface="+mj-lt"/>
              </a:rPr>
              <a:t>Data and analyses on food production and consumption within households are required to appropriately inform the design and implementation of food and nutrition security policies.</a:t>
            </a:r>
          </a:p>
          <a:p>
            <a:pPr marL="0" indent="0">
              <a:spcBef>
                <a:spcPts val="600"/>
              </a:spcBef>
              <a:spcAft>
                <a:spcPts val="1200"/>
              </a:spcAft>
              <a:buNone/>
            </a:pPr>
            <a:r>
              <a:rPr lang="en-US" sz="2400" dirty="0">
                <a:latin typeface="+mj-lt"/>
              </a:rPr>
              <a:t>From April 2015 to March 2016, the Namibia Statistics Agency undertook the Household Income and Expenditure Survey (NHIES).</a:t>
            </a:r>
          </a:p>
          <a:p>
            <a:pPr lvl="1">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0" indent="0">
              <a:spcBef>
                <a:spcPts val="600"/>
              </a:spcBef>
              <a:spcAft>
                <a:spcPts val="1200"/>
              </a:spcAft>
              <a:buNone/>
            </a:pPr>
            <a:r>
              <a:rPr lang="en-US" sz="2400" dirty="0">
                <a:latin typeface="+mj-lt"/>
              </a:rPr>
              <a:t>To better understand the household food production and consumption patterns within Namibia, a series of analyses were performed:</a:t>
            </a:r>
          </a:p>
          <a:p>
            <a:pPr marL="731520" indent="-514350">
              <a:spcBef>
                <a:spcPts val="1800"/>
              </a:spcBef>
              <a:spcAft>
                <a:spcPts val="600"/>
              </a:spcAft>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731520" indent="-514350">
              <a:spcBef>
                <a:spcPts val="600"/>
              </a:spcBef>
              <a:spcAft>
                <a:spcPts val="600"/>
              </a:spcAft>
              <a:buFont typeface="+mj-lt"/>
              <a:buAutoNum type="alphaUcPeriod"/>
            </a:pPr>
            <a:r>
              <a:rPr lang="en-US" sz="2400" dirty="0">
                <a:latin typeface="+mj-lt"/>
              </a:rPr>
              <a:t>Comparison of regional cereal production data from MAWF, NAB and NHIES;</a:t>
            </a:r>
          </a:p>
          <a:p>
            <a:pPr marL="731520" indent="-514350">
              <a:spcBef>
                <a:spcPts val="600"/>
              </a:spcBef>
              <a:spcAft>
                <a:spcPts val="600"/>
              </a:spcAft>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400110"/>
          </a:xfrm>
          <a:prstGeom prst="rect">
            <a:avLst/>
          </a:prstGeom>
          <a:noFill/>
        </p:spPr>
        <p:txBody>
          <a:bodyPr wrap="square" rtlCol="0">
            <a:spAutoFit/>
          </a:bodyPr>
          <a:lstStyle/>
          <a:p>
            <a:r>
              <a:rPr lang="en-US" sz="1000" baseline="30000" dirty="0">
                <a:latin typeface="+mj-lt"/>
              </a:rPr>
              <a:t>1</a:t>
            </a:r>
            <a:r>
              <a:rPr lang="en-US" sz="1000" dirty="0">
                <a:latin typeface="+mj-lt"/>
              </a:rPr>
              <a:t> Wheat, other cereal, rice, oil, and spices.</a:t>
            </a:r>
          </a:p>
          <a:p>
            <a:r>
              <a:rPr lang="en-US" sz="1000" baseline="30000" dirty="0">
                <a:latin typeface="+mj-lt"/>
              </a:rPr>
              <a:t>2</a:t>
            </a:r>
            <a:r>
              <a:rPr lang="en-US" sz="1000" dirty="0">
                <a:latin typeface="+mj-lt"/>
              </a:rPr>
              <a:t> Maize, </a:t>
            </a:r>
            <a:r>
              <a:rPr lang="en-US" sz="1000" dirty="0" err="1">
                <a:latin typeface="+mj-lt"/>
              </a:rPr>
              <a:t>mahangu</a:t>
            </a:r>
            <a:r>
              <a:rPr lang="en-US" sz="1000" dirty="0">
                <a:latin typeface="+mj-lt"/>
              </a:rPr>
              <a:t> (millet), sorghum, wheat, and other grains</a:t>
            </a:r>
            <a:endParaRPr lang="en-US" sz="10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lstStyle/>
          <a:p>
            <a:pPr marL="0" indent="0">
              <a:buNone/>
            </a:pPr>
            <a:r>
              <a:rPr lang="en-US" b="1" dirty="0">
                <a:latin typeface="+mj-lt"/>
              </a:rPr>
              <a:t>A. Analysis of household-level food consumption and grain production</a:t>
            </a:r>
            <a:endParaRPr lang="en-US"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2200275"/>
            <a:ext cx="3981450" cy="3924151"/>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2400" b="1" dirty="0" err="1">
                <a:latin typeface="+mj-lt"/>
              </a:rPr>
              <a:t>Mahangu</a:t>
            </a:r>
            <a:r>
              <a:rPr lang="en-US" sz="2400" dirty="0">
                <a:latin typeface="+mj-lt"/>
              </a:rPr>
              <a:t> (millet), </a:t>
            </a:r>
            <a:r>
              <a:rPr lang="en-US" sz="2400" b="1" dirty="0">
                <a:latin typeface="+mj-lt"/>
              </a:rPr>
              <a:t>sorghum</a:t>
            </a:r>
            <a:r>
              <a:rPr lang="en-US" sz="2400" dirty="0">
                <a:latin typeface="+mj-lt"/>
              </a:rPr>
              <a:t>, and </a:t>
            </a:r>
            <a:r>
              <a:rPr lang="en-US" sz="2400" b="1" dirty="0">
                <a:latin typeface="+mj-lt"/>
              </a:rPr>
              <a:t>maize</a:t>
            </a:r>
            <a:r>
              <a:rPr lang="en-US" sz="2400" dirty="0">
                <a:latin typeface="+mj-lt"/>
              </a:rPr>
              <a:t> were grown by 45, 14, and 12 percent of NHIES rural households, respectively.</a:t>
            </a:r>
          </a:p>
          <a:p>
            <a:pPr marL="285750" indent="-285750">
              <a:spcBef>
                <a:spcPts val="1800"/>
              </a:spcBef>
              <a:buFont typeface="Arial" panose="020B0604020202020204" pitchFamily="34" charset="0"/>
              <a:buChar char="•"/>
            </a:pPr>
            <a:r>
              <a:rPr lang="en-US" sz="2400" dirty="0">
                <a:latin typeface="+mj-lt"/>
              </a:rPr>
              <a:t>The regions with the highest proportion of households growing each grain are shown in Figure 1.</a:t>
            </a:r>
          </a:p>
          <a:p>
            <a:pPr marL="285750" indent="-285750">
              <a:buFont typeface="Arial" panose="020B0604020202020204" pitchFamily="34" charset="0"/>
              <a:buChar char="•"/>
            </a:pPr>
            <a:endParaRPr lang="en-US" dirty="0">
              <a:latin typeface="+mj-lt"/>
            </a:endParaRPr>
          </a:p>
        </p:txBody>
      </p:sp>
      <p:pic>
        <p:nvPicPr>
          <p:cNvPr id="7" name="Picture 6">
            <a:extLst>
              <a:ext uri="{FF2B5EF4-FFF2-40B4-BE49-F238E27FC236}">
                <a16:creationId xmlns:a16="http://schemas.microsoft.com/office/drawing/2014/main" id="{B0A5D12E-CD4A-4D1F-AFDA-BEBE502936AC}"/>
              </a:ext>
            </a:extLst>
          </p:cNvPr>
          <p:cNvPicPr>
            <a:picLocks noChangeAspect="1"/>
          </p:cNvPicPr>
          <p:nvPr/>
        </p:nvPicPr>
        <p:blipFill>
          <a:blip r:embed="rId2"/>
          <a:stretch>
            <a:fillRect/>
          </a:stretch>
        </p:blipFill>
        <p:spPr>
          <a:xfrm>
            <a:off x="4941984" y="2200275"/>
            <a:ext cx="6745190" cy="3989776"/>
          </a:xfrm>
          <a:prstGeom prst="rect">
            <a:avLst/>
          </a:prstGeom>
        </p:spPr>
      </p:pic>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lstStyle/>
          <a:p>
            <a:pPr marL="0" indent="0">
              <a:buNone/>
            </a:pPr>
            <a:r>
              <a:rPr lang="en-US" b="1" dirty="0">
                <a:latin typeface="+mj-lt"/>
              </a:rPr>
              <a:t>A. Analysis of household-level food consumption and grain production</a:t>
            </a:r>
            <a:endParaRPr lang="en-US"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2200275"/>
            <a:ext cx="6210300" cy="420115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 large majority of households in the NHIES 2015/16 reported consuming “other cereals”, in addition to wheat flour/bread and rice, in the week prior to the survey (82 percent).</a:t>
            </a:r>
            <a:r>
              <a:rPr lang="en-US" baseline="30000" dirty="0">
                <a:latin typeface="+mj-lt"/>
              </a:rPr>
              <a:t>3</a:t>
            </a:r>
          </a:p>
          <a:p>
            <a:pPr marL="285750" indent="-285750">
              <a:spcBef>
                <a:spcPts val="1800"/>
              </a:spcBef>
              <a:buFont typeface="Arial" panose="020B0604020202020204" pitchFamily="34" charset="0"/>
              <a:buChar char="•"/>
            </a:pPr>
            <a:r>
              <a:rPr lang="en-US" dirty="0">
                <a:latin typeface="+mj-lt"/>
              </a:rPr>
              <a:t>The main source of these “other cereals” varied by location, income, and ethnic group:</a:t>
            </a:r>
          </a:p>
          <a:p>
            <a:pPr marL="742950" lvl="1" indent="-285750">
              <a:buFont typeface="Arial" panose="020B0604020202020204" pitchFamily="34" charset="0"/>
              <a:buChar char="•"/>
            </a:pPr>
            <a:r>
              <a:rPr lang="en-US" dirty="0">
                <a:latin typeface="+mj-lt"/>
              </a:rPr>
              <a:t>Households in regions with low overall grain production more often purchased “other cereals”; in contrast, more than 1 in 3 households in Ohangwena, </a:t>
            </a:r>
            <a:r>
              <a:rPr lang="en-US" dirty="0" err="1">
                <a:latin typeface="+mj-lt"/>
              </a:rPr>
              <a:t>Omusati</a:t>
            </a:r>
            <a:r>
              <a:rPr lang="en-US" dirty="0">
                <a:latin typeface="+mj-lt"/>
              </a:rPr>
              <a:t>, Oshana, and </a:t>
            </a:r>
            <a:r>
              <a:rPr lang="en-US" dirty="0" err="1">
                <a:latin typeface="+mj-lt"/>
              </a:rPr>
              <a:t>Oshikoto</a:t>
            </a:r>
            <a:r>
              <a:rPr lang="en-US" dirty="0">
                <a:latin typeface="+mj-lt"/>
              </a:rPr>
              <a:t> reported consuming them from their own production.</a:t>
            </a:r>
          </a:p>
          <a:p>
            <a:pPr marL="742950" lvl="1" indent="-285750">
              <a:buFont typeface="Arial" panose="020B0604020202020204" pitchFamily="34" charset="0"/>
              <a:buChar char="•"/>
            </a:pPr>
            <a:r>
              <a:rPr lang="en-US" dirty="0">
                <a:latin typeface="+mj-lt"/>
              </a:rPr>
              <a:t>Nine out of 10 households in the highest income bracket (87 percent) reported buying these “other cereals” with cash compared to just 59 percent of households in the lowest bracket.</a:t>
            </a:r>
          </a:p>
        </p:txBody>
      </p:sp>
      <p:pic>
        <p:nvPicPr>
          <p:cNvPr id="5" name="Picture 4">
            <a:extLst>
              <a:ext uri="{FF2B5EF4-FFF2-40B4-BE49-F238E27FC236}">
                <a16:creationId xmlns:a16="http://schemas.microsoft.com/office/drawing/2014/main" id="{9330D233-F6E7-4E31-B09E-42FFD7E353D9}"/>
              </a:ext>
            </a:extLst>
          </p:cNvPr>
          <p:cNvPicPr>
            <a:picLocks noChangeAspect="1"/>
          </p:cNvPicPr>
          <p:nvPr/>
        </p:nvPicPr>
        <p:blipFill>
          <a:blip r:embed="rId2"/>
          <a:stretch>
            <a:fillRect/>
          </a:stretch>
        </p:blipFill>
        <p:spPr>
          <a:xfrm>
            <a:off x="7276384" y="2200275"/>
            <a:ext cx="4791871" cy="2908044"/>
          </a:xfrm>
          <a:prstGeom prst="rect">
            <a:avLst/>
          </a:prstGeom>
        </p:spPr>
      </p:pic>
      <p:sp>
        <p:nvSpPr>
          <p:cNvPr id="7" name="TextBox 6">
            <a:extLst>
              <a:ext uri="{FF2B5EF4-FFF2-40B4-BE49-F238E27FC236}">
                <a16:creationId xmlns:a16="http://schemas.microsoft.com/office/drawing/2014/main" id="{2B3FC070-F65E-4D3D-8427-A135ADF3FF7F}"/>
              </a:ext>
            </a:extLst>
          </p:cNvPr>
          <p:cNvSpPr txBox="1"/>
          <p:nvPr/>
        </p:nvSpPr>
        <p:spPr>
          <a:xfrm>
            <a:off x="838200" y="6430030"/>
            <a:ext cx="10515600" cy="246221"/>
          </a:xfrm>
          <a:prstGeom prst="rect">
            <a:avLst/>
          </a:prstGeom>
          <a:noFill/>
        </p:spPr>
        <p:txBody>
          <a:bodyPr wrap="square" rtlCol="0">
            <a:spAutoFit/>
          </a:bodyPr>
          <a:lstStyle/>
          <a:p>
            <a:r>
              <a:rPr lang="en-US" sz="1000" baseline="30000" dirty="0">
                <a:latin typeface="+mj-lt"/>
              </a:rPr>
              <a:t>3</a:t>
            </a:r>
            <a:r>
              <a:rPr lang="en-US" sz="1000" dirty="0">
                <a:latin typeface="+mj-lt"/>
              </a:rPr>
              <a:t> See Appendix for limitations of this analysis.</a:t>
            </a:r>
            <a:endParaRPr lang="en-US" sz="1000"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915025" cy="901700"/>
          </a:xfrm>
        </p:spPr>
        <p:txBody>
          <a:bodyPr>
            <a:normAutofit fontScale="92500"/>
          </a:bodyPr>
          <a:lstStyle/>
          <a:p>
            <a:pPr marL="0" indent="0">
              <a:buNone/>
            </a:pPr>
            <a:r>
              <a:rPr lang="en-US" b="1" dirty="0">
                <a:latin typeface="+mj-lt"/>
              </a:rPr>
              <a:t>B. Comparison of regional cereal production data from MAWF, NAB and NHIES</a:t>
            </a:r>
            <a:endParaRPr lang="en-US" b="1" dirty="0"/>
          </a:p>
        </p:txBody>
      </p:sp>
      <p:sp>
        <p:nvSpPr>
          <p:cNvPr id="7" name="TextBox 6">
            <a:extLst>
              <a:ext uri="{FF2B5EF4-FFF2-40B4-BE49-F238E27FC236}">
                <a16:creationId xmlns:a16="http://schemas.microsoft.com/office/drawing/2014/main" id="{93B7C7F0-7F40-4974-A63D-F2B11722D633}"/>
              </a:ext>
            </a:extLst>
          </p:cNvPr>
          <p:cNvSpPr txBox="1"/>
          <p:nvPr/>
        </p:nvSpPr>
        <p:spPr>
          <a:xfrm>
            <a:off x="838199" y="2451798"/>
            <a:ext cx="5829301"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 </a:t>
            </a:r>
          </a:p>
        </p:txBody>
      </p:sp>
      <p:pic>
        <p:nvPicPr>
          <p:cNvPr id="8" name="Picture 7">
            <a:extLst>
              <a:ext uri="{FF2B5EF4-FFF2-40B4-BE49-F238E27FC236}">
                <a16:creationId xmlns:a16="http://schemas.microsoft.com/office/drawing/2014/main" id="{CAE7AD13-FF3F-4AE0-BE4F-C322C5C73E5D}"/>
              </a:ext>
            </a:extLst>
          </p:cNvPr>
          <p:cNvPicPr>
            <a:picLocks noChangeAspect="1"/>
          </p:cNvPicPr>
          <p:nvPr/>
        </p:nvPicPr>
        <p:blipFill>
          <a:blip r:embed="rId2"/>
          <a:stretch>
            <a:fillRect/>
          </a:stretch>
        </p:blipFill>
        <p:spPr>
          <a:xfrm>
            <a:off x="840775" y="3883561"/>
            <a:ext cx="4407790" cy="2609314"/>
          </a:xfrm>
          <a:prstGeom prst="rect">
            <a:avLst/>
          </a:prstGeom>
        </p:spPr>
      </p:pic>
      <p:pic>
        <p:nvPicPr>
          <p:cNvPr id="9" name="Picture 8">
            <a:extLst>
              <a:ext uri="{FF2B5EF4-FFF2-40B4-BE49-F238E27FC236}">
                <a16:creationId xmlns:a16="http://schemas.microsoft.com/office/drawing/2014/main" id="{E554C435-6427-49CB-9CA7-64F2AB5E1580}"/>
              </a:ext>
            </a:extLst>
          </p:cNvPr>
          <p:cNvPicPr>
            <a:picLocks noChangeAspect="1"/>
          </p:cNvPicPr>
          <p:nvPr/>
        </p:nvPicPr>
        <p:blipFill>
          <a:blip r:embed="rId3"/>
          <a:stretch>
            <a:fillRect/>
          </a:stretch>
        </p:blipFill>
        <p:spPr>
          <a:xfrm>
            <a:off x="6943436" y="1045886"/>
            <a:ext cx="4871175" cy="2609314"/>
          </a:xfrm>
          <a:prstGeom prst="rect">
            <a:avLst/>
          </a:prstGeom>
        </p:spPr>
      </p:pic>
      <p:pic>
        <p:nvPicPr>
          <p:cNvPr id="10" name="Picture 9">
            <a:extLst>
              <a:ext uri="{FF2B5EF4-FFF2-40B4-BE49-F238E27FC236}">
                <a16:creationId xmlns:a16="http://schemas.microsoft.com/office/drawing/2014/main" id="{A0592D63-718A-4D07-BA41-41249AEEE9B3}"/>
              </a:ext>
            </a:extLst>
          </p:cNvPr>
          <p:cNvPicPr>
            <a:picLocks noChangeAspect="1"/>
          </p:cNvPicPr>
          <p:nvPr/>
        </p:nvPicPr>
        <p:blipFill>
          <a:blip r:embed="rId4"/>
          <a:stretch>
            <a:fillRect/>
          </a:stretch>
        </p:blipFill>
        <p:spPr>
          <a:xfrm>
            <a:off x="6943436" y="3883561"/>
            <a:ext cx="4873752" cy="2618528"/>
          </a:xfrm>
          <a:prstGeom prst="rect">
            <a:avLst/>
          </a:prstGeom>
        </p:spPr>
      </p:pic>
    </p:spTree>
    <p:extLst>
      <p:ext uri="{BB962C8B-B14F-4D97-AF65-F5344CB8AC3E}">
        <p14:creationId xmlns:p14="http://schemas.microsoft.com/office/powerpoint/2010/main" val="406067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fontScale="85000" lnSpcReduction="10000"/>
          </a:bodyPr>
          <a:lstStyle/>
          <a:p>
            <a:pPr marL="0" indent="0">
              <a:buNone/>
            </a:pPr>
            <a:r>
              <a:rPr lang="en-US" b="1" dirty="0">
                <a:latin typeface="+mj-lt"/>
              </a:rPr>
              <a:t>C. Mapping of regional and temporal variations in household-level grain consumption</a:t>
            </a:r>
            <a:endParaRPr lang="en-US"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30030"/>
            <a:ext cx="10515600" cy="246221"/>
          </a:xfrm>
          <a:prstGeom prst="rect">
            <a:avLst/>
          </a:prstGeom>
          <a:noFill/>
        </p:spPr>
        <p:txBody>
          <a:bodyPr wrap="square" rtlCol="0">
            <a:spAutoFit/>
          </a:bodyPr>
          <a:lstStyle/>
          <a:p>
            <a:r>
              <a:rPr lang="en-US" sz="1000" baseline="30000" dirty="0">
                <a:latin typeface="+mj-lt"/>
              </a:rPr>
              <a:t>3</a:t>
            </a:r>
            <a:r>
              <a:rPr lang="en-US" sz="1000" dirty="0">
                <a:latin typeface="+mj-lt"/>
              </a:rPr>
              <a:t> See Appendix for limitations of this analysis.</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43100"/>
            <a:ext cx="10264902"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mj-lt"/>
              </a:rPr>
              <a:t>Household consumption of “other cereals” from own production as recorded in the household file was highest during and following the main harvest period (May-August).</a:t>
            </a:r>
          </a:p>
        </p:txBody>
      </p:sp>
      <p:pic>
        <p:nvPicPr>
          <p:cNvPr id="10" name="Picture 9" descr="Chart, line chart&#10;&#10;Description automatically generated">
            <a:extLst>
              <a:ext uri="{FF2B5EF4-FFF2-40B4-BE49-F238E27FC236}">
                <a16:creationId xmlns:a16="http://schemas.microsoft.com/office/drawing/2014/main" id="{EB8D201A-6006-4ECE-B6C9-5FB87B1A2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094798"/>
            <a:ext cx="4876800" cy="3352799"/>
          </a:xfrm>
          <a:prstGeom prst="rect">
            <a:avLst/>
          </a:prstGeom>
        </p:spPr>
      </p:pic>
      <p:pic>
        <p:nvPicPr>
          <p:cNvPr id="12" name="Picture 11" descr="Chart, line chart&#10;&#10;Description automatically generated">
            <a:extLst>
              <a:ext uri="{FF2B5EF4-FFF2-40B4-BE49-F238E27FC236}">
                <a16:creationId xmlns:a16="http://schemas.microsoft.com/office/drawing/2014/main" id="{DB8FA20E-96D3-4D83-A3A7-E6B2031098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350" y="3096892"/>
            <a:ext cx="4873752" cy="3350705"/>
          </a:xfrm>
          <a:prstGeom prst="rect">
            <a:avLst/>
          </a:prstGeom>
        </p:spPr>
      </p:pic>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fontScale="85000" lnSpcReduction="10000"/>
          </a:bodyPr>
          <a:lstStyle/>
          <a:p>
            <a:pPr marL="0" indent="0">
              <a:buNone/>
            </a:pPr>
            <a:r>
              <a:rPr lang="en-US" b="1" dirty="0">
                <a:latin typeface="+mj-lt"/>
              </a:rPr>
              <a:t>C. Mapping of regional and temporal variations in household-level grain consumption</a:t>
            </a:r>
            <a:endParaRPr lang="en-US"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199" y="1933575"/>
            <a:ext cx="10515599"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mj-lt"/>
              </a:rPr>
              <a:t>Using the DRB file, incidence of </a:t>
            </a:r>
            <a:r>
              <a:rPr lang="en-US" sz="2400" dirty="0" err="1">
                <a:latin typeface="+mj-lt"/>
              </a:rPr>
              <a:t>mahangu</a:t>
            </a:r>
            <a:r>
              <a:rPr lang="en-US" sz="2400" dirty="0">
                <a:latin typeface="+mj-lt"/>
              </a:rPr>
              <a:t> consumption from own production follows a similar pattern. However, consumption of purchased maize and bread also remain significant even in high </a:t>
            </a:r>
            <a:r>
              <a:rPr lang="en-US" sz="2400" dirty="0" err="1">
                <a:latin typeface="+mj-lt"/>
              </a:rPr>
              <a:t>mahangu</a:t>
            </a:r>
            <a:r>
              <a:rPr lang="en-US" sz="2400" dirty="0">
                <a:latin typeface="+mj-lt"/>
              </a:rPr>
              <a:t>-producing regions.</a:t>
            </a:r>
          </a:p>
        </p:txBody>
      </p:sp>
      <p:pic>
        <p:nvPicPr>
          <p:cNvPr id="5" name="Picture 4" descr="Chart, line chart&#10;&#10;Description automatically generated">
            <a:extLst>
              <a:ext uri="{FF2B5EF4-FFF2-40B4-BE49-F238E27FC236}">
                <a16:creationId xmlns:a16="http://schemas.microsoft.com/office/drawing/2014/main" id="{C408F6A5-0E57-4AEC-905F-17FA90A93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304096"/>
            <a:ext cx="4873752" cy="3350704"/>
          </a:xfrm>
          <a:prstGeom prst="rect">
            <a:avLst/>
          </a:prstGeom>
        </p:spPr>
      </p:pic>
      <p:pic>
        <p:nvPicPr>
          <p:cNvPr id="9" name="Picture 8" descr="Chart, line chart&#10;&#10;Description automatically generated">
            <a:extLst>
              <a:ext uri="{FF2B5EF4-FFF2-40B4-BE49-F238E27FC236}">
                <a16:creationId xmlns:a16="http://schemas.microsoft.com/office/drawing/2014/main" id="{BEDBAE8A-BCBA-4D9B-8F37-80FC932B5D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0048" y="3304096"/>
            <a:ext cx="4873752" cy="3350704"/>
          </a:xfrm>
          <a:prstGeom prst="rect">
            <a:avLst/>
          </a:prstGeom>
        </p:spPr>
      </p:pic>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mj-lt"/>
              </a:rPr>
              <a:t>All analysis files, dependencies, source code and charts/graphs can be found on </a:t>
            </a:r>
            <a:r>
              <a:rPr lang="en-US" sz="2400" b="1" dirty="0">
                <a:solidFill>
                  <a:schemeClr val="accent1"/>
                </a:solidFill>
                <a:latin typeface="+mj-lt"/>
                <a:hlinkClick r:id="rId2"/>
              </a:rPr>
              <a:t>GitHub</a:t>
            </a:r>
            <a:r>
              <a:rPr lang="en-US" sz="2400"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2000" b="1" dirty="0">
                <a:latin typeface="+mj-lt"/>
              </a:rPr>
              <a:t>Data Sources</a:t>
            </a:r>
            <a:r>
              <a:rPr lang="en-US" sz="2000" dirty="0">
                <a:latin typeface="+mj-lt"/>
              </a:rPr>
              <a:t>: </a:t>
            </a:r>
            <a:r>
              <a:rPr lang="en-US" sz="2000" b="0" kern="1200" dirty="0">
                <a:solidFill>
                  <a:schemeClr val="tx1"/>
                </a:solidFill>
                <a:latin typeface="+mj-lt"/>
                <a:ea typeface="+mn-ea"/>
                <a:cs typeface="+mn-cs"/>
              </a:rPr>
              <a:t>NHIES 2015/16 Household Dataset file</a:t>
            </a:r>
            <a:endParaRPr lang="en-US" sz="2000" dirty="0">
              <a:latin typeface="+mj-lt"/>
            </a:endParaRPr>
          </a:p>
          <a:p>
            <a:pPr marL="512064">
              <a:spcBef>
                <a:spcPts val="1200"/>
              </a:spcBef>
              <a:spcAft>
                <a:spcPts val="1200"/>
              </a:spcAft>
              <a:buFont typeface="Wingdings" panose="05000000000000000000" pitchFamily="2" charset="2"/>
              <a:buChar char="§"/>
            </a:pPr>
            <a:r>
              <a:rPr lang="en-US" sz="2000" b="1" dirty="0">
                <a:latin typeface="+mj-lt"/>
              </a:rPr>
              <a:t>Materials</a:t>
            </a:r>
            <a:r>
              <a:rPr lang="en-US" sz="2000" dirty="0">
                <a:latin typeface="+mj-lt"/>
              </a:rPr>
              <a:t>: Python 3.8</a:t>
            </a:r>
          </a:p>
          <a:p>
            <a:pPr marL="512064">
              <a:spcBef>
                <a:spcPts val="1200"/>
              </a:spcBef>
              <a:spcAft>
                <a:spcPts val="1200"/>
              </a:spcAft>
              <a:buFont typeface="Wingdings" panose="05000000000000000000" pitchFamily="2" charset="2"/>
              <a:buChar char="§"/>
            </a:pPr>
            <a:r>
              <a:rPr lang="en-US" sz="2000" b="1" dirty="0">
                <a:latin typeface="+mj-lt"/>
              </a:rPr>
              <a:t>Analysis</a:t>
            </a:r>
            <a:r>
              <a:rPr lang="en-US" sz="2000" dirty="0">
                <a:latin typeface="+mj-lt"/>
              </a:rPr>
              <a:t> </a:t>
            </a:r>
            <a:r>
              <a:rPr lang="en-US" sz="2000" b="1" dirty="0">
                <a:latin typeface="+mj-lt"/>
              </a:rPr>
              <a:t>Process</a:t>
            </a:r>
            <a:r>
              <a:rPr lang="en-US" sz="20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2000" b="1" dirty="0">
                <a:latin typeface="+mj-lt"/>
              </a:rPr>
              <a:t>Limitations</a:t>
            </a:r>
            <a:r>
              <a:rPr lang="en-US" sz="2000" dirty="0">
                <a:latin typeface="+mj-lt"/>
              </a:rPr>
              <a:t>: </a:t>
            </a:r>
            <a:r>
              <a:rPr lang="en-US" sz="2000" b="0" dirty="0">
                <a:latin typeface="+mj-lt"/>
              </a:rPr>
              <a:t>The household dataset/questionnaire did not allow analysis of consumption by specific grain type (e.g., maize, </a:t>
            </a:r>
            <a:r>
              <a:rPr lang="en-US" sz="2000" b="0" dirty="0" err="1">
                <a:latin typeface="+mj-lt"/>
              </a:rPr>
              <a:t>mahangu</a:t>
            </a:r>
            <a:r>
              <a:rPr lang="en-US" sz="20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fontScale="85000" lnSpcReduction="10000"/>
          </a:bodyPr>
          <a:lstStyle/>
          <a:p>
            <a:pPr marL="512064">
              <a:spcBef>
                <a:spcPts val="1200"/>
              </a:spcBef>
              <a:spcAft>
                <a:spcPts val="1200"/>
              </a:spcAft>
              <a:buFont typeface="Wingdings" panose="05000000000000000000" pitchFamily="2" charset="2"/>
              <a:buChar char="§"/>
            </a:pPr>
            <a:r>
              <a:rPr lang="en-US" sz="2400" b="1" dirty="0">
                <a:latin typeface="+mj-lt"/>
              </a:rPr>
              <a:t>Data Sources</a:t>
            </a:r>
            <a:r>
              <a:rPr lang="en-US" sz="2400" dirty="0">
                <a:latin typeface="+mj-lt"/>
              </a:rPr>
              <a:t>: </a:t>
            </a:r>
            <a:r>
              <a:rPr lang="en-US" sz="2400" b="0" kern="1200" dirty="0">
                <a:solidFill>
                  <a:schemeClr val="tx1"/>
                </a:solidFill>
                <a:latin typeface="+mj-lt"/>
                <a:ea typeface="+mn-ea"/>
                <a:cs typeface="+mn-cs"/>
              </a:rPr>
              <a:t>NHIES 2015/16 Household Dataset file; MAWF regional crop production data; NAB commercial and import data; Namibia Inter-</a:t>
            </a:r>
            <a:r>
              <a:rPr lang="en-US" sz="2400" b="0" kern="1200" dirty="0" err="1">
                <a:solidFill>
                  <a:schemeClr val="tx1"/>
                </a:solidFill>
                <a:latin typeface="+mj-lt"/>
                <a:ea typeface="+mn-ea"/>
                <a:cs typeface="+mn-cs"/>
              </a:rPr>
              <a:t>censal</a:t>
            </a:r>
            <a:r>
              <a:rPr lang="en-US" sz="2400" b="0" kern="1200" dirty="0">
                <a:solidFill>
                  <a:schemeClr val="tx1"/>
                </a:solidFill>
                <a:latin typeface="+mj-lt"/>
                <a:ea typeface="+mn-ea"/>
                <a:cs typeface="+mn-cs"/>
              </a:rPr>
              <a:t> Demographic Survey</a:t>
            </a:r>
            <a:endParaRPr lang="en-US" sz="2400" dirty="0">
              <a:latin typeface="+mj-lt"/>
            </a:endParaRPr>
          </a:p>
          <a:p>
            <a:pPr marL="512064">
              <a:spcBef>
                <a:spcPts val="1200"/>
              </a:spcBef>
              <a:spcAft>
                <a:spcPts val="1200"/>
              </a:spcAft>
              <a:buFont typeface="Wingdings" panose="05000000000000000000" pitchFamily="2" charset="2"/>
              <a:buChar char="§"/>
            </a:pPr>
            <a:r>
              <a:rPr lang="en-US" sz="2400" b="1" dirty="0">
                <a:latin typeface="+mj-lt"/>
              </a:rPr>
              <a:t>Materials</a:t>
            </a:r>
            <a:r>
              <a:rPr lang="en-US" sz="2400" dirty="0">
                <a:latin typeface="+mj-lt"/>
              </a:rPr>
              <a:t>: Python 3.8</a:t>
            </a:r>
          </a:p>
          <a:p>
            <a:pPr marL="512064">
              <a:spcBef>
                <a:spcPts val="1200"/>
              </a:spcBef>
              <a:spcAft>
                <a:spcPts val="1200"/>
              </a:spcAft>
              <a:buFont typeface="Wingdings" panose="05000000000000000000" pitchFamily="2" charset="2"/>
              <a:buChar char="§"/>
            </a:pPr>
            <a:r>
              <a:rPr lang="en-US" sz="2400" b="1" dirty="0">
                <a:latin typeface="+mj-lt"/>
              </a:rPr>
              <a:t>Analysis</a:t>
            </a:r>
            <a:r>
              <a:rPr lang="en-US" sz="2400" dirty="0">
                <a:latin typeface="+mj-lt"/>
              </a:rPr>
              <a:t> </a:t>
            </a:r>
            <a:r>
              <a:rPr lang="en-US" sz="2400" b="1" dirty="0">
                <a:latin typeface="+mj-lt"/>
              </a:rPr>
              <a:t>Process</a:t>
            </a:r>
            <a:r>
              <a:rPr lang="en-US" sz="24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2400" dirty="0" err="1">
                <a:latin typeface="+mj-lt"/>
              </a:rPr>
              <a:t>censal</a:t>
            </a:r>
            <a:r>
              <a:rPr lang="en-US" sz="2400" dirty="0">
                <a:latin typeface="+mj-lt"/>
              </a:rPr>
              <a:t> Survey 2016.</a:t>
            </a:r>
          </a:p>
          <a:p>
            <a:pPr marL="512064">
              <a:spcBef>
                <a:spcPts val="1200"/>
              </a:spcBef>
              <a:spcAft>
                <a:spcPts val="1200"/>
              </a:spcAft>
              <a:buFont typeface="Wingdings" panose="05000000000000000000" pitchFamily="2" charset="2"/>
              <a:buChar char="§"/>
            </a:pPr>
            <a:r>
              <a:rPr lang="en-US" sz="2400" b="1" dirty="0">
                <a:latin typeface="+mj-lt"/>
              </a:rPr>
              <a:t>Limitations</a:t>
            </a:r>
            <a:r>
              <a:rPr lang="en-US" sz="2400" dirty="0">
                <a:latin typeface="+mj-lt"/>
              </a:rPr>
              <a:t>: MAWF only collects/records maize crop production estimates for high-production regions (East and West </a:t>
            </a:r>
            <a:r>
              <a:rPr lang="en-US" sz="2400" dirty="0" err="1">
                <a:latin typeface="+mj-lt"/>
              </a:rPr>
              <a:t>Kavango</a:t>
            </a:r>
            <a:r>
              <a:rPr lang="en-US" sz="2400" dirty="0">
                <a:latin typeface="+mj-lt"/>
              </a:rPr>
              <a:t>, Zambezi) making comparison with other regions impossible. NHIES likely captured at least one large-scale (or commercial) maize and </a:t>
            </a:r>
            <a:r>
              <a:rPr lang="en-US" sz="2400" dirty="0" err="1">
                <a:latin typeface="+mj-lt"/>
              </a:rPr>
              <a:t>mahangu</a:t>
            </a:r>
            <a:r>
              <a:rPr lang="en-US" sz="2400" dirty="0">
                <a:latin typeface="+mj-lt"/>
              </a:rPr>
              <a:t> operation. Medians were used to minimize the impact of these outliers. NHIES data also relies on household reports whereas MAWF uses crop cuttings to support estimates.</a:t>
            </a:r>
          </a:p>
        </p:txBody>
      </p:sp>
    </p:spTree>
    <p:extLst>
      <p:ext uri="{BB962C8B-B14F-4D97-AF65-F5344CB8AC3E}">
        <p14:creationId xmlns:p14="http://schemas.microsoft.com/office/powerpoint/2010/main" val="2223393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2000" b="1" dirty="0">
                <a:latin typeface="+mj-lt"/>
              </a:rPr>
              <a:t>Data Sources</a:t>
            </a:r>
            <a:r>
              <a:rPr lang="en-US" sz="2000" dirty="0">
                <a:latin typeface="+mj-lt"/>
              </a:rPr>
              <a:t>: </a:t>
            </a:r>
            <a:r>
              <a:rPr lang="en-US" sz="2000" b="0" kern="1200" dirty="0">
                <a:solidFill>
                  <a:schemeClr val="tx1"/>
                </a:solidFill>
                <a:latin typeface="+mj-lt"/>
                <a:ea typeface="+mn-ea"/>
                <a:cs typeface="+mn-cs"/>
              </a:rPr>
              <a:t>NHIES 2015/16 Household Dataset file and Daily Record Book Dataset file</a:t>
            </a:r>
            <a:endParaRPr lang="en-US" sz="2000" dirty="0">
              <a:latin typeface="+mj-lt"/>
            </a:endParaRPr>
          </a:p>
          <a:p>
            <a:pPr marL="512064">
              <a:spcBef>
                <a:spcPts val="1200"/>
              </a:spcBef>
              <a:spcAft>
                <a:spcPts val="1200"/>
              </a:spcAft>
              <a:buFont typeface="Wingdings" panose="05000000000000000000" pitchFamily="2" charset="2"/>
              <a:buChar char="§"/>
            </a:pPr>
            <a:r>
              <a:rPr lang="en-US" sz="2000" b="1" dirty="0">
                <a:latin typeface="+mj-lt"/>
              </a:rPr>
              <a:t>Materials</a:t>
            </a:r>
            <a:r>
              <a:rPr lang="en-US" sz="2000" dirty="0">
                <a:latin typeface="+mj-lt"/>
              </a:rPr>
              <a:t>: Python 3.8</a:t>
            </a:r>
          </a:p>
          <a:p>
            <a:pPr marL="512064">
              <a:spcBef>
                <a:spcPts val="1200"/>
              </a:spcBef>
              <a:spcAft>
                <a:spcPts val="600"/>
              </a:spcAft>
              <a:buFont typeface="Wingdings" panose="05000000000000000000" pitchFamily="2" charset="2"/>
              <a:buChar char="§"/>
            </a:pPr>
            <a:r>
              <a:rPr lang="en-US" sz="2000" b="1" dirty="0">
                <a:latin typeface="+mj-lt"/>
              </a:rPr>
              <a:t>Analysis</a:t>
            </a:r>
            <a:r>
              <a:rPr lang="en-US" sz="2000" dirty="0">
                <a:latin typeface="+mj-lt"/>
              </a:rPr>
              <a:t> </a:t>
            </a:r>
            <a:r>
              <a:rPr lang="en-US" sz="2000" b="1" dirty="0">
                <a:latin typeface="+mj-lt"/>
              </a:rPr>
              <a:t>Process</a:t>
            </a:r>
            <a:r>
              <a:rPr lang="en-US" sz="2000" dirty="0">
                <a:latin typeface="+mj-lt"/>
              </a:rPr>
              <a:t>: A clean survey date variable [</a:t>
            </a:r>
            <a:r>
              <a:rPr lang="en-US" sz="1600" dirty="0" err="1">
                <a:latin typeface="Cascadia Code" panose="020B0609020000020004" pitchFamily="49" charset="0"/>
                <a:cs typeface="Cascadia Code" panose="020B0609020000020004" pitchFamily="49" charset="0"/>
              </a:rPr>
              <a:t>start_date</a:t>
            </a:r>
            <a:r>
              <a:rPr lang="en-US" sz="2000" dirty="0">
                <a:latin typeface="+mj-lt"/>
              </a:rPr>
              <a:t>] was created based on [</a:t>
            </a:r>
            <a:r>
              <a:rPr lang="en-US" sz="1600" dirty="0" err="1">
                <a:latin typeface="Cascadia Code" panose="020B0609020000020004" pitchFamily="49" charset="0"/>
                <a:cs typeface="Cascadia Code" panose="020B0609020000020004" pitchFamily="49" charset="0"/>
              </a:rPr>
              <a:t>ah_start_date</a:t>
            </a:r>
            <a:r>
              <a:rPr lang="en-US" sz="2000" dirty="0">
                <a:latin typeface="+mj-lt"/>
              </a:rPr>
              <a:t>] from the household file. The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2000" dirty="0">
                <a:latin typeface="+mj-lt"/>
              </a:rPr>
              <a:t>For the DRB analysis, the same date variable was used (merged into DRB file on HHID)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2000" b="1" dirty="0">
                <a:latin typeface="+mj-lt"/>
              </a:rPr>
              <a:t>Limitations</a:t>
            </a:r>
            <a:r>
              <a:rPr lang="en-US" sz="20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TotalTime>
  <Words>1087</Words>
  <Application>Microsoft Office PowerPoint</Application>
  <PresentationFormat>Widescreen</PresentationFormat>
  <Paragraphs>59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IV. Appendix: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Aaron WISE</cp:lastModifiedBy>
  <cp:revision>34</cp:revision>
  <dcterms:created xsi:type="dcterms:W3CDTF">2020-10-13T02:26:37Z</dcterms:created>
  <dcterms:modified xsi:type="dcterms:W3CDTF">2020-10-13T13:41:18Z</dcterms:modified>
</cp:coreProperties>
</file>