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71" r:id="rId11"/>
    <p:sldId id="262"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6"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06" autoAdjust="0"/>
    <p:restoredTop sz="94660"/>
  </p:normalViewPr>
  <p:slideViewPr>
    <p:cSldViewPr snapToGrid="0">
      <p:cViewPr varScale="1">
        <p:scale>
          <a:sx n="61" d="100"/>
          <a:sy n="61" d="100"/>
        </p:scale>
        <p:origin x="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0-13T21:57:39.564" idx="4">
    <p:pos x="3890" y="1752"/>
    <p:text>Add the data points</p:text>
    <p:extLst>
      <p:ext uri="{C676402C-5697-4E1C-873F-D02D1690AC5C}">
        <p15:threadingInfo xmlns:p15="http://schemas.microsoft.com/office/powerpoint/2012/main" timeZoneBias="-120"/>
      </p:ext>
    </p:extLst>
  </p:cm>
  <p:cm authorId="2" dt="2020-10-17T11:32:18.855" idx="4">
    <p:pos x="3890" y="1848"/>
    <p:text>@Karen, I added the data points but with all the regions and three values each, the chart because very busy and difficult to read. I suggest to keep data labels out and let the reader determine from the y-axis gridlines or look up specific numbers in the data tables</p:text>
    <p:extLst>
      <p:ext uri="{C676402C-5697-4E1C-873F-D02D1690AC5C}">
        <p15:threadingInfo xmlns:p15="http://schemas.microsoft.com/office/powerpoint/2012/main" timeZoneBias="-420">
          <p15:parentCm authorId="1" idx="4"/>
        </p15:threadingInfo>
      </p:ext>
    </p:extLst>
  </p:cm>
  <p:cm authorId="1" dt="2020-10-18T20:24:29.507" idx="31">
    <p:pos x="3890" y="1944"/>
    <p:text>Ok to look at the data tables if we will have them</p:text>
    <p:extLst>
      <p:ext uri="{C676402C-5697-4E1C-873F-D02D1690AC5C}">
        <p15:threadingInfo xmlns:p15="http://schemas.microsoft.com/office/powerpoint/2012/main" timeZoneBias="-120">
          <p15:parentCm authorId="1" idx="4"/>
        </p15:threadingInfo>
      </p:ext>
    </p:extLst>
  </p:cm>
  <p:cm authorId="2" dt="2020-10-19T13:38:25.300" idx="33">
    <p:pos x="3890" y="2040"/>
    <p:text>Let's discuss how you plan to link the presentation, report and formatted data tables</p:text>
    <p:extLst>
      <p:ext uri="{C676402C-5697-4E1C-873F-D02D1690AC5C}">
        <p15:threadingInfo xmlns:p15="http://schemas.microsoft.com/office/powerpoint/2012/main" timeZoneBias="-420">
          <p15:parentCm authorId="1" idx="4"/>
        </p15:threadingInfo>
      </p:ext>
    </p:extLst>
  </p:cm>
  <p:cm authorId="1" dt="2020-10-18T20:24:50.806" idx="32">
    <p:pos x="6989" y="3690"/>
    <p:text>I don't know - it depends how many HHs grow these cereals in urban areas. My assumption is none or very little. But I think if we are going to show total for rural only we should show regions for rural only</p:text>
    <p:extLst>
      <p:ext uri="{C676402C-5697-4E1C-873F-D02D1690AC5C}">
        <p15:threadingInfo xmlns:p15="http://schemas.microsoft.com/office/powerpoint/2012/main" timeZoneBias="-120"/>
      </p:ext>
    </p:extLst>
  </p:cm>
  <p:cm authorId="2" dt="2020-10-19T13:37:13.506" idx="32">
    <p:pos x="6989" y="3786"/>
    <p:text>Have changed data in bullet to reflect total households and updated Total bar chart data to match (as per guidance in your 18 Oct email)</p:text>
    <p:extLst>
      <p:ext uri="{C676402C-5697-4E1C-873F-D02D1690AC5C}">
        <p15:threadingInfo xmlns:p15="http://schemas.microsoft.com/office/powerpoint/2012/main" timeZoneBias="-420">
          <p15:parentCm authorId="1" idx="32"/>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10-13T22:08:28.349" idx="9">
    <p:pos x="3224" y="188"/>
    <p:text>I feel like we first need to explain that through the HH questionnaire HH reported on production and consumption and for production they reported what they did with it - sold it, ate it etc.</p:text>
    <p:extLst>
      <p:ext uri="{C676402C-5697-4E1C-873F-D02D1690AC5C}">
        <p15:threadingInfo xmlns:p15="http://schemas.microsoft.com/office/powerpoint/2012/main" timeZoneBias="-120"/>
      </p:ext>
    </p:extLst>
  </p:cm>
  <p:cm authorId="2" dt="2020-10-17T12:34:46.353" idx="11">
    <p:pos x="3224" y="284"/>
    <p:text>OK. I have placed this intro text in the previous slide, maybe it fits better there?</p:text>
    <p:extLst>
      <p:ext uri="{C676402C-5697-4E1C-873F-D02D1690AC5C}">
        <p15:threadingInfo xmlns:p15="http://schemas.microsoft.com/office/powerpoint/2012/main" timeZoneBias="-420">
          <p15:parentCm authorId="1" idx="9"/>
        </p15:threadingInfo>
      </p:ext>
    </p:extLst>
  </p:cm>
  <p:cm authorId="1" dt="2020-10-18T20:27:23.777" idx="33">
    <p:pos x="3224" y="380"/>
    <p:text>Yes saw that</p:text>
    <p:extLst>
      <p:ext uri="{C676402C-5697-4E1C-873F-D02D1690AC5C}">
        <p15:threadingInfo xmlns:p15="http://schemas.microsoft.com/office/powerpoint/2012/main" timeZoneBias="-120">
          <p15:parentCm authorId="1" idx="9"/>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0-10-18T20:33:05.547" idx="34">
    <p:pos x="6634" y="826"/>
    <p:text>I think the point is that whereas both maize and mahangu are grown in Namibia, as shown in Fig 1, relatively few HH grow these cereals, so even HH growing need to purchase to supplement the home production (Fig 2)</p:text>
    <p:extLst>
      <p:ext uri="{C676402C-5697-4E1C-873F-D02D1690AC5C}">
        <p15:threadingInfo xmlns:p15="http://schemas.microsoft.com/office/powerpoint/2012/main" timeZoneBias="-120"/>
      </p:ext>
    </p:extLst>
  </p:cm>
  <p:cm authorId="2" dt="2020-10-19T13:55:21.969" idx="35">
    <p:pos x="6634" y="922"/>
    <p:text>Yes, a fair % of households grow some combination of mahangu/maize/sorghum in the norther regions but the quantity they produce is not enough to cover their needs for an entire year.</p:text>
    <p:extLst>
      <p:ext uri="{C676402C-5697-4E1C-873F-D02D1690AC5C}">
        <p15:threadingInfo xmlns:p15="http://schemas.microsoft.com/office/powerpoint/2012/main" timeZoneBias="-420">
          <p15:parentCm authorId="1" idx="34"/>
        </p15:threadingInfo>
      </p:ext>
    </p:extLst>
  </p:cm>
  <p:cm authorId="1" dt="2020-10-18T20:36:05.757" idx="35">
    <p:pos x="5768" y="2445"/>
    <p:text>How do you feel about changing to "Maize is both commercially (rain fed and irrigated) and communally grown but a significant proportion is also imported. Imported and commercially grown maize make up the majority of maize for consumption"</p:text>
    <p:extLst>
      <p:ext uri="{C676402C-5697-4E1C-873F-D02D1690AC5C}">
        <p15:threadingInfo xmlns:p15="http://schemas.microsoft.com/office/powerpoint/2012/main" timeZoneBias="-120"/>
      </p:ext>
    </p:extLst>
  </p:cm>
  <p:cm authorId="2" dt="2020-10-19T13:52:45.124" idx="34">
    <p:pos x="5768" y="2541"/>
    <p:text>Works for me.</p:text>
    <p:extLst>
      <p:ext uri="{C676402C-5697-4E1C-873F-D02D1690AC5C}">
        <p15:threadingInfo xmlns:p15="http://schemas.microsoft.com/office/powerpoint/2012/main" timeZoneBias="-420">
          <p15:parentCm authorId="1" idx="35"/>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0-10-13T22:47:20.479" idx="30">
    <p:pos x="4991" y="479"/>
    <p:text>For these charts which are based on % of HHs you were also going to include a little stacked bar chart with quantities of these foods consumed - if I am remembering our discussion correctly?</p:text>
    <p:extLst>
      <p:ext uri="{C676402C-5697-4E1C-873F-D02D1690AC5C}">
        <p15:threadingInfo xmlns:p15="http://schemas.microsoft.com/office/powerpoint/2012/main" timeZoneBias="-120"/>
      </p:ext>
    </p:extLst>
  </p:cm>
  <p:cm authorId="2" dt="2020-10-17T15:37:31.860" idx="24">
    <p:pos x="4991" y="575"/>
    <p:text>Am working on a way to do this cleanly, will take a little bit longer</p:text>
    <p:extLst>
      <p:ext uri="{C676402C-5697-4E1C-873F-D02D1690AC5C}">
        <p15:threadingInfo xmlns:p15="http://schemas.microsoft.com/office/powerpoint/2012/main" timeZoneBias="-420">
          <p15:parentCm authorId="1" idx="30"/>
        </p15:threadingInfo>
      </p:ext>
    </p:extLst>
  </p:cm>
  <p:cm authorId="2" dt="2020-10-19T13:55:59.023" idx="36">
    <p:pos x="4991" y="671"/>
    <p:text>See email 19 October</p:text>
    <p:extLst>
      <p:ext uri="{C676402C-5697-4E1C-873F-D02D1690AC5C}">
        <p15:threadingInfo xmlns:p15="http://schemas.microsoft.com/office/powerpoint/2012/main" timeZoneBias="-420">
          <p15:parentCm authorId="1" idx="30"/>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0-10-18T20:44:48.766" idx="36">
    <p:pos x="3731" y="2605"/>
    <p:text>Fig 8 - I feel a better title would be Proportion of HH consuming own production mahangu, purchased maize and bread. And footnote is needed to say "Kavango West was chosen as an example of consumption patterns; all mahangu-growing regions had similar patterns of cereal consumption. No other forms of cereals eg. own production maize was consumed by a significant proportion of households"</p:text>
    <p:extLst>
      <p:ext uri="{C676402C-5697-4E1C-873F-D02D1690AC5C}">
        <p15:threadingInfo xmlns:p15="http://schemas.microsoft.com/office/powerpoint/2012/main" timeZoneBias="-120"/>
      </p:ext>
    </p:extLst>
  </p:cm>
  <p:cm authorId="2" dt="2020-10-19T14:10:18.338" idx="37">
    <p:pos x="3731" y="2701"/>
    <p:text>Let's discuss since what is being depicted is not % of households but rather % of all food items consumed during the 7-day window</p:text>
    <p:extLst>
      <p:ext uri="{C676402C-5697-4E1C-873F-D02D1690AC5C}">
        <p15:threadingInfo xmlns:p15="http://schemas.microsoft.com/office/powerpoint/2012/main" timeZoneBias="-420">
          <p15:parentCm authorId="1" idx="36"/>
        </p15:threadingInfo>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19-Oct-20</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19-Oct-20</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comments" Target="../comments/comment4.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aaronbwise/NHIES-Analysi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3240088"/>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5048250"/>
            <a:ext cx="9144000" cy="369332"/>
          </a:xfrm>
          <a:prstGeom prst="rect">
            <a:avLst/>
          </a:prstGeom>
          <a:noFill/>
        </p:spPr>
        <p:txBody>
          <a:bodyPr wrap="square" rtlCol="0">
            <a:spAutoFit/>
          </a:bodyPr>
          <a:lstStyle/>
          <a:p>
            <a:pPr algn="ctr"/>
            <a:r>
              <a:rPr lang="en-US" dirty="0">
                <a:highlight>
                  <a:srgbClr val="FFFF00"/>
                </a:highlight>
                <a:latin typeface="+mj-lt"/>
              </a:rPr>
              <a:t>Date</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 Summary of Methods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r>
              <a:rPr lang="en-US" sz="2400" baseline="30000" dirty="0">
                <a:latin typeface="+mj-lt"/>
              </a:rPr>
              <a:t>3</a:t>
            </a:r>
            <a:endParaRPr lang="en-US" sz="24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a:t>
            </a:r>
          </a:p>
          <a:p>
            <a:r>
              <a:rPr lang="en-US" sz="900" baseline="30000" dirty="0">
                <a:latin typeface="+mj-lt"/>
              </a:rPr>
              <a:t>4 </a:t>
            </a:r>
            <a:r>
              <a:rPr lang="en-US" sz="900" dirty="0">
                <a:latin typeface="+mj-lt"/>
              </a:rPr>
              <a:t>A negligible proportion of households reported growing wheat (0.05%)</a:t>
            </a:r>
          </a:p>
        </p:txBody>
      </p:sp>
      <p:pic>
        <p:nvPicPr>
          <p:cNvPr id="7" name="Picture 6" descr="Chart, bar chart&#10;&#10;Description automatically generated">
            <a:extLst>
              <a:ext uri="{FF2B5EF4-FFF2-40B4-BE49-F238E27FC236}">
                <a16:creationId xmlns:a16="http://schemas.microsoft.com/office/drawing/2014/main" id="{0A44D8A3-3DB1-4EE3-8FB1-82BE473BA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1526" y="2141617"/>
            <a:ext cx="6902335" cy="3652058"/>
          </a:xfrm>
          <a:prstGeom prst="rect">
            <a:avLst/>
          </a:prstGeom>
        </p:spPr>
      </p:pic>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endParaRPr lang="en-US" sz="24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for limitations of this analysis.</a:t>
            </a:r>
            <a:endParaRPr lang="en-US" sz="900" dirty="0"/>
          </a:p>
        </p:txBody>
      </p:sp>
      <p:pic>
        <p:nvPicPr>
          <p:cNvPr id="8" name="Picture 7" descr="Chart, bar chart&#10;&#10;Description automatically generated">
            <a:extLst>
              <a:ext uri="{FF2B5EF4-FFF2-40B4-BE49-F238E27FC236}">
                <a16:creationId xmlns:a16="http://schemas.microsoft.com/office/drawing/2014/main" id="{9788E365-9743-457C-AB7C-06FC96922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625300"/>
            <a:ext cx="6902335" cy="3646516"/>
          </a:xfrm>
          <a:prstGeom prst="rect">
            <a:avLst/>
          </a:prstGeom>
        </p:spPr>
      </p:pic>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581650" cy="901700"/>
          </a:xfrm>
        </p:spPr>
        <p:txBody>
          <a:bodyPr>
            <a:normAutofit/>
          </a:bodyPr>
          <a:lstStyle/>
          <a:p>
            <a:pPr marL="0" indent="0">
              <a:buNone/>
            </a:pPr>
            <a:r>
              <a:rPr lang="en-US" sz="2400" b="1" dirty="0">
                <a:latin typeface="+mj-lt"/>
              </a:rPr>
              <a:t>B. Comparison of regional cereal production data: MAWF and NHIES (est.)</a:t>
            </a:r>
            <a:r>
              <a:rPr lang="en-US" sz="2400" b="1" baseline="30000" dirty="0">
                <a:latin typeface="+mj-lt"/>
              </a:rPr>
              <a:t>7</a:t>
            </a:r>
            <a:endParaRPr lang="en-US" sz="24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8" y="2219146"/>
            <a:ext cx="5581649"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2308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(see Appendix) were compared with 2014/15 MAWF crop production statistics.</a:t>
            </a:r>
          </a:p>
        </p:txBody>
      </p:sp>
      <p:pic>
        <p:nvPicPr>
          <p:cNvPr id="6" name="Picture 5" descr="Chart, bar chart&#10;&#10;Description automatically generated">
            <a:extLst>
              <a:ext uri="{FF2B5EF4-FFF2-40B4-BE49-F238E27FC236}">
                <a16:creationId xmlns:a16="http://schemas.microsoft.com/office/drawing/2014/main" id="{70E89C3B-CDD4-4F96-9643-7F5A6D4109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8431" y="673309"/>
            <a:ext cx="4705367" cy="2743200"/>
          </a:xfrm>
          <a:prstGeom prst="rect">
            <a:avLst/>
          </a:prstGeom>
        </p:spPr>
      </p:pic>
      <p:pic>
        <p:nvPicPr>
          <p:cNvPr id="13" name="Picture 12" descr="Chart, bar chart, waterfall chart&#10;&#10;Description automatically generated">
            <a:extLst>
              <a:ext uri="{FF2B5EF4-FFF2-40B4-BE49-F238E27FC236}">
                <a16:creationId xmlns:a16="http://schemas.microsoft.com/office/drawing/2014/main" id="{FBA6D262-7EB6-40E1-97B8-A79AC5CB2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311" y="3529911"/>
            <a:ext cx="4701260" cy="2743200"/>
          </a:xfrm>
          <a:prstGeom prst="rect">
            <a:avLst/>
          </a:prstGeom>
        </p:spPr>
      </p:pic>
      <p:pic>
        <p:nvPicPr>
          <p:cNvPr id="15" name="Picture 14" descr="Chart, bar chart&#10;&#10;Description automatically generated">
            <a:extLst>
              <a:ext uri="{FF2B5EF4-FFF2-40B4-BE49-F238E27FC236}">
                <a16:creationId xmlns:a16="http://schemas.microsoft.com/office/drawing/2014/main" id="{263F0921-FED3-4CA1-9691-BA9A630A32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8430" y="3529911"/>
            <a:ext cx="4705367" cy="2743200"/>
          </a:xfrm>
          <a:prstGeom prst="rect">
            <a:avLst/>
          </a:prstGeom>
        </p:spPr>
      </p:pic>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“other cereals” and grain consumption</a:t>
            </a:r>
            <a:endParaRPr lang="en-US" sz="24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851779"/>
            <a:ext cx="10264902" cy="4632037"/>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However, one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Figs. 6 &amp; 7)</a:t>
            </a:r>
          </a:p>
        </p:txBody>
      </p:sp>
      <p:pic>
        <p:nvPicPr>
          <p:cNvPr id="7" name="Graphic 6">
            <a:extLst>
              <a:ext uri="{FF2B5EF4-FFF2-40B4-BE49-F238E27FC236}">
                <a16:creationId xmlns:a16="http://schemas.microsoft.com/office/drawing/2014/main" id="{715E5731-B58E-4CD1-B238-BC748FDB62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8" y="3286721"/>
            <a:ext cx="4800600" cy="3200400"/>
          </a:xfrm>
          <a:prstGeom prst="rect">
            <a:avLst/>
          </a:prstGeom>
        </p:spPr>
      </p:pic>
      <p:pic>
        <p:nvPicPr>
          <p:cNvPr id="10" name="Graphic 9">
            <a:extLst>
              <a:ext uri="{FF2B5EF4-FFF2-40B4-BE49-F238E27FC236}">
                <a16:creationId xmlns:a16="http://schemas.microsoft.com/office/drawing/2014/main" id="{4A2ED368-2260-431A-BB2E-D7E1C228DE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3202" y="3286721"/>
            <a:ext cx="4800600" cy="3200400"/>
          </a:xfrm>
          <a:prstGeom prst="rect">
            <a:avLst/>
          </a:prstGeom>
        </p:spPr>
      </p:pic>
      <p:sp>
        <p:nvSpPr>
          <p:cNvPr id="11" name="TextBox 10">
            <a:extLst>
              <a:ext uri="{FF2B5EF4-FFF2-40B4-BE49-F238E27FC236}">
                <a16:creationId xmlns:a16="http://schemas.microsoft.com/office/drawing/2014/main" id="{3093BAA1-FB12-48AA-A853-9EEDC004E054}"/>
              </a:ext>
            </a:extLst>
          </p:cNvPr>
          <p:cNvSpPr txBox="1"/>
          <p:nvPr/>
        </p:nvSpPr>
        <p:spPr>
          <a:xfrm>
            <a:off x="1343025" y="3167390"/>
            <a:ext cx="1533525" cy="261610"/>
          </a:xfrm>
          <a:prstGeom prst="rect">
            <a:avLst/>
          </a:prstGeom>
          <a:noFill/>
        </p:spPr>
        <p:txBody>
          <a:bodyPr wrap="square" rtlCol="0">
            <a:spAutoFit/>
          </a:bodyPr>
          <a:lstStyle/>
          <a:p>
            <a:r>
              <a:rPr lang="en-US" sz="1050" b="1" dirty="0">
                <a:latin typeface="Tw Cen MT" panose="020B0602020104020603" pitchFamily="34" charset="0"/>
              </a:rPr>
              <a:t>Figure 6.</a:t>
            </a:r>
          </a:p>
        </p:txBody>
      </p:sp>
      <p:sp>
        <p:nvSpPr>
          <p:cNvPr id="13" name="TextBox 12">
            <a:extLst>
              <a:ext uri="{FF2B5EF4-FFF2-40B4-BE49-F238E27FC236}">
                <a16:creationId xmlns:a16="http://schemas.microsoft.com/office/drawing/2014/main" id="{D33281A9-0AD6-4A2A-AB09-7638141A7239}"/>
              </a:ext>
            </a:extLst>
          </p:cNvPr>
          <p:cNvSpPr txBox="1"/>
          <p:nvPr/>
        </p:nvSpPr>
        <p:spPr>
          <a:xfrm>
            <a:off x="7038975" y="3169935"/>
            <a:ext cx="1533525" cy="261610"/>
          </a:xfrm>
          <a:prstGeom prst="rect">
            <a:avLst/>
          </a:prstGeom>
          <a:noFill/>
        </p:spPr>
        <p:txBody>
          <a:bodyPr wrap="square" rtlCol="0">
            <a:spAutoFit/>
          </a:bodyPr>
          <a:lstStyle/>
          <a:p>
            <a:r>
              <a:rPr lang="en-US" sz="1050" b="1" dirty="0">
                <a:latin typeface="Tw Cen MT" panose="020B0602020104020603" pitchFamily="34" charset="0"/>
              </a:rPr>
              <a:t>Figure 7.</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515600"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One finding from the 7-day food diary is that,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somewhat intuitive when considering the overall quantities produced (see Figs. 3, 4, &amp; 5)</a:t>
            </a:r>
            <a:r>
              <a:rPr lang="en-US" baseline="30000" dirty="0">
                <a:latin typeface="+mj-lt"/>
              </a:rPr>
              <a:t>10</a:t>
            </a: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10</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11</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sp>
        <p:nvSpPr>
          <p:cNvPr id="7" name="TextBox 6">
            <a:extLst>
              <a:ext uri="{FF2B5EF4-FFF2-40B4-BE49-F238E27FC236}">
                <a16:creationId xmlns:a16="http://schemas.microsoft.com/office/drawing/2014/main" id="{BF365715-7D2A-410C-AB3E-21766B04A2F8}"/>
              </a:ext>
            </a:extLst>
          </p:cNvPr>
          <p:cNvSpPr txBox="1"/>
          <p:nvPr/>
        </p:nvSpPr>
        <p:spPr>
          <a:xfrm>
            <a:off x="838200" y="2920891"/>
            <a:ext cx="5353050"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Analyses of </a:t>
            </a:r>
            <a:r>
              <a:rPr lang="en-US" dirty="0" err="1">
                <a:latin typeface="+mj-lt"/>
              </a:rPr>
              <a:t>mahangu</a:t>
            </a:r>
            <a:r>
              <a:rPr lang="en-US" dirty="0">
                <a:latin typeface="+mj-lt"/>
              </a:rPr>
              <a:t> consumption from own production from the 7-day food diary reveal a similar regional and temporal pattern as observed for “other cereals” from the household questionnaire (see Figure 8)</a:t>
            </a:r>
            <a:r>
              <a:rPr lang="en-US" baseline="30000" dirty="0">
                <a:latin typeface="+mj-lt"/>
              </a:rPr>
              <a:t>11</a:t>
            </a:r>
          </a:p>
          <a:p>
            <a:pPr marL="285750" indent="-285750">
              <a:buFont typeface="Arial" panose="020B0604020202020204" pitchFamily="34" charset="0"/>
              <a:buChar char="•"/>
            </a:pPr>
            <a:r>
              <a:rPr lang="en-US" dirty="0">
                <a:latin typeface="+mj-lt"/>
              </a:rPr>
              <a:t>However, consumption of purchased maize and bread – items likely to be fortified – remain significant throughout the year even in regions with significant communal mahangu production (Fig 8).</a:t>
            </a:r>
          </a:p>
          <a:p>
            <a:endParaRPr lang="en-US" dirty="0"/>
          </a:p>
        </p:txBody>
      </p:sp>
      <p:pic>
        <p:nvPicPr>
          <p:cNvPr id="9" name="Graphic 8">
            <a:extLst>
              <a:ext uri="{FF2B5EF4-FFF2-40B4-BE49-F238E27FC236}">
                <a16:creationId xmlns:a16="http://schemas.microsoft.com/office/drawing/2014/main" id="{FB60478E-38B3-44D0-A3C8-730B024EBC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3200" y="2767013"/>
            <a:ext cx="4800600" cy="3200400"/>
          </a:xfrm>
          <a:prstGeom prst="rect">
            <a:avLst/>
          </a:prstGeom>
        </p:spPr>
      </p:pic>
      <p:sp>
        <p:nvSpPr>
          <p:cNvPr id="13" name="TextBox 12">
            <a:extLst>
              <a:ext uri="{FF2B5EF4-FFF2-40B4-BE49-F238E27FC236}">
                <a16:creationId xmlns:a16="http://schemas.microsoft.com/office/drawing/2014/main" id="{3E37FC40-24F5-4FC1-83B4-ED694D46F0D5}"/>
              </a:ext>
            </a:extLst>
          </p:cNvPr>
          <p:cNvSpPr txBox="1"/>
          <p:nvPr/>
        </p:nvSpPr>
        <p:spPr>
          <a:xfrm>
            <a:off x="7067550" y="2659281"/>
            <a:ext cx="1533525" cy="261610"/>
          </a:xfrm>
          <a:prstGeom prst="rect">
            <a:avLst/>
          </a:prstGeom>
          <a:noFill/>
        </p:spPr>
        <p:txBody>
          <a:bodyPr wrap="square" rtlCol="0">
            <a:spAutoFit/>
          </a:bodyPr>
          <a:lstStyle/>
          <a:p>
            <a:r>
              <a:rPr lang="en-US" sz="1050" b="1" dirty="0">
                <a:latin typeface="Tw Cen MT" panose="020B0602020104020603" pitchFamily="34" charset="0"/>
              </a:rPr>
              <a:t>Figure 8.</a:t>
            </a:r>
          </a:p>
        </p:txBody>
      </p:sp>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on </a:t>
            </a:r>
            <a:r>
              <a:rPr lang="en-US" b="1" dirty="0">
                <a:solidFill>
                  <a:schemeClr val="accent1"/>
                </a:solidFill>
                <a:latin typeface="+mj-lt"/>
                <a:hlinkClick r:id="rId2"/>
              </a:rPr>
              <a:t>GitHub</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1256</TotalTime>
  <Words>1666</Words>
  <Application>Microsoft Office PowerPoint</Application>
  <PresentationFormat>Widescreen</PresentationFormat>
  <Paragraphs>81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IV. Appendix: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Aaron WISE</cp:lastModifiedBy>
  <cp:revision>85</cp:revision>
  <dcterms:created xsi:type="dcterms:W3CDTF">2020-10-13T02:26:37Z</dcterms:created>
  <dcterms:modified xsi:type="dcterms:W3CDTF">2020-10-19T07:20:08Z</dcterms:modified>
</cp:coreProperties>
</file>