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76" r:id="rId8"/>
    <p:sldId id="266" r:id="rId9"/>
    <p:sldId id="267" r:id="rId10"/>
    <p:sldId id="271" r:id="rId11"/>
    <p:sldId id="273" r:id="rId12"/>
    <p:sldId id="262" r:id="rId13"/>
    <p:sldId id="268" r:id="rId14"/>
    <p:sldId id="269" r:id="rId15"/>
    <p:sldId id="270" r:id="rId16"/>
    <p:sldId id="277" r:id="rId17"/>
    <p:sldId id="272"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7" clrIdx="0">
    <p:extLst>
      <p:ext uri="{19B8F6BF-5375-455C-9EA6-DF929625EA0E}">
        <p15:presenceInfo xmlns:p15="http://schemas.microsoft.com/office/powerpoint/2012/main" userId="c257a15a2433dd29" providerId="Windows Live"/>
      </p:ext>
    </p:extLst>
  </p:cmAuthor>
  <p:cmAuthor id="2" name="Aaron WISE" initials="AW" lastIdx="37"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169" autoAdjust="0"/>
    <p:restoredTop sz="94660"/>
  </p:normalViewPr>
  <p:slideViewPr>
    <p:cSldViewPr snapToGrid="0">
      <p:cViewPr varScale="1">
        <p:scale>
          <a:sx n="107" d="100"/>
          <a:sy n="107" d="100"/>
        </p:scale>
        <p:origin x="144"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dropbox.com/sh/7m5zdww0a3rnu6k/AACgaKXxg5G6yI1rK5JYQkZta?dl=0"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4204362"/>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6012524"/>
            <a:ext cx="9144000" cy="369332"/>
          </a:xfrm>
          <a:prstGeom prst="rect">
            <a:avLst/>
          </a:prstGeom>
          <a:noFill/>
        </p:spPr>
        <p:txBody>
          <a:bodyPr wrap="square" rtlCol="0">
            <a:spAutoFit/>
          </a:bodyPr>
          <a:lstStyle/>
          <a:p>
            <a:pPr algn="ctr"/>
            <a:r>
              <a:rPr lang="en-US" dirty="0">
                <a:latin typeface="+mj-lt"/>
              </a:rPr>
              <a:t>9 November 2020</a:t>
            </a:r>
          </a:p>
        </p:txBody>
      </p:sp>
      <p:sp>
        <p:nvSpPr>
          <p:cNvPr id="5" name="TextBox 4">
            <a:extLst>
              <a:ext uri="{FF2B5EF4-FFF2-40B4-BE49-F238E27FC236}">
                <a16:creationId xmlns:a16="http://schemas.microsoft.com/office/drawing/2014/main" id="{FAF1A56F-655E-4AED-8650-FCB49B6F8779}"/>
              </a:ext>
            </a:extLst>
          </p:cNvPr>
          <p:cNvSpPr txBox="1"/>
          <p:nvPr/>
        </p:nvSpPr>
        <p:spPr>
          <a:xfrm>
            <a:off x="1524000" y="3192087"/>
            <a:ext cx="9144000" cy="707886"/>
          </a:xfrm>
          <a:prstGeom prst="rect">
            <a:avLst/>
          </a:prstGeom>
          <a:noFill/>
        </p:spPr>
        <p:txBody>
          <a:bodyPr wrap="square" rtlCol="0">
            <a:spAutoFit/>
          </a:bodyPr>
          <a:lstStyle/>
          <a:p>
            <a:pPr algn="ctr"/>
            <a:r>
              <a:rPr lang="en-US" sz="4000" dirty="0">
                <a:latin typeface="Tw Cen MT" panose="020B0602020104020603" pitchFamily="34" charset="0"/>
              </a:rPr>
              <a:t>Tasks 1-2</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a:t>
            </a:r>
          </a:p>
          <a:p>
            <a:pPr marL="1028700" lvl="1" indent="-571500">
              <a:spcBef>
                <a:spcPts val="600"/>
              </a:spcBef>
              <a:spcAft>
                <a:spcPts val="1200"/>
              </a:spcAft>
              <a:buFont typeface="+mj-lt"/>
              <a:buAutoNum type="alphaUcPeriod"/>
            </a:pPr>
            <a:r>
              <a:rPr lang="en-US" sz="2000" dirty="0">
                <a:latin typeface="+mj-lt"/>
              </a:rPr>
              <a:t>Summary of Methods</a:t>
            </a:r>
          </a:p>
          <a:p>
            <a:pPr marL="1028700" lvl="1" indent="-571500">
              <a:spcBef>
                <a:spcPts val="600"/>
              </a:spcBef>
              <a:spcAft>
                <a:spcPts val="1200"/>
              </a:spcAft>
              <a:buFont typeface="+mj-lt"/>
              <a:buAutoNum type="alphaUcPeriod"/>
            </a:pPr>
            <a:r>
              <a:rPr lang="en-US" sz="2000" dirty="0">
                <a:latin typeface="+mj-lt"/>
              </a:rPr>
              <a:t>Data Tables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A. Analysis of household-level food consumption and grain production</a:t>
            </a:r>
            <a:r>
              <a:rPr lang="en-US" sz="2000" baseline="30000" dirty="0">
                <a:latin typeface="+mj-lt"/>
              </a:rPr>
              <a:t>3</a:t>
            </a:r>
            <a:endParaRPr lang="en-US" sz="20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22, 7, and 6 percent of NHIES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 A summary of data presented in chart can be found in Appendix B, Table 1.</a:t>
            </a:r>
          </a:p>
          <a:p>
            <a:r>
              <a:rPr lang="en-US" sz="900" baseline="30000" dirty="0">
                <a:latin typeface="+mj-lt"/>
              </a:rPr>
              <a:t>4 </a:t>
            </a:r>
            <a:r>
              <a:rPr lang="en-US" sz="900" dirty="0">
                <a:latin typeface="+mj-lt"/>
              </a:rPr>
              <a:t>A negligible proportion of households reported growing wheat (0.05%)</a:t>
            </a:r>
          </a:p>
        </p:txBody>
      </p:sp>
      <p:pic>
        <p:nvPicPr>
          <p:cNvPr id="8" name="Picture 7" descr="Chart, bar chart&#10;&#10;Description automatically generated">
            <a:extLst>
              <a:ext uri="{FF2B5EF4-FFF2-40B4-BE49-F238E27FC236}">
                <a16:creationId xmlns:a16="http://schemas.microsoft.com/office/drawing/2014/main" id="{E8CDB5A7-3C49-410B-B9D2-9BE74713B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9123" y="2114639"/>
            <a:ext cx="6902335" cy="3652058"/>
          </a:xfrm>
          <a:prstGeom prst="rect">
            <a:avLst/>
          </a:prstGeom>
        </p:spPr>
      </p:pic>
      <p:sp>
        <p:nvSpPr>
          <p:cNvPr id="9" name="TextBox 8">
            <a:extLst>
              <a:ext uri="{FF2B5EF4-FFF2-40B4-BE49-F238E27FC236}">
                <a16:creationId xmlns:a16="http://schemas.microsoft.com/office/drawing/2014/main" id="{E7B24886-4000-483A-B318-6C39093D34FD}"/>
              </a:ext>
            </a:extLst>
          </p:cNvPr>
          <p:cNvSpPr txBox="1"/>
          <p:nvPr/>
        </p:nvSpPr>
        <p:spPr>
          <a:xfrm>
            <a:off x="5156833" y="1888782"/>
            <a:ext cx="6124192" cy="276999"/>
          </a:xfrm>
          <a:prstGeom prst="rect">
            <a:avLst/>
          </a:prstGeom>
          <a:noFill/>
        </p:spPr>
        <p:txBody>
          <a:bodyPr wrap="square" rtlCol="0">
            <a:spAutoFit/>
          </a:bodyPr>
          <a:lstStyle/>
          <a:p>
            <a:r>
              <a:rPr lang="en-US" sz="1200" b="1" dirty="0"/>
              <a:t>Figure 1. Proportion of households growing maize, mahangu and sorghum</a:t>
            </a:r>
            <a:r>
              <a:rPr lang="en-NA" sz="1200" dirty="0"/>
              <a:t> </a:t>
            </a:r>
            <a:endParaRPr lang="en-US" sz="1200" b="1" dirty="0"/>
          </a:p>
        </p:txBody>
      </p:sp>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A. Analysis of household-level food consumption and grain production</a:t>
            </a:r>
            <a:endParaRPr lang="en-US" sz="20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A for limitations of this analysis and Appendix B, Table 2 for summary of data presented in chart.</a:t>
            </a:r>
            <a:endParaRPr lang="en-US" sz="900" dirty="0"/>
          </a:p>
        </p:txBody>
      </p:sp>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pic>
        <p:nvPicPr>
          <p:cNvPr id="6" name="Picture 5" descr="Chart, bar chart&#10;&#10;Description automatically generated">
            <a:extLst>
              <a:ext uri="{FF2B5EF4-FFF2-40B4-BE49-F238E27FC236}">
                <a16:creationId xmlns:a16="http://schemas.microsoft.com/office/drawing/2014/main" id="{8107357A-FF20-4818-A261-EBFEF2CD2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747542"/>
            <a:ext cx="6902335" cy="3646516"/>
          </a:xfrm>
          <a:prstGeom prst="rect">
            <a:avLst/>
          </a:prstGeom>
        </p:spPr>
      </p:pic>
      <p:sp>
        <p:nvSpPr>
          <p:cNvPr id="11" name="TextBox 10">
            <a:extLst>
              <a:ext uri="{FF2B5EF4-FFF2-40B4-BE49-F238E27FC236}">
                <a16:creationId xmlns:a16="http://schemas.microsoft.com/office/drawing/2014/main" id="{CA095737-04AA-4464-A57F-E46305C2900F}"/>
              </a:ext>
            </a:extLst>
          </p:cNvPr>
          <p:cNvSpPr txBox="1"/>
          <p:nvPr/>
        </p:nvSpPr>
        <p:spPr>
          <a:xfrm>
            <a:off x="5267668" y="2498305"/>
            <a:ext cx="6629805" cy="276999"/>
          </a:xfrm>
          <a:prstGeom prst="rect">
            <a:avLst/>
          </a:prstGeom>
          <a:noFill/>
        </p:spPr>
        <p:txBody>
          <a:bodyPr wrap="square" rtlCol="0">
            <a:spAutoFit/>
          </a:bodyPr>
          <a:lstStyle/>
          <a:p>
            <a:r>
              <a:rPr lang="en-US" sz="1200" b="1" dirty="0"/>
              <a:t>Figure 2. Proportion of households consuming "other cereals" and source of "other cereals” by region</a:t>
            </a:r>
            <a:r>
              <a:rPr lang="en-NA" sz="1200" b="1" dirty="0"/>
              <a:t> </a:t>
            </a:r>
            <a:endParaRPr lang="en-US" sz="1200" b="1"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3476625" cy="901700"/>
          </a:xfrm>
        </p:spPr>
        <p:txBody>
          <a:bodyPr>
            <a:normAutofit lnSpcReduction="10000"/>
          </a:bodyPr>
          <a:lstStyle/>
          <a:p>
            <a:pPr marL="0" indent="0">
              <a:buNone/>
            </a:pPr>
            <a:r>
              <a:rPr lang="en-US" sz="2000" b="1" dirty="0">
                <a:latin typeface="+mj-lt"/>
              </a:rPr>
              <a:t>B. Comparison of regional cereal production data: MAWF and NHIES (est.)</a:t>
            </a:r>
            <a:r>
              <a:rPr lang="en-US" sz="2000" b="1" baseline="30000" dirty="0">
                <a:latin typeface="+mj-lt"/>
              </a:rPr>
              <a:t>7</a:t>
            </a:r>
            <a:endParaRPr lang="en-US" sz="20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681036" y="3025894"/>
            <a:ext cx="3633789"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3693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were compared with 2014/15 MAWF crop production statistics (see Appendix A for details on methodology and Appendix B, Table 3 for summary of data presented in charts). </a:t>
            </a:r>
          </a:p>
        </p:txBody>
      </p:sp>
      <p:sp>
        <p:nvSpPr>
          <p:cNvPr id="14" name="TextBox 13">
            <a:extLst>
              <a:ext uri="{FF2B5EF4-FFF2-40B4-BE49-F238E27FC236}">
                <a16:creationId xmlns:a16="http://schemas.microsoft.com/office/drawing/2014/main" id="{0114402D-A727-4B8F-A422-86870180A9A1}"/>
              </a:ext>
            </a:extLst>
          </p:cNvPr>
          <p:cNvSpPr txBox="1"/>
          <p:nvPr/>
        </p:nvSpPr>
        <p:spPr>
          <a:xfrm>
            <a:off x="4800600" y="1441450"/>
            <a:ext cx="7218361" cy="253916"/>
          </a:xfrm>
          <a:prstGeom prst="rect">
            <a:avLst/>
          </a:prstGeom>
          <a:noFill/>
        </p:spPr>
        <p:txBody>
          <a:bodyPr wrap="square" rtlCol="0">
            <a:spAutoFit/>
          </a:bodyPr>
          <a:lstStyle/>
          <a:p>
            <a:r>
              <a:rPr lang="en-US" sz="1050" b="1" dirty="0"/>
              <a:t>Figure 3. Comparison of MAWF and NHIES (est.) communal maize, mahangu and sorghum production</a:t>
            </a:r>
          </a:p>
        </p:txBody>
      </p:sp>
      <p:pic>
        <p:nvPicPr>
          <p:cNvPr id="6" name="Picture 5" descr="Chart&#10;&#10;Description automatically generated">
            <a:extLst>
              <a:ext uri="{FF2B5EF4-FFF2-40B4-BE49-F238E27FC236}">
                <a16:creationId xmlns:a16="http://schemas.microsoft.com/office/drawing/2014/main" id="{F3CF1588-0D4D-6043-BAD1-7380834E7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1988" y="1810214"/>
            <a:ext cx="7546974" cy="4591201"/>
          </a:xfrm>
          <a:prstGeom prst="rect">
            <a:avLst/>
          </a:prstGeom>
        </p:spPr>
      </p:pic>
    </p:spTree>
    <p:extLst>
      <p:ext uri="{BB962C8B-B14F-4D97-AF65-F5344CB8AC3E}">
        <p14:creationId xmlns:p14="http://schemas.microsoft.com/office/powerpoint/2010/main" val="970286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a:xfrm>
            <a:off x="838200" y="62811"/>
            <a:ext cx="10515600" cy="1325563"/>
          </a:xfrm>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165675"/>
            <a:ext cx="10515600" cy="498475"/>
          </a:xfrm>
        </p:spPr>
        <p:txBody>
          <a:bodyPr>
            <a:normAutofit/>
          </a:bodyPr>
          <a:lstStyle/>
          <a:p>
            <a:pPr marL="0" indent="0">
              <a:buNone/>
            </a:pPr>
            <a:r>
              <a:rPr lang="en-US" sz="2000" b="1" dirty="0">
                <a:latin typeface="+mj-lt"/>
              </a:rPr>
              <a:t>C. Regional and temporal variations in “other cereals” and grain consumption</a:t>
            </a:r>
            <a:endParaRPr lang="en-US" sz="20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259893"/>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507504"/>
            <a:ext cx="10264902" cy="4909036"/>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rather than consuming own production,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commercially milled and the majority is purchased and consumed as bread or other derived products;</a:t>
            </a:r>
          </a:p>
          <a:p>
            <a:pPr marL="742950" lvl="1" indent="-285750">
              <a:spcBef>
                <a:spcPts val="600"/>
              </a:spcBef>
              <a:buFont typeface="Arial" panose="020B0604020202020204" pitchFamily="34" charset="0"/>
              <a:buChar char="•"/>
            </a:pPr>
            <a:r>
              <a:rPr lang="en-US" sz="1800" dirty="0">
                <a:effectLst/>
                <a:latin typeface="+mj-lt"/>
              </a:rPr>
              <a:t>Maize is both commercially (rainfed and irrigated) and communally grown but a significant proportion is also imported. Imported and commercially grown maize make up the majority of maize for consumption</a:t>
            </a:r>
            <a:r>
              <a:rPr lang="en-US" sz="1800" dirty="0">
                <a:latin typeface="+mj-lt"/>
              </a:rPr>
              <a:t>;</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A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commercially milled grain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C. Regional and temporal variations in grain consumption</a:t>
            </a:r>
            <a:endParaRPr lang="en-US" sz="20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Figures 4 &amp; 5)</a:t>
            </a:r>
            <a:r>
              <a:rPr lang="en-US" baseline="30000" dirty="0">
                <a:latin typeface="+mj-lt"/>
              </a:rPr>
              <a:t>10</a:t>
            </a:r>
          </a:p>
        </p:txBody>
      </p:sp>
      <p:sp>
        <p:nvSpPr>
          <p:cNvPr id="4" name="TextBox 3">
            <a:extLst>
              <a:ext uri="{FF2B5EF4-FFF2-40B4-BE49-F238E27FC236}">
                <a16:creationId xmlns:a16="http://schemas.microsoft.com/office/drawing/2014/main" id="{54616D6D-4B63-4318-BE93-B004F5EBAFE5}"/>
              </a:ext>
            </a:extLst>
          </p:cNvPr>
          <p:cNvSpPr txBox="1"/>
          <p:nvPr/>
        </p:nvSpPr>
        <p:spPr>
          <a:xfrm>
            <a:off x="838199" y="6518599"/>
            <a:ext cx="10715625" cy="369332"/>
          </a:xfrm>
          <a:prstGeom prst="rect">
            <a:avLst/>
          </a:prstGeom>
          <a:noFill/>
        </p:spPr>
        <p:txBody>
          <a:bodyPr wrap="square" rtlCol="0">
            <a:spAutoFit/>
          </a:bodyPr>
          <a:lstStyle/>
          <a:p>
            <a:r>
              <a:rPr lang="en-US" sz="900" baseline="30000">
                <a:latin typeface="+mj-lt"/>
              </a:rPr>
              <a:t>10 </a:t>
            </a:r>
            <a:r>
              <a:rPr lang="en-US" sz="900">
                <a:latin typeface="+mj-lt"/>
              </a:rPr>
              <a:t>Data from Kavango West and Omusati regions are depicted because they have high levels of communal maize and mahangu production, respectively (see Figures 3 &amp; 4 above)</a:t>
            </a:r>
          </a:p>
          <a:p>
            <a:endParaRPr lang="en-US" sz="900" dirty="0">
              <a:latin typeface="+mj-lt"/>
            </a:endParaRPr>
          </a:p>
        </p:txBody>
      </p:sp>
      <p:pic>
        <p:nvPicPr>
          <p:cNvPr id="8" name="Graphic 7">
            <a:extLst>
              <a:ext uri="{FF2B5EF4-FFF2-40B4-BE49-F238E27FC236}">
                <a16:creationId xmlns:a16="http://schemas.microsoft.com/office/drawing/2014/main" id="{834C91D4-FFC1-463B-A5CF-A284DE282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9" y="3192532"/>
            <a:ext cx="4800600" cy="3200400"/>
          </a:xfrm>
          <a:prstGeom prst="rect">
            <a:avLst/>
          </a:prstGeom>
        </p:spPr>
      </p:pic>
      <p:pic>
        <p:nvPicPr>
          <p:cNvPr id="14" name="Graphic 13">
            <a:extLst>
              <a:ext uri="{FF2B5EF4-FFF2-40B4-BE49-F238E27FC236}">
                <a16:creationId xmlns:a16="http://schemas.microsoft.com/office/drawing/2014/main" id="{C32F683A-6D40-443C-967B-25CFB98992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96011" y="3186524"/>
            <a:ext cx="4800600" cy="3200400"/>
          </a:xfrm>
          <a:prstGeom prst="rect">
            <a:avLst/>
          </a:prstGeom>
        </p:spPr>
      </p:pic>
      <p:sp>
        <p:nvSpPr>
          <p:cNvPr id="15" name="TextBox 14">
            <a:extLst>
              <a:ext uri="{FF2B5EF4-FFF2-40B4-BE49-F238E27FC236}">
                <a16:creationId xmlns:a16="http://schemas.microsoft.com/office/drawing/2014/main" id="{FED5AF7E-1133-4873-A842-01F385FA0DCF}"/>
              </a:ext>
            </a:extLst>
          </p:cNvPr>
          <p:cNvSpPr txBox="1"/>
          <p:nvPr/>
        </p:nvSpPr>
        <p:spPr>
          <a:xfrm>
            <a:off x="715930" y="3066865"/>
            <a:ext cx="5125536" cy="461665"/>
          </a:xfrm>
          <a:prstGeom prst="rect">
            <a:avLst/>
          </a:prstGeom>
          <a:noFill/>
        </p:spPr>
        <p:txBody>
          <a:bodyPr wrap="square" rtlCol="0">
            <a:spAutoFit/>
          </a:bodyPr>
          <a:lstStyle/>
          <a:p>
            <a:r>
              <a:rPr lang="en-US" sz="1200" b="1" dirty="0">
                <a:latin typeface="Tw Cen MT" panose="020B0602020104020603" pitchFamily="34" charset="0"/>
              </a:rPr>
              <a:t>Figure 4. Proportion of households consuming “other cereals” from own production in </a:t>
            </a:r>
            <a:r>
              <a:rPr lang="en-US" sz="1200" b="1" dirty="0" err="1">
                <a:latin typeface="Tw Cen MT" panose="020B0602020104020603" pitchFamily="34" charset="0"/>
              </a:rPr>
              <a:t>Kavango</a:t>
            </a:r>
            <a:r>
              <a:rPr lang="en-US" sz="1200" b="1" dirty="0">
                <a:latin typeface="Tw Cen MT" panose="020B0602020104020603" pitchFamily="34" charset="0"/>
              </a:rPr>
              <a:t> West between April 2015 and March 2016</a:t>
            </a:r>
          </a:p>
        </p:txBody>
      </p:sp>
      <p:sp>
        <p:nvSpPr>
          <p:cNvPr id="16" name="TextBox 15">
            <a:extLst>
              <a:ext uri="{FF2B5EF4-FFF2-40B4-BE49-F238E27FC236}">
                <a16:creationId xmlns:a16="http://schemas.microsoft.com/office/drawing/2014/main" id="{5D0AAFE3-7503-487E-AA5D-7BF9FE236BAF}"/>
              </a:ext>
            </a:extLst>
          </p:cNvPr>
          <p:cNvSpPr txBox="1"/>
          <p:nvPr/>
        </p:nvSpPr>
        <p:spPr>
          <a:xfrm>
            <a:off x="6350536" y="3025955"/>
            <a:ext cx="4910108" cy="461665"/>
          </a:xfrm>
          <a:prstGeom prst="rect">
            <a:avLst/>
          </a:prstGeom>
          <a:noFill/>
        </p:spPr>
        <p:txBody>
          <a:bodyPr wrap="square" rtlCol="0">
            <a:spAutoFit/>
          </a:bodyPr>
          <a:lstStyle/>
          <a:p>
            <a:r>
              <a:rPr lang="en-US" sz="1200" b="1" dirty="0">
                <a:latin typeface="Tw Cen MT" panose="020B0602020104020603" pitchFamily="34" charset="0"/>
              </a:rPr>
              <a:t>Figure 5. Proportion of households consuming “other cereals” from own production in </a:t>
            </a:r>
            <a:r>
              <a:rPr lang="en-US" sz="1200" b="1" dirty="0" err="1">
                <a:latin typeface="Tw Cen MT" panose="020B0602020104020603" pitchFamily="34" charset="0"/>
              </a:rPr>
              <a:t>Omusati</a:t>
            </a:r>
            <a:r>
              <a:rPr lang="en-US" sz="1200" b="1" dirty="0">
                <a:latin typeface="Tw Cen MT" panose="020B0602020104020603" pitchFamily="34" charset="0"/>
              </a:rPr>
              <a:t> between April 2015 and March 2016</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6400800" cy="498475"/>
          </a:xfrm>
        </p:spPr>
        <p:txBody>
          <a:bodyPr>
            <a:noAutofit/>
          </a:bodyPr>
          <a:lstStyle/>
          <a:p>
            <a:pPr marL="0" indent="0">
              <a:buNone/>
            </a:pPr>
            <a:r>
              <a:rPr lang="en-US" sz="2000" b="1" dirty="0">
                <a:latin typeface="+mj-lt"/>
              </a:rPr>
              <a:t>C. Regional and temporal variations in grain consumption</a:t>
            </a:r>
            <a:endParaRPr lang="en-US" sz="20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199" y="2039170"/>
            <a:ext cx="6024937" cy="3908762"/>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dirty="0">
                <a:latin typeface="+mj-lt"/>
              </a:rPr>
              <a:t>One finding from the 7-day food diary: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intuitive when considering the overall quantities produced (see Figure. 3)</a:t>
            </a:r>
            <a:r>
              <a:rPr lang="en-US" baseline="30000" dirty="0">
                <a:latin typeface="+mj-lt"/>
              </a:rPr>
              <a:t>11</a:t>
            </a:r>
          </a:p>
          <a:p>
            <a:pPr marL="285750" indent="-285750">
              <a:spcBef>
                <a:spcPts val="1200"/>
              </a:spcBef>
              <a:buFont typeface="Arial" panose="020B0604020202020204" pitchFamily="34" charset="0"/>
              <a:buChar char="•"/>
            </a:pPr>
            <a:r>
              <a:rPr lang="en-US" dirty="0">
                <a:latin typeface="+mj-lt"/>
              </a:rPr>
              <a:t>Analyses of mahangu consumption from own production from the 7-day food diary reveal a similar regional and temporal pattern as observed for “other cereals” from the household questionnaire (Figures 6 &amp; 7)</a:t>
            </a:r>
            <a:r>
              <a:rPr lang="en-US" baseline="30000" dirty="0">
                <a:latin typeface="+mj-lt"/>
              </a:rPr>
              <a:t>12</a:t>
            </a:r>
          </a:p>
          <a:p>
            <a:pPr marL="285750" indent="-285750">
              <a:spcBef>
                <a:spcPts val="1200"/>
              </a:spcBef>
              <a:buFont typeface="Arial" panose="020B0604020202020204" pitchFamily="34" charset="0"/>
              <a:buChar char="•"/>
            </a:pPr>
            <a:r>
              <a:rPr lang="en-US" dirty="0">
                <a:latin typeface="+mj-lt"/>
              </a:rPr>
              <a:t>Figures 6 and 7 also demonstrate that even in </a:t>
            </a:r>
            <a:r>
              <a:rPr lang="en-US" dirty="0" err="1">
                <a:latin typeface="+mj-lt"/>
              </a:rPr>
              <a:t>Omusati</a:t>
            </a:r>
            <a:r>
              <a:rPr lang="en-US" dirty="0">
                <a:latin typeface="+mj-lt"/>
              </a:rPr>
              <a:t>, the region with the greatest amount of communal mahangu production (Figure 3), purchased maize and bread make up a significant proportion of the diet. (Figure 7)</a:t>
            </a:r>
          </a:p>
          <a:p>
            <a:endParaRPr lang="en-US" baseline="30000" dirty="0">
              <a:latin typeface="+mj-lt"/>
            </a:endParaRP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234934"/>
            <a:ext cx="10915650" cy="553998"/>
          </a:xfrm>
          <a:prstGeom prst="rect">
            <a:avLst/>
          </a:prstGeom>
          <a:noFill/>
        </p:spPr>
        <p:txBody>
          <a:bodyPr wrap="square" rtlCol="0">
            <a:spAutoFit/>
          </a:bodyPr>
          <a:lstStyle/>
          <a:p>
            <a:r>
              <a:rPr lang="en-US" sz="1000" baseline="30000" dirty="0">
                <a:latin typeface="+mj-lt"/>
              </a:rPr>
              <a:t>11</a:t>
            </a:r>
            <a:r>
              <a:rPr lang="en-US" sz="1000" dirty="0">
                <a:latin typeface="+mj-lt"/>
              </a:rPr>
              <a:t> The 7-day food diary, unlike the household questionnaire, contained more detailed information on the food consumed and allowed for analysis of specific grains</a:t>
            </a:r>
          </a:p>
          <a:p>
            <a:r>
              <a:rPr lang="en-US" sz="1000" baseline="30000" dirty="0">
                <a:latin typeface="+mj-lt"/>
              </a:rPr>
              <a:t>12</a:t>
            </a:r>
            <a:r>
              <a:rPr lang="en-US" sz="1000" dirty="0">
                <a:latin typeface="+mj-lt"/>
              </a:rPr>
              <a:t> </a:t>
            </a:r>
            <a:r>
              <a:rPr lang="en-US" sz="1000" dirty="0" err="1">
                <a:latin typeface="+mj-lt"/>
              </a:rPr>
              <a:t>Kavango</a:t>
            </a:r>
            <a:r>
              <a:rPr lang="en-US" sz="1000" dirty="0">
                <a:latin typeface="+mj-lt"/>
              </a:rPr>
              <a:t> West region was chosen as an example of temporal grain consumption patterns; all regions with communal </a:t>
            </a:r>
            <a:r>
              <a:rPr lang="en-US" sz="1000" dirty="0" err="1">
                <a:latin typeface="+mj-lt"/>
              </a:rPr>
              <a:t>mahangu</a:t>
            </a:r>
            <a:r>
              <a:rPr lang="en-US" sz="1000" dirty="0">
                <a:latin typeface="+mj-lt"/>
              </a:rPr>
              <a:t> production had similar patterns of cereal consumption. Other forms of grain consumption were not depicted (e.g., maize from own production) due to very small values.</a:t>
            </a:r>
            <a:endParaRPr lang="en-US" sz="1000" dirty="0"/>
          </a:p>
        </p:txBody>
      </p:sp>
      <p:pic>
        <p:nvPicPr>
          <p:cNvPr id="5" name="Graphic 4">
            <a:extLst>
              <a:ext uri="{FF2B5EF4-FFF2-40B4-BE49-F238E27FC236}">
                <a16:creationId xmlns:a16="http://schemas.microsoft.com/office/drawing/2014/main" id="{57C07C9A-9F2A-444C-A4E3-6F94CF57E3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685800"/>
            <a:ext cx="4114800" cy="2743200"/>
          </a:xfrm>
          <a:prstGeom prst="rect">
            <a:avLst/>
          </a:prstGeom>
        </p:spPr>
      </p:pic>
      <p:sp>
        <p:nvSpPr>
          <p:cNvPr id="8" name="TextBox 7">
            <a:extLst>
              <a:ext uri="{FF2B5EF4-FFF2-40B4-BE49-F238E27FC236}">
                <a16:creationId xmlns:a16="http://schemas.microsoft.com/office/drawing/2014/main" id="{3D0A6B4D-C531-49D0-A27C-AFB812DF388B}"/>
              </a:ext>
            </a:extLst>
          </p:cNvPr>
          <p:cNvSpPr txBox="1"/>
          <p:nvPr/>
        </p:nvSpPr>
        <p:spPr>
          <a:xfrm>
            <a:off x="7439377" y="500073"/>
            <a:ext cx="4752621" cy="461665"/>
          </a:xfrm>
          <a:prstGeom prst="rect">
            <a:avLst/>
          </a:prstGeom>
          <a:noFill/>
        </p:spPr>
        <p:txBody>
          <a:bodyPr wrap="square" rtlCol="0">
            <a:spAutoFit/>
          </a:bodyPr>
          <a:lstStyle/>
          <a:p>
            <a:r>
              <a:rPr lang="en-US" sz="1200" b="1" dirty="0">
                <a:latin typeface="Tw Cen MT" panose="020B0602020104020603" pitchFamily="34" charset="0"/>
              </a:rPr>
              <a:t>Figure 6. Consumption of grains products in Namibia as a percentage of total food servings between April 2015 and March 2016</a:t>
            </a:r>
            <a:endParaRPr lang="en-US" sz="1200" b="1" dirty="0">
              <a:solidFill>
                <a:srgbClr val="FF0000"/>
              </a:solidFill>
              <a:latin typeface="Tw Cen MT" panose="020B0602020104020603" pitchFamily="34" charset="0"/>
            </a:endParaRPr>
          </a:p>
        </p:txBody>
      </p:sp>
      <p:sp>
        <p:nvSpPr>
          <p:cNvPr id="16" name="TextBox 15">
            <a:extLst>
              <a:ext uri="{FF2B5EF4-FFF2-40B4-BE49-F238E27FC236}">
                <a16:creationId xmlns:a16="http://schemas.microsoft.com/office/drawing/2014/main" id="{7D66A16F-D962-4EF4-BB3F-AA7CCBFE4B94}"/>
              </a:ext>
            </a:extLst>
          </p:cNvPr>
          <p:cNvSpPr txBox="1"/>
          <p:nvPr/>
        </p:nvSpPr>
        <p:spPr>
          <a:xfrm>
            <a:off x="7439378" y="3294650"/>
            <a:ext cx="4752621" cy="461665"/>
          </a:xfrm>
          <a:prstGeom prst="rect">
            <a:avLst/>
          </a:prstGeom>
          <a:noFill/>
        </p:spPr>
        <p:txBody>
          <a:bodyPr wrap="square" rtlCol="0">
            <a:spAutoFit/>
          </a:bodyPr>
          <a:lstStyle/>
          <a:p>
            <a:r>
              <a:rPr lang="en-US" sz="1200" b="1" dirty="0">
                <a:latin typeface="Tw Cen MT" panose="020B0602020104020603" pitchFamily="34" charset="0"/>
              </a:rPr>
              <a:t>Figure 7. Consumption of grains products in </a:t>
            </a:r>
            <a:r>
              <a:rPr lang="en-US" sz="1200" b="1" dirty="0" err="1">
                <a:latin typeface="Tw Cen MT" panose="020B0602020104020603" pitchFamily="34" charset="0"/>
              </a:rPr>
              <a:t>Omusati</a:t>
            </a:r>
            <a:r>
              <a:rPr lang="en-US" sz="1200" b="1" dirty="0">
                <a:latin typeface="Tw Cen MT" panose="020B0602020104020603" pitchFamily="34" charset="0"/>
              </a:rPr>
              <a:t> as a percentage of total food servings between April 2015 and March 2016</a:t>
            </a:r>
          </a:p>
        </p:txBody>
      </p:sp>
      <p:pic>
        <p:nvPicPr>
          <p:cNvPr id="10" name="Picture 9" descr="Chart, line chart&#10;&#10;Description automatically generated">
            <a:extLst>
              <a:ext uri="{FF2B5EF4-FFF2-40B4-BE49-F238E27FC236}">
                <a16:creationId xmlns:a16="http://schemas.microsoft.com/office/drawing/2014/main" id="{64577BA5-9CAB-4840-9A63-992C5A9EE346}"/>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7439376" y="3879137"/>
            <a:ext cx="3821099" cy="2478790"/>
          </a:xfrm>
          <a:prstGeom prst="rect">
            <a:avLst/>
          </a:prstGeom>
        </p:spPr>
      </p:pic>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6682483" cy="498475"/>
          </a:xfrm>
        </p:spPr>
        <p:txBody>
          <a:bodyPr>
            <a:normAutofit/>
          </a:bodyPr>
          <a:lstStyle/>
          <a:p>
            <a:pPr marL="0" indent="0">
              <a:buNone/>
            </a:pPr>
            <a:r>
              <a:rPr lang="en-US" sz="2000" b="1" dirty="0">
                <a:latin typeface="+mj-lt"/>
              </a:rPr>
              <a:t>C. Regional and temporal variations in grain consumption</a:t>
            </a:r>
            <a:endParaRPr lang="en-US" sz="2000" b="1" dirty="0"/>
          </a:p>
        </p:txBody>
      </p:sp>
      <p:sp>
        <p:nvSpPr>
          <p:cNvPr id="17" name="TextBox 16">
            <a:extLst>
              <a:ext uri="{FF2B5EF4-FFF2-40B4-BE49-F238E27FC236}">
                <a16:creationId xmlns:a16="http://schemas.microsoft.com/office/drawing/2014/main" id="{EA95631F-6057-4778-AAAC-29F3DB21AA43}"/>
              </a:ext>
            </a:extLst>
          </p:cNvPr>
          <p:cNvSpPr txBox="1"/>
          <p:nvPr/>
        </p:nvSpPr>
        <p:spPr>
          <a:xfrm>
            <a:off x="6096000" y="2161309"/>
            <a:ext cx="4845898" cy="276999"/>
          </a:xfrm>
          <a:prstGeom prst="rect">
            <a:avLst/>
          </a:prstGeom>
          <a:noFill/>
        </p:spPr>
        <p:txBody>
          <a:bodyPr wrap="square" rtlCol="0">
            <a:spAutoFit/>
          </a:bodyPr>
          <a:lstStyle/>
          <a:p>
            <a:r>
              <a:rPr lang="en-US" sz="1200" b="1" dirty="0">
                <a:latin typeface="Tw Cen MT" panose="020B0602020104020603" pitchFamily="34" charset="0"/>
              </a:rPr>
              <a:t>Figure 8. Quantity of cereals and cereal products consumed by region</a:t>
            </a:r>
          </a:p>
        </p:txBody>
      </p:sp>
      <p:sp>
        <p:nvSpPr>
          <p:cNvPr id="18" name="TextBox 17">
            <a:extLst>
              <a:ext uri="{FF2B5EF4-FFF2-40B4-BE49-F238E27FC236}">
                <a16:creationId xmlns:a16="http://schemas.microsoft.com/office/drawing/2014/main" id="{FE0A9008-FFDA-4335-A3C9-C48DEF33479A}"/>
              </a:ext>
            </a:extLst>
          </p:cNvPr>
          <p:cNvSpPr txBox="1"/>
          <p:nvPr/>
        </p:nvSpPr>
        <p:spPr>
          <a:xfrm>
            <a:off x="838200" y="2161309"/>
            <a:ext cx="4845898" cy="2585323"/>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However, consumption of purchased maize and bread – items likely to be fortified – remain a significant part of food consumed (in g/c/day) throughout the year even in regions with significant communal mahangu production (Figure 8).</a:t>
            </a:r>
          </a:p>
          <a:p>
            <a:pPr marL="285750" indent="-285750">
              <a:buFont typeface="Arial" panose="020B0604020202020204" pitchFamily="34" charset="0"/>
              <a:buChar char="•"/>
            </a:pPr>
            <a:r>
              <a:rPr lang="en-US" dirty="0">
                <a:latin typeface="+mj-lt"/>
              </a:rPr>
              <a:t>Source: </a:t>
            </a:r>
            <a:r>
              <a:rPr lang="en-US" dirty="0" err="1">
                <a:latin typeface="+mj-lt"/>
              </a:rPr>
              <a:t>ADePT</a:t>
            </a:r>
            <a:r>
              <a:rPr lang="en-US" dirty="0">
                <a:latin typeface="+mj-lt"/>
              </a:rPr>
              <a:t> analysis of 7-day Daily Record Book data (Tabs 3.1 and 3.5)</a:t>
            </a:r>
          </a:p>
          <a:p>
            <a:endParaRPr lang="en-US" dirty="0"/>
          </a:p>
        </p:txBody>
      </p:sp>
      <p:pic>
        <p:nvPicPr>
          <p:cNvPr id="5" name="Picture 4" descr="Chart, bar chart&#10;&#10;Description automatically generated">
            <a:extLst>
              <a:ext uri="{FF2B5EF4-FFF2-40B4-BE49-F238E27FC236}">
                <a16:creationId xmlns:a16="http://schemas.microsoft.com/office/drawing/2014/main" id="{1C41AA74-3BFC-DA4D-83C0-9FA4B81B6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8410" y="2908929"/>
            <a:ext cx="5973243" cy="3583946"/>
          </a:xfrm>
          <a:prstGeom prst="rect">
            <a:avLst/>
          </a:prstGeom>
        </p:spPr>
      </p:pic>
    </p:spTree>
    <p:extLst>
      <p:ext uri="{BB962C8B-B14F-4D97-AF65-F5344CB8AC3E}">
        <p14:creationId xmlns:p14="http://schemas.microsoft.com/office/powerpoint/2010/main" val="600031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A: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a:t>
            </a:r>
            <a:r>
              <a:rPr lang="en-US" b="1" dirty="0">
                <a:highlight>
                  <a:srgbClr val="FFFF00"/>
                </a:highlight>
                <a:latin typeface="+mj-lt"/>
                <a:hlinkClick r:id="rId2"/>
              </a:rPr>
              <a:t>HERE</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3F8CB6-23C8-F244-A1E5-5F6CDCFFE53C}"/>
              </a:ext>
            </a:extLst>
          </p:cNvPr>
          <p:cNvSpPr>
            <a:spLocks noGrp="1"/>
          </p:cNvSpPr>
          <p:nvPr>
            <p:ph idx="1"/>
          </p:nvPr>
        </p:nvSpPr>
        <p:spPr>
          <a:xfrm>
            <a:off x="838200" y="1690688"/>
            <a:ext cx="10515600" cy="4486275"/>
          </a:xfrm>
        </p:spPr>
        <p:txBody>
          <a:bodyPr>
            <a:noAutofit/>
          </a:bodyPr>
          <a:lstStyle/>
          <a:p>
            <a:pPr marL="0" indent="0">
              <a:buNone/>
            </a:pPr>
            <a:r>
              <a:rPr lang="en-GB" sz="1800" dirty="0">
                <a:latin typeface="+mj-lt"/>
              </a:rPr>
              <a:t>The World Bank and FAO developed the </a:t>
            </a:r>
            <a:r>
              <a:rPr lang="en-GB" sz="1800" dirty="0" err="1">
                <a:latin typeface="+mj-lt"/>
              </a:rPr>
              <a:t>ADePT</a:t>
            </a:r>
            <a:r>
              <a:rPr lang="en-GB" sz="1800" dirty="0">
                <a:latin typeface="+mj-lt"/>
              </a:rPr>
              <a:t>-Food Security Module (</a:t>
            </a:r>
            <a:r>
              <a:rPr lang="en-GB" sz="1800" dirty="0" err="1">
                <a:latin typeface="+mj-lt"/>
              </a:rPr>
              <a:t>ADePT</a:t>
            </a:r>
            <a:r>
              <a:rPr lang="en-GB" sz="1800" dirty="0">
                <a:latin typeface="+mj-lt"/>
              </a:rPr>
              <a:t>-FSM) in 2012, under the auspices of the European Union Improved Global Governance for Hunger Reduction Program.</a:t>
            </a:r>
          </a:p>
          <a:p>
            <a:pPr marL="0" indent="0">
              <a:buNone/>
            </a:pPr>
            <a:r>
              <a:rPr lang="en-GB" sz="1800" dirty="0" err="1">
                <a:latin typeface="+mj-lt"/>
              </a:rPr>
              <a:t>ADePT</a:t>
            </a:r>
            <a:r>
              <a:rPr lang="en-GB" sz="1800" dirty="0">
                <a:latin typeface="+mj-lt"/>
              </a:rPr>
              <a:t>-FSM is a standalone, free software that allows users to derive consistent food security statistics at national and subnational levels from food acquisition and consumption data collected in national household surveys (e.g., HIES). The software depends on three levels of data from the HIES: (1) the household dataset, (2) the household members dataset, and (3) the household income and expenditures in goods and services dataset, including food. </a:t>
            </a:r>
            <a:r>
              <a:rPr lang="en-GB" sz="1800" dirty="0" err="1">
                <a:latin typeface="+mj-lt"/>
              </a:rPr>
              <a:t>ADePT</a:t>
            </a:r>
            <a:r>
              <a:rPr lang="en-GB" sz="1800" dirty="0">
                <a:latin typeface="+mj-lt"/>
              </a:rPr>
              <a:t>-FSM also requires a fourth dataset including exogenous data on the nutrient content (proteins, carbohydrates, etc.) of the food commodities listed in the survey. Such data are found in food composition tables (FCTs) available for many countries all over the world.</a:t>
            </a:r>
          </a:p>
          <a:p>
            <a:pPr marL="0" indent="0">
              <a:buNone/>
            </a:pPr>
            <a:r>
              <a:rPr lang="en-GB" sz="1800" dirty="0">
                <a:latin typeface="+mj-lt"/>
              </a:rPr>
              <a:t>These statistics are presented in the form of readily available Excel tables and include: the average consumption of dietary energy, macronutrients, micronutrients and amino acids; the distribution of dietary energy consumption, and the estimated proportion of people that is likely to be undernourished in a population. </a:t>
            </a:r>
          </a:p>
          <a:p>
            <a:pPr marL="0" indent="0">
              <a:buNone/>
            </a:pPr>
            <a:r>
              <a:rPr lang="en-GB" sz="1800" dirty="0">
                <a:latin typeface="+mj-lt"/>
              </a:rPr>
              <a:t>For the Namibia Household Income and Expenditure Survey 2015/16, the </a:t>
            </a:r>
            <a:r>
              <a:rPr lang="en-GB" sz="1800" dirty="0" err="1">
                <a:latin typeface="+mj-lt"/>
              </a:rPr>
              <a:t>ADePT</a:t>
            </a:r>
            <a:r>
              <a:rPr lang="en-GB" sz="1800" dirty="0">
                <a:latin typeface="+mj-lt"/>
              </a:rPr>
              <a:t> results (g/c/d) are based on the 7-day food diary. </a:t>
            </a:r>
            <a:r>
              <a:rPr lang="en-GB" sz="1800" dirty="0" err="1">
                <a:latin typeface="+mj-lt"/>
              </a:rPr>
              <a:t>ADePT</a:t>
            </a:r>
            <a:r>
              <a:rPr lang="en-GB" sz="1800" dirty="0">
                <a:latin typeface="+mj-lt"/>
              </a:rPr>
              <a:t> analysis, rather than the raw DRB data, is because the </a:t>
            </a:r>
            <a:r>
              <a:rPr lang="en-GB" sz="1800" dirty="0" err="1">
                <a:latin typeface="+mj-lt"/>
              </a:rPr>
              <a:t>ADePT</a:t>
            </a:r>
            <a:r>
              <a:rPr lang="en-GB" sz="1800" dirty="0">
                <a:latin typeface="+mj-lt"/>
              </a:rPr>
              <a:t> software has some built-in data validations and cleaning processes which help ensure the results are standardized from country to country. The </a:t>
            </a:r>
            <a:r>
              <a:rPr lang="en-GB" sz="1800" dirty="0" err="1">
                <a:latin typeface="+mj-lt"/>
              </a:rPr>
              <a:t>ADePT</a:t>
            </a:r>
            <a:r>
              <a:rPr lang="en-GB" sz="1800" dirty="0">
                <a:latin typeface="+mj-lt"/>
              </a:rPr>
              <a:t> results are also used in the calculation of Prevalence of Undernourishment) which is a well-recognized standard globally and used to monitor SDG 2.</a:t>
            </a:r>
            <a:endParaRPr lang="en-NA" sz="1800" dirty="0">
              <a:latin typeface="+mj-lt"/>
            </a:endParaRPr>
          </a:p>
        </p:txBody>
      </p:sp>
      <p:sp>
        <p:nvSpPr>
          <p:cNvPr id="6" name="Title 1">
            <a:extLst>
              <a:ext uri="{FF2B5EF4-FFF2-40B4-BE49-F238E27FC236}">
                <a16:creationId xmlns:a16="http://schemas.microsoft.com/office/drawing/2014/main" id="{B1FFFCD1-69AE-8F4D-A04A-381D2A82D874}"/>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err="1">
                <a:latin typeface="Tw Cen MT" panose="020B0602020104020603" pitchFamily="34" charset="0"/>
              </a:rPr>
              <a:t>ADePT</a:t>
            </a:r>
            <a:r>
              <a:rPr lang="en-US" sz="2800" b="1" dirty="0">
                <a:latin typeface="Tw Cen MT" panose="020B0602020104020603" pitchFamily="34" charset="0"/>
              </a:rPr>
              <a:t>-FSM Analysis</a:t>
            </a:r>
          </a:p>
        </p:txBody>
      </p:sp>
    </p:spTree>
    <p:extLst>
      <p:ext uri="{BB962C8B-B14F-4D97-AF65-F5344CB8AC3E}">
        <p14:creationId xmlns:p14="http://schemas.microsoft.com/office/powerpoint/2010/main" val="1696162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10884740"/>
              </p:ext>
            </p:extLst>
          </p:nvPr>
        </p:nvGraphicFramePr>
        <p:xfrm>
          <a:off x="838200" y="2013959"/>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err="1">
                          <a:latin typeface="+mj-lt"/>
                        </a:rPr>
                        <a:t>Mahangu</a:t>
                      </a:r>
                      <a:r>
                        <a:rPr lang="en-US" sz="1400" b="1" dirty="0">
                          <a:latin typeface="+mj-lt"/>
                        </a:rPr>
                        <a:t> (%)</a:t>
                      </a:r>
                    </a:p>
                  </a:txBody>
                  <a:tcPr/>
                </a:tc>
                <a:tc>
                  <a:txBody>
                    <a:bodyPr/>
                    <a:lstStyle/>
                    <a:p>
                      <a:pPr algn="ctr"/>
                      <a:r>
                        <a:rPr lang="en-US" sz="1400" b="1" dirty="0">
                          <a:latin typeface="+mj-lt"/>
                        </a:rPr>
                        <a:t>Maize (%)</a:t>
                      </a:r>
                    </a:p>
                  </a:txBody>
                  <a:tcPr/>
                </a:tc>
                <a:tc>
                  <a:txBody>
                    <a:bodyPr/>
                    <a:lstStyle/>
                    <a:p>
                      <a:pPr algn="ctr"/>
                      <a:r>
                        <a:rPr lang="en-US" sz="1400" b="1" dirty="0">
                          <a:latin typeface="+mj-lt"/>
                        </a:rPr>
                        <a:t>Sorghum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0.1</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559</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0.6</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828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561</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22.9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16.0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1.5</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52.7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35.9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9.3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1,084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0.8</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570</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66.6</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25.3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557</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59.0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25.5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38.9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4.2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846</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51.9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7.0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852</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1.4</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837</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4.0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566</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21.8</a:t>
                      </a:r>
                    </a:p>
                  </a:txBody>
                  <a:tcPr/>
                </a:tc>
                <a:tc>
                  <a:txBody>
                    <a:bodyPr/>
                    <a:lstStyle/>
                    <a:p>
                      <a:pPr algn="ctr"/>
                      <a:r>
                        <a:rPr lang="en-US" sz="1400" b="1" dirty="0">
                          <a:latin typeface="+mj-lt"/>
                        </a:rPr>
                        <a:t>6.1</a:t>
                      </a:r>
                    </a:p>
                  </a:txBody>
                  <a:tcPr/>
                </a:tc>
                <a:tc>
                  <a:txBody>
                    <a:bodyPr/>
                    <a:lstStyle/>
                    <a:p>
                      <a:pPr algn="ctr"/>
                      <a:r>
                        <a:rPr lang="en-US" sz="1400" b="1" dirty="0">
                          <a:latin typeface="+mj-lt"/>
                        </a:rPr>
                        <a:t>7.0</a:t>
                      </a:r>
                    </a:p>
                  </a:txBody>
                  <a:tcPr/>
                </a:tc>
                <a:tc>
                  <a:txBody>
                    <a:bodyPr/>
                    <a:lstStyle/>
                    <a:p>
                      <a:pPr algn="ctr" fontAlgn="b"/>
                      <a:r>
                        <a:rPr lang="en-US" sz="1400" b="1" u="none" strike="noStrike" dirty="0">
                          <a:solidFill>
                            <a:srgbClr val="000000"/>
                          </a:solidFill>
                          <a:effectLst/>
                          <a:latin typeface="+mj-lt"/>
                        </a:rPr>
                        <a:t>10,090</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79421"/>
            <a:ext cx="10439400" cy="369332"/>
          </a:xfrm>
          <a:prstGeom prst="rect">
            <a:avLst/>
          </a:prstGeom>
          <a:noFill/>
        </p:spPr>
        <p:txBody>
          <a:bodyPr wrap="square" rtlCol="0">
            <a:spAutoFit/>
          </a:bodyPr>
          <a:lstStyle/>
          <a:p>
            <a:r>
              <a:rPr lang="en-US" b="1" dirty="0">
                <a:latin typeface="Tw Cen MT" panose="020B0602020104020603" pitchFamily="34" charset="0"/>
              </a:rPr>
              <a:t>Table 1. Proportion of households which reported growing </a:t>
            </a:r>
            <a:r>
              <a:rPr lang="en-US" b="1" dirty="0" err="1">
                <a:latin typeface="Tw Cen MT" panose="020B0602020104020603" pitchFamily="34" charset="0"/>
              </a:rPr>
              <a:t>mahangu</a:t>
            </a:r>
            <a:r>
              <a:rPr lang="en-US" b="1" dirty="0">
                <a:latin typeface="Tw Cen MT" panose="020B0602020104020603" pitchFamily="34" charset="0"/>
              </a:rPr>
              <a:t>, maize and sorghum (NHIES 2015/16)</a:t>
            </a:r>
          </a:p>
        </p:txBody>
      </p:sp>
    </p:spTree>
    <p:extLst>
      <p:ext uri="{BB962C8B-B14F-4D97-AF65-F5344CB8AC3E}">
        <p14:creationId xmlns:p14="http://schemas.microsoft.com/office/powerpoint/2010/main" val="3810350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889320236"/>
              </p:ext>
            </p:extLst>
          </p:nvPr>
        </p:nvGraphicFramePr>
        <p:xfrm>
          <a:off x="838200" y="2226394"/>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a:latin typeface="+mj-lt"/>
                        </a:rPr>
                        <a:t>Bought with cash (%)</a:t>
                      </a:r>
                    </a:p>
                  </a:txBody>
                  <a:tcPr/>
                </a:tc>
                <a:tc>
                  <a:txBody>
                    <a:bodyPr/>
                    <a:lstStyle/>
                    <a:p>
                      <a:pPr algn="ctr"/>
                      <a:r>
                        <a:rPr lang="en-US" sz="1400" b="1" dirty="0">
                          <a:latin typeface="+mj-lt"/>
                        </a:rPr>
                        <a:t>Own production (%)</a:t>
                      </a:r>
                    </a:p>
                  </a:txBody>
                  <a:tcPr/>
                </a:tc>
                <a:tc>
                  <a:txBody>
                    <a:bodyPr/>
                    <a:lstStyle/>
                    <a:p>
                      <a:pPr algn="ctr"/>
                      <a:r>
                        <a:rPr lang="en-US" sz="1400" b="1" dirty="0">
                          <a:latin typeface="+mj-lt"/>
                        </a:rPr>
                        <a:t>Assistance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92.9</a:t>
                      </a:r>
                    </a:p>
                  </a:txBody>
                  <a:tcPr marL="6350" marR="6350" marT="6350" marB="0" anchor="b"/>
                </a:tc>
                <a:tc>
                  <a:txBody>
                    <a:bodyPr/>
                    <a:lstStyle/>
                    <a:p>
                      <a:pPr algn="ctr" fontAlgn="b"/>
                      <a:r>
                        <a:rPr lang="en-US" sz="1400" b="1" i="0" u="none" strike="noStrike" dirty="0">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2.3</a:t>
                      </a:r>
                    </a:p>
                  </a:txBody>
                  <a:tcPr marL="6350" marR="6350" marT="6350" marB="0" anchor="b"/>
                </a:tc>
                <a:tc>
                  <a:txBody>
                    <a:bodyPr/>
                    <a:lstStyle/>
                    <a:p>
                      <a:pPr algn="ctr" fontAlgn="b"/>
                      <a:r>
                        <a:rPr lang="en-US" sz="1400" b="1" i="0" u="none" strike="noStrike" dirty="0">
                          <a:solidFill>
                            <a:srgbClr val="000000"/>
                          </a:solidFill>
                          <a:effectLst/>
                          <a:latin typeface="+mj-lt"/>
                        </a:rPr>
                        <a:t>423</a:t>
                      </a: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96.0</a:t>
                      </a:r>
                    </a:p>
                  </a:txBody>
                  <a:tcPr marL="6350" marR="6350" marT="6350" marB="0" anchor="b"/>
                </a:tc>
                <a:tc>
                  <a:txBody>
                    <a:bodyPr/>
                    <a:lstStyle/>
                    <a:p>
                      <a:pPr algn="ctr" fontAlgn="b"/>
                      <a:r>
                        <a:rPr lang="en-US" sz="1400" b="1" i="0" u="none" strike="noStrike">
                          <a:solidFill>
                            <a:srgbClr val="000000"/>
                          </a:solidFill>
                          <a:effectLst/>
                          <a:latin typeface="+mj-lt"/>
                        </a:rPr>
                        <a:t>0.1</a:t>
                      </a:r>
                    </a:p>
                  </a:txBody>
                  <a:tcPr marL="6350" marR="6350" marT="6350" marB="0" anchor="b"/>
                </a:tc>
                <a:tc>
                  <a:txBody>
                    <a:bodyPr/>
                    <a:lstStyle/>
                    <a:p>
                      <a:pPr algn="ctr" fontAlgn="b"/>
                      <a:r>
                        <a:rPr lang="en-US" sz="1400" b="1" i="0" u="none" strike="noStrike">
                          <a:solidFill>
                            <a:srgbClr val="000000"/>
                          </a:solidFill>
                          <a:effectLst/>
                          <a:latin typeface="+mj-lt"/>
                        </a:rPr>
                        <a:t>2.3</a:t>
                      </a:r>
                    </a:p>
                  </a:txBody>
                  <a:tcPr marL="6350" marR="6350" marT="6350" marB="0" anchor="b"/>
                </a:tc>
                <a:tc>
                  <a:txBody>
                    <a:bodyPr/>
                    <a:lstStyle/>
                    <a:p>
                      <a:pPr algn="ctr" fontAlgn="b"/>
                      <a:r>
                        <a:rPr lang="en-US" sz="1400" b="1" i="0" u="none" strike="noStrike">
                          <a:solidFill>
                            <a:srgbClr val="000000"/>
                          </a:solidFill>
                          <a:effectLst/>
                          <a:latin typeface="+mj-lt"/>
                        </a:rPr>
                        <a:t>604</a:t>
                      </a: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81.9</a:t>
                      </a:r>
                    </a:p>
                  </a:txBody>
                  <a:tcPr marL="6350" marR="6350" marT="6350" marB="0" anchor="b"/>
                </a:tc>
                <a:tc>
                  <a:txBody>
                    <a:bodyPr/>
                    <a:lstStyle/>
                    <a:p>
                      <a:pPr algn="ctr" fontAlgn="b"/>
                      <a:r>
                        <a:rPr lang="en-US" sz="1400" b="1" i="0" u="none" strike="noStrike">
                          <a:solidFill>
                            <a:srgbClr val="000000"/>
                          </a:solidFill>
                          <a:effectLst/>
                          <a:latin typeface="+mj-lt"/>
                        </a:rPr>
                        <a:t>0.4</a:t>
                      </a:r>
                    </a:p>
                  </a:txBody>
                  <a:tcPr marL="6350" marR="6350" marT="6350" marB="0" anchor="b"/>
                </a:tc>
                <a:tc>
                  <a:txBody>
                    <a:bodyPr/>
                    <a:lstStyle/>
                    <a:p>
                      <a:pPr algn="ctr" fontAlgn="b"/>
                      <a:r>
                        <a:rPr lang="en-US" sz="1400" b="1" i="0" u="none" strike="noStrike">
                          <a:solidFill>
                            <a:srgbClr val="000000"/>
                          </a:solidFill>
                          <a:effectLst/>
                          <a:latin typeface="+mj-lt"/>
                        </a:rPr>
                        <a:t>12.0</a:t>
                      </a:r>
                    </a:p>
                  </a:txBody>
                  <a:tcPr marL="6350" marR="6350" marT="6350" marB="0" anchor="b"/>
                </a:tc>
                <a:tc>
                  <a:txBody>
                    <a:bodyPr/>
                    <a:lstStyle/>
                    <a:p>
                      <a:pPr algn="ctr" fontAlgn="b"/>
                      <a:r>
                        <a:rPr lang="en-US" sz="1400" b="1" i="0" u="none" strike="noStrike">
                          <a:solidFill>
                            <a:srgbClr val="000000"/>
                          </a:solidFill>
                          <a:effectLst/>
                          <a:latin typeface="+mj-lt"/>
                        </a:rPr>
                        <a:t>493</a:t>
                      </a: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75.7</a:t>
                      </a:r>
                    </a:p>
                  </a:txBody>
                  <a:tcPr marL="6350" marR="6350" marT="6350" marB="0" anchor="b"/>
                </a:tc>
                <a:tc>
                  <a:txBody>
                    <a:bodyPr/>
                    <a:lstStyle/>
                    <a:p>
                      <a:pPr algn="ctr" fontAlgn="b"/>
                      <a:r>
                        <a:rPr lang="en-US" sz="1400" b="1" i="0" u="none" strike="noStrike">
                          <a:solidFill>
                            <a:srgbClr val="000000"/>
                          </a:solidFill>
                          <a:effectLst/>
                          <a:latin typeface="+mj-lt"/>
                        </a:rPr>
                        <a:t>3.0</a:t>
                      </a:r>
                    </a:p>
                  </a:txBody>
                  <a:tcPr marL="6350" marR="6350" marT="6350" marB="0" anchor="b"/>
                </a:tc>
                <a:tc>
                  <a:txBody>
                    <a:bodyPr/>
                    <a:lstStyle/>
                    <a:p>
                      <a:pPr algn="ctr" fontAlgn="b"/>
                      <a:r>
                        <a:rPr lang="en-US" sz="1400" b="1" i="0" u="none" strike="noStrike">
                          <a:solidFill>
                            <a:srgbClr val="000000"/>
                          </a:solidFill>
                          <a:effectLst/>
                          <a:latin typeface="+mj-lt"/>
                        </a:rPr>
                        <a:t>5.9</a:t>
                      </a:r>
                    </a:p>
                  </a:txBody>
                  <a:tcPr marL="6350" marR="6350" marT="6350" marB="0" anchor="b"/>
                </a:tc>
                <a:tc>
                  <a:txBody>
                    <a:bodyPr/>
                    <a:lstStyle/>
                    <a:p>
                      <a:pPr algn="ctr" fontAlgn="b"/>
                      <a:r>
                        <a:rPr lang="en-US" sz="1400" b="1" i="0" u="none" strike="noStrike">
                          <a:solidFill>
                            <a:srgbClr val="000000"/>
                          </a:solidFill>
                          <a:effectLst/>
                          <a:latin typeface="+mj-lt"/>
                        </a:rPr>
                        <a:t>475</a:t>
                      </a: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60.9</a:t>
                      </a:r>
                    </a:p>
                  </a:txBody>
                  <a:tcPr marL="6350" marR="6350" marT="6350" marB="0" anchor="b"/>
                </a:tc>
                <a:tc>
                  <a:txBody>
                    <a:bodyPr/>
                    <a:lstStyle/>
                    <a:p>
                      <a:pPr algn="ctr" fontAlgn="b"/>
                      <a:r>
                        <a:rPr lang="en-US" sz="1400" b="1" i="0" u="none" strike="noStrike">
                          <a:solidFill>
                            <a:srgbClr val="000000"/>
                          </a:solidFill>
                          <a:effectLst/>
                          <a:latin typeface="+mj-lt"/>
                        </a:rPr>
                        <a:t>14.2</a:t>
                      </a:r>
                    </a:p>
                  </a:txBody>
                  <a:tcPr marL="6350" marR="6350" marT="6350" marB="0" anchor="b"/>
                </a:tc>
                <a:tc>
                  <a:txBody>
                    <a:bodyPr/>
                    <a:lstStyle/>
                    <a:p>
                      <a:pPr algn="ctr" fontAlgn="b"/>
                      <a:r>
                        <a:rPr lang="en-US" sz="1400" b="1" i="0" u="none" strike="noStrike">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505</a:t>
                      </a: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92.1</a:t>
                      </a:r>
                    </a:p>
                  </a:txBody>
                  <a:tcPr marL="6350" marR="6350" marT="6350" marB="0" anchor="b"/>
                </a:tc>
                <a:tc>
                  <a:txBody>
                    <a:bodyPr/>
                    <a:lstStyle/>
                    <a:p>
                      <a:pPr algn="ctr" fontAlgn="b"/>
                      <a:r>
                        <a:rPr lang="en-US" sz="1400" b="1" i="0" u="none" strike="noStrike" dirty="0">
                          <a:solidFill>
                            <a:srgbClr val="000000"/>
                          </a:solidFill>
                          <a:effectLst/>
                          <a:latin typeface="+mj-lt"/>
                        </a:rPr>
                        <a:t>0.2</a:t>
                      </a:r>
                    </a:p>
                  </a:txBody>
                  <a:tcPr marL="6350" marR="6350" marT="6350" marB="0" anchor="b"/>
                </a:tc>
                <a:tc>
                  <a:txBody>
                    <a:bodyPr/>
                    <a:lstStyle/>
                    <a:p>
                      <a:pPr algn="ctr" fontAlgn="b"/>
                      <a:r>
                        <a:rPr lang="en-US" sz="1400" b="1" i="0" u="none" strike="noStrike">
                          <a:solidFill>
                            <a:srgbClr val="000000"/>
                          </a:solidFill>
                          <a:effectLst/>
                          <a:latin typeface="+mj-lt"/>
                        </a:rPr>
                        <a:t>1.7</a:t>
                      </a:r>
                    </a:p>
                  </a:txBody>
                  <a:tcPr marL="6350" marR="6350" marT="6350" marB="0" anchor="b"/>
                </a:tc>
                <a:tc>
                  <a:txBody>
                    <a:bodyPr/>
                    <a:lstStyle/>
                    <a:p>
                      <a:pPr algn="ctr" fontAlgn="b"/>
                      <a:r>
                        <a:rPr lang="en-US" sz="1400" b="1" i="0" u="none" strike="noStrike">
                          <a:solidFill>
                            <a:srgbClr val="000000"/>
                          </a:solidFill>
                          <a:effectLst/>
                          <a:latin typeface="+mj-lt"/>
                        </a:rPr>
                        <a:t>862</a:t>
                      </a: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62.0</a:t>
                      </a:r>
                    </a:p>
                  </a:txBody>
                  <a:tcPr marL="6350" marR="6350" marT="6350" marB="0" anchor="b"/>
                </a:tc>
                <a:tc>
                  <a:txBody>
                    <a:bodyPr/>
                    <a:lstStyle/>
                    <a:p>
                      <a:pPr algn="ctr" fontAlgn="b"/>
                      <a:r>
                        <a:rPr lang="en-US" sz="1400" b="1" i="0" u="none" strike="noStrike" dirty="0">
                          <a:solidFill>
                            <a:srgbClr val="000000"/>
                          </a:solidFill>
                          <a:effectLst/>
                          <a:latin typeface="+mj-lt"/>
                        </a:rPr>
                        <a:t>2.4</a:t>
                      </a:r>
                    </a:p>
                  </a:txBody>
                  <a:tcPr marL="6350" marR="6350" marT="6350" marB="0" anchor="b"/>
                </a:tc>
                <a:tc>
                  <a:txBody>
                    <a:bodyPr/>
                    <a:lstStyle/>
                    <a:p>
                      <a:pPr algn="ctr" fontAlgn="b"/>
                      <a:r>
                        <a:rPr lang="en-US" sz="1400" b="1" i="0" u="none" strike="noStrike">
                          <a:solidFill>
                            <a:srgbClr val="000000"/>
                          </a:solidFill>
                          <a:effectLst/>
                          <a:latin typeface="+mj-lt"/>
                        </a:rPr>
                        <a:t>21.7</a:t>
                      </a:r>
                    </a:p>
                  </a:txBody>
                  <a:tcPr marL="6350" marR="6350" marT="6350" marB="0" anchor="b"/>
                </a:tc>
                <a:tc>
                  <a:txBody>
                    <a:bodyPr/>
                    <a:lstStyle/>
                    <a:p>
                      <a:pPr algn="ctr" fontAlgn="b"/>
                      <a:r>
                        <a:rPr lang="en-US" sz="1400" b="1" i="0" u="none" strike="noStrike">
                          <a:solidFill>
                            <a:srgbClr val="000000"/>
                          </a:solidFill>
                          <a:effectLst/>
                          <a:latin typeface="+mj-lt"/>
                        </a:rPr>
                        <a:t>531</a:t>
                      </a: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51.3</a:t>
                      </a:r>
                    </a:p>
                  </a:txBody>
                  <a:tcPr marL="6350" marR="6350" marT="6350" marB="0" anchor="b"/>
                </a:tc>
                <a:tc>
                  <a:txBody>
                    <a:bodyPr/>
                    <a:lstStyle/>
                    <a:p>
                      <a:pPr algn="ctr" fontAlgn="b"/>
                      <a:r>
                        <a:rPr lang="en-US" sz="1400" b="1" i="0" u="none" strike="noStrike" dirty="0">
                          <a:solidFill>
                            <a:srgbClr val="000000"/>
                          </a:solidFill>
                          <a:effectLst/>
                          <a:latin typeface="+mj-lt"/>
                        </a:rPr>
                        <a:t>35.2</a:t>
                      </a:r>
                    </a:p>
                  </a:txBody>
                  <a:tcPr marL="6350" marR="6350" marT="6350" marB="0" anchor="b"/>
                </a:tc>
                <a:tc>
                  <a:txBody>
                    <a:bodyPr/>
                    <a:lstStyle/>
                    <a:p>
                      <a:pPr algn="ctr" fontAlgn="b"/>
                      <a:r>
                        <a:rPr lang="en-US" sz="1400" b="1" i="0" u="none" strike="noStrike">
                          <a:solidFill>
                            <a:srgbClr val="000000"/>
                          </a:solidFill>
                          <a:effectLst/>
                          <a:latin typeface="+mj-lt"/>
                        </a:rPr>
                        <a:t>6.2</a:t>
                      </a:r>
                    </a:p>
                  </a:txBody>
                  <a:tcPr marL="6350" marR="6350" marT="6350" marB="0" anchor="b"/>
                </a:tc>
                <a:tc>
                  <a:txBody>
                    <a:bodyPr/>
                    <a:lstStyle/>
                    <a:p>
                      <a:pPr algn="ctr" fontAlgn="b"/>
                      <a:r>
                        <a:rPr lang="en-US" sz="1400" b="1" i="0" u="none" strike="noStrike">
                          <a:solidFill>
                            <a:srgbClr val="000000"/>
                          </a:solidFill>
                          <a:effectLst/>
                          <a:latin typeface="+mj-lt"/>
                        </a:rPr>
                        <a:t>700</a:t>
                      </a: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76.2</a:t>
                      </a:r>
                    </a:p>
                  </a:txBody>
                  <a:tcPr marL="6350" marR="6350" marT="6350" marB="0" anchor="b"/>
                </a:tc>
                <a:tc>
                  <a:txBody>
                    <a:bodyPr/>
                    <a:lstStyle/>
                    <a:p>
                      <a:pPr algn="ctr" fontAlgn="b"/>
                      <a:r>
                        <a:rPr lang="en-US" sz="1400" b="1" i="0" u="none" strike="noStrike" dirty="0">
                          <a:solidFill>
                            <a:srgbClr val="000000"/>
                          </a:solidFill>
                          <a:effectLst/>
                          <a:latin typeface="+mj-lt"/>
                        </a:rPr>
                        <a:t>2.5</a:t>
                      </a:r>
                    </a:p>
                  </a:txBody>
                  <a:tcPr marL="6350" marR="6350" marT="6350" marB="0" anchor="b"/>
                </a:tc>
                <a:tc>
                  <a:txBody>
                    <a:bodyPr/>
                    <a:lstStyle/>
                    <a:p>
                      <a:pPr algn="ctr" fontAlgn="b"/>
                      <a:r>
                        <a:rPr lang="en-US" sz="1400" b="1" i="0" u="none" strike="noStrike">
                          <a:solidFill>
                            <a:srgbClr val="000000"/>
                          </a:solidFill>
                          <a:effectLst/>
                          <a:latin typeface="+mj-lt"/>
                        </a:rPr>
                        <a:t>7.6</a:t>
                      </a:r>
                    </a:p>
                  </a:txBody>
                  <a:tcPr marL="6350" marR="6350" marT="6350" marB="0" anchor="b"/>
                </a:tc>
                <a:tc>
                  <a:txBody>
                    <a:bodyPr/>
                    <a:lstStyle/>
                    <a:p>
                      <a:pPr algn="ctr" fontAlgn="b"/>
                      <a:r>
                        <a:rPr lang="en-US" sz="1400" b="1" i="0" u="none" strike="noStrike">
                          <a:solidFill>
                            <a:srgbClr val="000000"/>
                          </a:solidFill>
                          <a:effectLst/>
                          <a:latin typeface="+mj-lt"/>
                        </a:rPr>
                        <a:t>484</a:t>
                      </a: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24.5</a:t>
                      </a:r>
                    </a:p>
                  </a:txBody>
                  <a:tcPr marL="6350" marR="6350" marT="6350" marB="0" anchor="b"/>
                </a:tc>
                <a:tc>
                  <a:txBody>
                    <a:bodyPr/>
                    <a:lstStyle/>
                    <a:p>
                      <a:pPr algn="ctr" fontAlgn="b"/>
                      <a:r>
                        <a:rPr lang="en-US" sz="1400" b="1" i="0" u="none" strike="noStrike" dirty="0">
                          <a:solidFill>
                            <a:srgbClr val="000000"/>
                          </a:solidFill>
                          <a:effectLst/>
                          <a:latin typeface="+mj-lt"/>
                        </a:rPr>
                        <a:t>59.2</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645</a:t>
                      </a: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54.7</a:t>
                      </a:r>
                    </a:p>
                  </a:txBody>
                  <a:tcPr marL="6350" marR="6350" marT="6350" marB="0" anchor="b"/>
                </a:tc>
                <a:tc>
                  <a:txBody>
                    <a:bodyPr/>
                    <a:lstStyle/>
                    <a:p>
                      <a:pPr algn="ctr" fontAlgn="b"/>
                      <a:r>
                        <a:rPr lang="en-US" sz="1400" b="1" i="0" u="none" strike="noStrike" dirty="0">
                          <a:solidFill>
                            <a:srgbClr val="000000"/>
                          </a:solidFill>
                          <a:effectLst/>
                          <a:latin typeface="+mj-lt"/>
                        </a:rPr>
                        <a:t>32.8</a:t>
                      </a:r>
                    </a:p>
                  </a:txBody>
                  <a:tcPr marL="6350" marR="6350" marT="6350" marB="0" anchor="b"/>
                </a:tc>
                <a:tc>
                  <a:txBody>
                    <a:bodyPr/>
                    <a:lstStyle/>
                    <a:p>
                      <a:pPr algn="ctr" fontAlgn="b"/>
                      <a:r>
                        <a:rPr lang="en-US" sz="1400" b="1" i="0" u="none" strike="noStrike" dirty="0">
                          <a:solidFill>
                            <a:srgbClr val="000000"/>
                          </a:solidFill>
                          <a:effectLst/>
                          <a:latin typeface="+mj-lt"/>
                        </a:rPr>
                        <a:t>1.8</a:t>
                      </a:r>
                    </a:p>
                  </a:txBody>
                  <a:tcPr marL="6350" marR="6350" marT="6350" marB="0" anchor="b"/>
                </a:tc>
                <a:tc>
                  <a:txBody>
                    <a:bodyPr/>
                    <a:lstStyle/>
                    <a:p>
                      <a:pPr algn="ctr" fontAlgn="b"/>
                      <a:r>
                        <a:rPr lang="en-US" sz="1400" b="1" i="0" u="none" strike="noStrike">
                          <a:solidFill>
                            <a:srgbClr val="000000"/>
                          </a:solidFill>
                          <a:effectLst/>
                          <a:latin typeface="+mj-lt"/>
                        </a:rPr>
                        <a:t>698</a:t>
                      </a: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50.1</a:t>
                      </a:r>
                    </a:p>
                  </a:txBody>
                  <a:tcPr marL="6350" marR="6350" marT="6350" marB="0" anchor="b"/>
                </a:tc>
                <a:tc>
                  <a:txBody>
                    <a:bodyPr/>
                    <a:lstStyle/>
                    <a:p>
                      <a:pPr algn="ctr" fontAlgn="b"/>
                      <a:r>
                        <a:rPr lang="en-US" sz="1400" b="1" i="0" u="none" strike="noStrike">
                          <a:solidFill>
                            <a:srgbClr val="000000"/>
                          </a:solidFill>
                          <a:effectLst/>
                          <a:latin typeface="+mj-lt"/>
                        </a:rPr>
                        <a:t>32.3</a:t>
                      </a:r>
                    </a:p>
                  </a:txBody>
                  <a:tcPr marL="6350" marR="6350" marT="6350" marB="0" anchor="b"/>
                </a:tc>
                <a:tc>
                  <a:txBody>
                    <a:bodyPr/>
                    <a:lstStyle/>
                    <a:p>
                      <a:pPr algn="ctr" fontAlgn="b"/>
                      <a:r>
                        <a:rPr lang="en-US" sz="1400" b="1" i="0" u="none" strike="noStrike" dirty="0">
                          <a:solidFill>
                            <a:srgbClr val="000000"/>
                          </a:solidFill>
                          <a:effectLst/>
                          <a:latin typeface="+mj-lt"/>
                        </a:rPr>
                        <a:t>11.5</a:t>
                      </a:r>
                    </a:p>
                  </a:txBody>
                  <a:tcPr marL="6350" marR="6350" marT="6350" marB="0" anchor="b"/>
                </a:tc>
                <a:tc>
                  <a:txBody>
                    <a:bodyPr/>
                    <a:lstStyle/>
                    <a:p>
                      <a:pPr algn="ctr" fontAlgn="b"/>
                      <a:r>
                        <a:rPr lang="en-US" sz="1400" b="1" i="0" u="none" strike="noStrike">
                          <a:solidFill>
                            <a:srgbClr val="000000"/>
                          </a:solidFill>
                          <a:effectLst/>
                          <a:latin typeface="+mj-lt"/>
                        </a:rPr>
                        <a:t>774</a:t>
                      </a: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80.9</a:t>
                      </a:r>
                    </a:p>
                  </a:txBody>
                  <a:tcPr marL="6350" marR="6350" marT="6350" marB="0" anchor="b"/>
                </a:tc>
                <a:tc>
                  <a:txBody>
                    <a:bodyPr/>
                    <a:lstStyle/>
                    <a:p>
                      <a:pPr algn="ctr" fontAlgn="b"/>
                      <a:r>
                        <a:rPr lang="en-US" sz="1400" b="1" i="0" u="none" strike="noStrike">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4.8</a:t>
                      </a:r>
                    </a:p>
                  </a:txBody>
                  <a:tcPr marL="6350" marR="6350" marT="6350" marB="0" anchor="b"/>
                </a:tc>
                <a:tc>
                  <a:txBody>
                    <a:bodyPr/>
                    <a:lstStyle/>
                    <a:p>
                      <a:pPr algn="ctr" fontAlgn="b"/>
                      <a:r>
                        <a:rPr lang="en-US" sz="1400" b="1" i="0" u="none" strike="noStrike">
                          <a:solidFill>
                            <a:srgbClr val="000000"/>
                          </a:solidFill>
                          <a:effectLst/>
                          <a:latin typeface="+mj-lt"/>
                        </a:rPr>
                        <a:t>684</a:t>
                      </a: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83.9</a:t>
                      </a:r>
                    </a:p>
                  </a:txBody>
                  <a:tcPr marL="6350" marR="6350" marT="6350" marB="0" anchor="b"/>
                </a:tc>
                <a:tc>
                  <a:txBody>
                    <a:bodyPr/>
                    <a:lstStyle/>
                    <a:p>
                      <a:pPr algn="ctr" fontAlgn="b"/>
                      <a:r>
                        <a:rPr lang="en-US" sz="1400" b="1" i="0" u="none" strike="noStrike" dirty="0">
                          <a:solidFill>
                            <a:srgbClr val="000000"/>
                          </a:solidFill>
                          <a:effectLst/>
                          <a:latin typeface="+mj-lt"/>
                        </a:rPr>
                        <a:t>3.0</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dirty="0">
                          <a:solidFill>
                            <a:srgbClr val="000000"/>
                          </a:solidFill>
                          <a:effectLst/>
                          <a:latin typeface="+mj-lt"/>
                        </a:rPr>
                        <a:t>549</a:t>
                      </a: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71.1</a:t>
                      </a:r>
                    </a:p>
                  </a:txBody>
                  <a:tcPr/>
                </a:tc>
                <a:tc>
                  <a:txBody>
                    <a:bodyPr/>
                    <a:lstStyle/>
                    <a:p>
                      <a:pPr algn="ctr"/>
                      <a:r>
                        <a:rPr lang="en-US" sz="1400" b="1" dirty="0">
                          <a:latin typeface="+mj-lt"/>
                        </a:rPr>
                        <a:t>14.8</a:t>
                      </a:r>
                    </a:p>
                  </a:txBody>
                  <a:tcPr/>
                </a:tc>
                <a:tc>
                  <a:txBody>
                    <a:bodyPr/>
                    <a:lstStyle/>
                    <a:p>
                      <a:pPr algn="ctr"/>
                      <a:r>
                        <a:rPr lang="en-US" sz="1400" b="1" dirty="0">
                          <a:latin typeface="+mj-lt"/>
                        </a:rPr>
                        <a:t>6.1</a:t>
                      </a:r>
                    </a:p>
                  </a:txBody>
                  <a:tcPr/>
                </a:tc>
                <a:tc>
                  <a:txBody>
                    <a:bodyPr/>
                    <a:lstStyle/>
                    <a:p>
                      <a:pPr algn="ctr" fontAlgn="b"/>
                      <a:r>
                        <a:rPr lang="en-US" sz="1400" b="1" i="0" u="none" strike="noStrike" dirty="0">
                          <a:solidFill>
                            <a:srgbClr val="000000"/>
                          </a:solidFill>
                          <a:effectLst/>
                          <a:latin typeface="+mj-lt"/>
                        </a:rPr>
                        <a:t>8,427</a:t>
                      </a: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latin typeface="Tw Cen MT" panose="020B0602020104020603" pitchFamily="34" charset="0"/>
              </a:rPr>
              <a:t>Table 2. Among households consuming “other cereals” in 7 days before survey, proportion reporting main source as purchased, own production, and assistance (NHIES 2015/16)</a:t>
            </a:r>
          </a:p>
        </p:txBody>
      </p:sp>
    </p:spTree>
    <p:extLst>
      <p:ext uri="{BB962C8B-B14F-4D97-AF65-F5344CB8AC3E}">
        <p14:creationId xmlns:p14="http://schemas.microsoft.com/office/powerpoint/2010/main" val="6634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99570614"/>
              </p:ext>
            </p:extLst>
          </p:nvPr>
        </p:nvGraphicFramePr>
        <p:xfrm>
          <a:off x="838200" y="2226394"/>
          <a:ext cx="10515605" cy="2588244"/>
        </p:xfrm>
        <a:graphic>
          <a:graphicData uri="http://schemas.openxmlformats.org/drawingml/2006/table">
            <a:tbl>
              <a:tblPr firstRow="1" bandRow="1">
                <a:tableStyleId>{3B4B98B0-60AC-42C2-AFA5-B58CD77FA1E5}</a:tableStyleId>
              </a:tblPr>
              <a:tblGrid>
                <a:gridCol w="1831109">
                  <a:extLst>
                    <a:ext uri="{9D8B030D-6E8A-4147-A177-3AD203B41FA5}">
                      <a16:colId xmlns:a16="http://schemas.microsoft.com/office/drawing/2014/main" val="3771755485"/>
                    </a:ext>
                  </a:extLst>
                </a:gridCol>
                <a:gridCol w="1447416">
                  <a:extLst>
                    <a:ext uri="{9D8B030D-6E8A-4147-A177-3AD203B41FA5}">
                      <a16:colId xmlns:a16="http://schemas.microsoft.com/office/drawing/2014/main" val="1647068758"/>
                    </a:ext>
                  </a:extLst>
                </a:gridCol>
                <a:gridCol w="1447416">
                  <a:extLst>
                    <a:ext uri="{9D8B030D-6E8A-4147-A177-3AD203B41FA5}">
                      <a16:colId xmlns:a16="http://schemas.microsoft.com/office/drawing/2014/main" val="3136655689"/>
                    </a:ext>
                  </a:extLst>
                </a:gridCol>
                <a:gridCol w="1447416">
                  <a:extLst>
                    <a:ext uri="{9D8B030D-6E8A-4147-A177-3AD203B41FA5}">
                      <a16:colId xmlns:a16="http://schemas.microsoft.com/office/drawing/2014/main" val="26931426"/>
                    </a:ext>
                  </a:extLst>
                </a:gridCol>
                <a:gridCol w="1447416">
                  <a:extLst>
                    <a:ext uri="{9D8B030D-6E8A-4147-A177-3AD203B41FA5}">
                      <a16:colId xmlns:a16="http://schemas.microsoft.com/office/drawing/2014/main" val="57770954"/>
                    </a:ext>
                  </a:extLst>
                </a:gridCol>
                <a:gridCol w="1447416">
                  <a:extLst>
                    <a:ext uri="{9D8B030D-6E8A-4147-A177-3AD203B41FA5}">
                      <a16:colId xmlns:a16="http://schemas.microsoft.com/office/drawing/2014/main" val="3656819411"/>
                    </a:ext>
                  </a:extLst>
                </a:gridCol>
                <a:gridCol w="1447416">
                  <a:extLst>
                    <a:ext uri="{9D8B030D-6E8A-4147-A177-3AD203B41FA5}">
                      <a16:colId xmlns:a16="http://schemas.microsoft.com/office/drawing/2014/main" val="1483870915"/>
                    </a:ext>
                  </a:extLst>
                </a:gridCol>
              </a:tblGrid>
              <a:tr h="278974">
                <a:tc>
                  <a:txBody>
                    <a:bodyPr/>
                    <a:lstStyle/>
                    <a:p>
                      <a:endParaRPr lang="en-US" sz="1400" b="1" dirty="0">
                        <a:latin typeface="+mj-lt"/>
                      </a:endParaRPr>
                    </a:p>
                  </a:txBody>
                  <a:tcPr/>
                </a:tc>
                <a:tc gridSpan="2">
                  <a:txBody>
                    <a:bodyPr/>
                    <a:lstStyle/>
                    <a:p>
                      <a:pPr algn="ctr"/>
                      <a:r>
                        <a:rPr lang="en-US" sz="1400" b="1" dirty="0">
                          <a:latin typeface="+mj-lt"/>
                        </a:rPr>
                        <a:t>Maize</a:t>
                      </a:r>
                    </a:p>
                  </a:txBody>
                  <a:tcPr/>
                </a:tc>
                <a:tc hMerge="1">
                  <a:txBody>
                    <a:bodyPr/>
                    <a:lstStyle/>
                    <a:p>
                      <a:pPr algn="ctr"/>
                      <a:endParaRPr lang="en-US" sz="1400" b="1" dirty="0">
                        <a:latin typeface="+mj-lt"/>
                      </a:endParaRPr>
                    </a:p>
                  </a:txBody>
                  <a:tcPr/>
                </a:tc>
                <a:tc gridSpan="2">
                  <a:txBody>
                    <a:bodyPr/>
                    <a:lstStyle/>
                    <a:p>
                      <a:pPr algn="ctr"/>
                      <a:r>
                        <a:rPr lang="en-US" sz="1400" b="1" dirty="0" err="1">
                          <a:latin typeface="+mj-lt"/>
                        </a:rPr>
                        <a:t>Mahangu</a:t>
                      </a:r>
                      <a:endParaRPr lang="en-US" sz="1400" b="1" dirty="0">
                        <a:latin typeface="+mj-lt"/>
                      </a:endParaRPr>
                    </a:p>
                  </a:txBody>
                  <a:tcPr/>
                </a:tc>
                <a:tc hMerge="1">
                  <a:txBody>
                    <a:bodyPr/>
                    <a:lstStyle/>
                    <a:p>
                      <a:pPr algn="ctr"/>
                      <a:endParaRPr lang="en-US" sz="1400" b="1" dirty="0">
                        <a:latin typeface="+mj-lt"/>
                      </a:endParaRPr>
                    </a:p>
                  </a:txBody>
                  <a:tcPr/>
                </a:tc>
                <a:tc gridSpan="2">
                  <a:txBody>
                    <a:bodyPr/>
                    <a:lstStyle/>
                    <a:p>
                      <a:pPr algn="ctr"/>
                      <a:r>
                        <a:rPr lang="en-US" sz="1400" b="1" dirty="0">
                          <a:latin typeface="+mj-lt"/>
                        </a:rPr>
                        <a:t>Sorghum</a:t>
                      </a:r>
                    </a:p>
                  </a:txBody>
                  <a:tcPr/>
                </a:tc>
                <a:tc hMerge="1">
                  <a:txBody>
                    <a:bodyPr/>
                    <a:lstStyle/>
                    <a:p>
                      <a:pPr algn="ctr"/>
                      <a:endParaRPr lang="en-US" sz="1400" b="1" dirty="0">
                        <a:latin typeface="+mj-lt"/>
                      </a:endParaRPr>
                    </a:p>
                  </a:txBody>
                  <a:tcPr/>
                </a:tc>
                <a:extLst>
                  <a:ext uri="{0D108BD9-81ED-4DB2-BD59-A6C34878D82A}">
                    <a16:rowId xmlns:a16="http://schemas.microsoft.com/office/drawing/2014/main" val="2920181130"/>
                  </a:ext>
                </a:extLst>
              </a:tr>
              <a:tr h="278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j-lt"/>
                          <a:ea typeface="+mn-ea"/>
                          <a:cs typeface="+mn-cs"/>
                        </a:rPr>
                        <a:t>Region</a:t>
                      </a:r>
                    </a:p>
                  </a:txBody>
                  <a:tcP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extLst>
                  <a:ext uri="{0D108BD9-81ED-4DB2-BD59-A6C34878D82A}">
                    <a16:rowId xmlns:a16="http://schemas.microsoft.com/office/drawing/2014/main" val="171974943"/>
                  </a:ext>
                </a:extLst>
              </a:tr>
              <a:tr h="278974">
                <a:tc>
                  <a:txBody>
                    <a:bodyPr/>
                    <a:lstStyle/>
                    <a:p>
                      <a:pPr marL="91440" algn="l" fontAlgn="b"/>
                      <a:r>
                        <a:rPr lang="en-US" sz="1400" b="1" i="0" u="none" strike="noStrike" dirty="0" err="1">
                          <a:solidFill>
                            <a:srgbClr val="000000"/>
                          </a:solidFill>
                          <a:effectLst/>
                          <a:latin typeface="+mj-lt"/>
                        </a:rPr>
                        <a:t>Kavango</a:t>
                      </a:r>
                      <a:r>
                        <a:rPr lang="en-US" sz="1400" b="1" i="0" u="none" strike="noStrike" dirty="0">
                          <a:solidFill>
                            <a:srgbClr val="000000"/>
                          </a:solidFill>
                          <a:effectLst/>
                          <a:latin typeface="+mj-lt"/>
                        </a:rPr>
                        <a:t> East and West</a:t>
                      </a:r>
                    </a:p>
                  </a:txBody>
                  <a:tcPr marL="6350" marR="6350" marT="6350" marB="0" anchor="ctr"/>
                </a:tc>
                <a:tc>
                  <a:txBody>
                    <a:bodyPr/>
                    <a:lstStyle/>
                    <a:p>
                      <a:pPr algn="ctr" fontAlgn="b"/>
                      <a:r>
                        <a:rPr lang="en-US" sz="1400" b="1" i="0" u="none" strike="noStrike" dirty="0">
                          <a:solidFill>
                            <a:srgbClr val="000000"/>
                          </a:solidFill>
                          <a:effectLst/>
                          <a:latin typeface="+mj-lt"/>
                        </a:rPr>
                        <a:t>139 </a:t>
                      </a:r>
                    </a:p>
                  </a:txBody>
                  <a:tcPr marL="6350" marR="6350" marT="6350" marB="0" anchor="ctr"/>
                </a:tc>
                <a:tc>
                  <a:txBody>
                    <a:bodyPr/>
                    <a:lstStyle/>
                    <a:p>
                      <a:pPr algn="ctr" fontAlgn="b"/>
                      <a:r>
                        <a:rPr lang="en-US" sz="1400" b="1" i="0" u="none" strike="noStrike">
                          <a:solidFill>
                            <a:srgbClr val="000000"/>
                          </a:solidFill>
                          <a:effectLst/>
                          <a:latin typeface="+mj-lt"/>
                        </a:rPr>
                        <a:t>1,184</a:t>
                      </a:r>
                    </a:p>
                  </a:txBody>
                  <a:tcPr marL="6350" marR="6350" marT="6350" marB="0" anchor="ctr"/>
                </a:tc>
                <a:tc>
                  <a:txBody>
                    <a:bodyPr/>
                    <a:lstStyle/>
                    <a:p>
                      <a:pPr algn="ctr" fontAlgn="b"/>
                      <a:r>
                        <a:rPr lang="en-US" sz="1400" b="1" i="0" u="none" strike="noStrike" dirty="0">
                          <a:solidFill>
                            <a:srgbClr val="000000"/>
                          </a:solidFill>
                          <a:effectLst/>
                          <a:latin typeface="+mj-lt"/>
                        </a:rPr>
                        <a:t>763 </a:t>
                      </a:r>
                    </a:p>
                  </a:txBody>
                  <a:tcPr marL="6350" marR="6350" marT="6350" marB="0" anchor="ctr"/>
                </a:tc>
                <a:tc>
                  <a:txBody>
                    <a:bodyPr/>
                    <a:lstStyle/>
                    <a:p>
                      <a:pPr algn="ctr" fontAlgn="b"/>
                      <a:r>
                        <a:rPr lang="en-US" sz="1400" b="1" i="0" u="none" strike="noStrike" dirty="0">
                          <a:solidFill>
                            <a:srgbClr val="000000"/>
                          </a:solidFill>
                          <a:effectLst/>
                          <a:latin typeface="+mj-lt"/>
                        </a:rPr>
                        <a:t>2,166</a:t>
                      </a:r>
                    </a:p>
                  </a:txBody>
                  <a:tcPr marL="6350" marR="6350" marT="6350" marB="0" anchor="ctr"/>
                </a:tc>
                <a:tc>
                  <a:txBody>
                    <a:bodyPr/>
                    <a:lstStyle/>
                    <a:p>
                      <a:pPr algn="ctr" fontAlgn="b"/>
                      <a:r>
                        <a:rPr lang="en-US" sz="1400" b="1" i="0" u="none" strike="noStrike" dirty="0">
                          <a:solidFill>
                            <a:srgbClr val="000000"/>
                          </a:solidFill>
                          <a:effectLst/>
                          <a:latin typeface="+mj-lt"/>
                        </a:rPr>
                        <a:t>87 </a:t>
                      </a:r>
                    </a:p>
                  </a:txBody>
                  <a:tcPr marL="6350" marR="6350" marT="6350" marB="0" anchor="ctr"/>
                </a:tc>
                <a:tc>
                  <a:txBody>
                    <a:bodyPr/>
                    <a:lstStyle/>
                    <a:p>
                      <a:pPr algn="ctr" fontAlgn="b"/>
                      <a:r>
                        <a:rPr lang="en-US" sz="1400" b="1" i="0" u="none" strike="noStrike" dirty="0">
                          <a:solidFill>
                            <a:srgbClr val="000000"/>
                          </a:solidFill>
                          <a:effectLst/>
                          <a:latin typeface="+mj-lt"/>
                        </a:rPr>
                        <a:t>132</a:t>
                      </a:r>
                    </a:p>
                  </a:txBody>
                  <a:tcPr marL="6350" marR="6350" marT="6350" marB="0" anchor="ctr"/>
                </a:tc>
                <a:extLst>
                  <a:ext uri="{0D108BD9-81ED-4DB2-BD59-A6C34878D82A}">
                    <a16:rowId xmlns:a16="http://schemas.microsoft.com/office/drawing/2014/main" val="2916333070"/>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2,258 </a:t>
                      </a:r>
                    </a:p>
                  </a:txBody>
                  <a:tcPr marL="6350" marR="6350" marT="6350" marB="0" anchor="ctr"/>
                </a:tc>
                <a:tc>
                  <a:txBody>
                    <a:bodyPr/>
                    <a:lstStyle/>
                    <a:p>
                      <a:pPr algn="ctr" fontAlgn="b"/>
                      <a:r>
                        <a:rPr lang="en-US" sz="1400" b="1" i="0" u="none" strike="noStrike" dirty="0">
                          <a:solidFill>
                            <a:srgbClr val="000000"/>
                          </a:solidFill>
                          <a:effectLst/>
                          <a:latin typeface="+mj-lt"/>
                        </a:rPr>
                        <a:t>4,615</a:t>
                      </a:r>
                    </a:p>
                  </a:txBody>
                  <a:tcPr marL="6350" marR="6350" marT="6350" marB="0" anchor="ctr"/>
                </a:tc>
                <a:tc>
                  <a:txBody>
                    <a:bodyPr/>
                    <a:lstStyle/>
                    <a:p>
                      <a:pPr algn="ctr" fontAlgn="b"/>
                      <a:r>
                        <a:rPr lang="en-US" sz="1400" b="1" i="0" u="none" strike="noStrike" dirty="0">
                          <a:solidFill>
                            <a:srgbClr val="000000"/>
                          </a:solidFill>
                          <a:effectLst/>
                          <a:latin typeface="+mj-lt"/>
                        </a:rPr>
                        <a:t>292 </a:t>
                      </a:r>
                    </a:p>
                  </a:txBody>
                  <a:tcPr marL="6350" marR="6350" marT="6350" marB="0" anchor="ctr"/>
                </a:tc>
                <a:tc>
                  <a:txBody>
                    <a:bodyPr/>
                    <a:lstStyle/>
                    <a:p>
                      <a:pPr algn="ctr" fontAlgn="b"/>
                      <a:r>
                        <a:rPr lang="en-US" sz="1400" b="1" i="0" u="none" strike="noStrike" dirty="0">
                          <a:solidFill>
                            <a:srgbClr val="000000"/>
                          </a:solidFill>
                          <a:effectLst/>
                          <a:latin typeface="+mj-lt"/>
                        </a:rPr>
                        <a:t>251</a:t>
                      </a:r>
                    </a:p>
                  </a:txBody>
                  <a:tcPr marL="6350" marR="6350" marT="6350" marB="0" anchor="ctr"/>
                </a:tc>
                <a:extLst>
                  <a:ext uri="{0D108BD9-81ED-4DB2-BD59-A6C34878D82A}">
                    <a16:rowId xmlns:a16="http://schemas.microsoft.com/office/drawing/2014/main" val="3424570291"/>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92</a:t>
                      </a:r>
                    </a:p>
                  </a:txBody>
                  <a:tcPr marL="6350" marR="6350" marT="6350" marB="0" anchor="ctr"/>
                </a:tc>
                <a:tc>
                  <a:txBody>
                    <a:bodyPr/>
                    <a:lstStyle/>
                    <a:p>
                      <a:pPr algn="ctr" fontAlgn="b"/>
                      <a:r>
                        <a:rPr lang="en-US" sz="1400" b="1" i="0" u="none" strike="noStrike" dirty="0">
                          <a:solidFill>
                            <a:srgbClr val="000000"/>
                          </a:solidFill>
                          <a:effectLst/>
                          <a:latin typeface="+mj-lt"/>
                        </a:rPr>
                        <a:t>3,213 </a:t>
                      </a:r>
                    </a:p>
                  </a:txBody>
                  <a:tcPr marL="6350" marR="6350" marT="6350" marB="0" anchor="ctr"/>
                </a:tc>
                <a:tc>
                  <a:txBody>
                    <a:bodyPr/>
                    <a:lstStyle/>
                    <a:p>
                      <a:pPr algn="ctr" fontAlgn="b"/>
                      <a:r>
                        <a:rPr lang="en-US" sz="1400" b="1" i="0" u="none" strike="noStrike" dirty="0">
                          <a:solidFill>
                            <a:srgbClr val="000000"/>
                          </a:solidFill>
                          <a:effectLst/>
                          <a:latin typeface="+mj-lt"/>
                        </a:rPr>
                        <a:t>6,550</a:t>
                      </a:r>
                    </a:p>
                  </a:txBody>
                  <a:tcPr marL="6350" marR="6350" marT="6350" marB="0" anchor="ctr"/>
                </a:tc>
                <a:tc>
                  <a:txBody>
                    <a:bodyPr/>
                    <a:lstStyle/>
                    <a:p>
                      <a:pPr algn="ctr" fontAlgn="b"/>
                      <a:r>
                        <a:rPr lang="en-US" sz="1400" b="1" i="0" u="none" strike="noStrike" dirty="0">
                          <a:solidFill>
                            <a:srgbClr val="000000"/>
                          </a:solidFill>
                          <a:effectLst/>
                          <a:latin typeface="+mj-lt"/>
                        </a:rPr>
                        <a:t>92 </a:t>
                      </a:r>
                    </a:p>
                  </a:txBody>
                  <a:tcPr marL="6350" marR="6350" marT="6350" marB="0" anchor="ctr"/>
                </a:tc>
                <a:tc>
                  <a:txBody>
                    <a:bodyPr/>
                    <a:lstStyle/>
                    <a:p>
                      <a:pPr algn="ctr" fontAlgn="b"/>
                      <a:r>
                        <a:rPr lang="en-US" sz="1400" b="1" i="0" u="none" strike="noStrike" dirty="0">
                          <a:solidFill>
                            <a:srgbClr val="000000"/>
                          </a:solidFill>
                          <a:effectLst/>
                          <a:latin typeface="+mj-lt"/>
                        </a:rPr>
                        <a:t>695</a:t>
                      </a:r>
                    </a:p>
                  </a:txBody>
                  <a:tcPr marL="6350" marR="6350" marT="6350" marB="0" anchor="ctr"/>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3,156 </a:t>
                      </a:r>
                    </a:p>
                  </a:txBody>
                  <a:tcPr marL="6350" marR="6350" marT="6350" marB="0" anchor="ctr"/>
                </a:tc>
                <a:tc>
                  <a:txBody>
                    <a:bodyPr/>
                    <a:lstStyle/>
                    <a:p>
                      <a:pPr algn="ctr" fontAlgn="b"/>
                      <a:r>
                        <a:rPr lang="en-US" sz="1400" b="1" i="0" u="none" strike="noStrike" dirty="0">
                          <a:solidFill>
                            <a:srgbClr val="000000"/>
                          </a:solidFill>
                          <a:effectLst/>
                          <a:latin typeface="+mj-lt"/>
                        </a:rPr>
                        <a:t>2,168</a:t>
                      </a:r>
                    </a:p>
                  </a:txBody>
                  <a:tcPr marL="6350" marR="6350" marT="6350" marB="0" anchor="ctr"/>
                </a:tc>
                <a:tc>
                  <a:txBody>
                    <a:bodyPr/>
                    <a:lstStyle/>
                    <a:p>
                      <a:pPr algn="ctr" fontAlgn="b"/>
                      <a:r>
                        <a:rPr lang="en-US" sz="1400" b="1" i="0" u="none" strike="noStrike" dirty="0">
                          <a:solidFill>
                            <a:srgbClr val="000000"/>
                          </a:solidFill>
                          <a:effectLst/>
                          <a:latin typeface="+mj-lt"/>
                        </a:rPr>
                        <a:t>138 </a:t>
                      </a:r>
                    </a:p>
                  </a:txBody>
                  <a:tcPr marL="6350" marR="6350" marT="6350" marB="0" anchor="ctr"/>
                </a:tc>
                <a:tc>
                  <a:txBody>
                    <a:bodyPr/>
                    <a:lstStyle/>
                    <a:p>
                      <a:pPr algn="ctr" fontAlgn="b"/>
                      <a:r>
                        <a:rPr lang="en-US" sz="1400" b="1" i="0" u="none" strike="noStrike" dirty="0">
                          <a:solidFill>
                            <a:srgbClr val="000000"/>
                          </a:solidFill>
                          <a:effectLst/>
                          <a:latin typeface="+mj-lt"/>
                        </a:rPr>
                        <a:t>199</a:t>
                      </a:r>
                    </a:p>
                  </a:txBody>
                  <a:tcPr marL="6350" marR="6350" marT="6350" marB="0" anchor="ctr"/>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a:solidFill>
                            <a:srgbClr val="000000"/>
                          </a:solidFill>
                          <a:effectLst/>
                          <a:latin typeface="+mj-lt"/>
                        </a:rPr>
                        <a:t>80</a:t>
                      </a:r>
                    </a:p>
                  </a:txBody>
                  <a:tcPr marL="6350" marR="6350" marT="6350" marB="0" anchor="ctr"/>
                </a:tc>
                <a:tc>
                  <a:txBody>
                    <a:bodyPr/>
                    <a:lstStyle/>
                    <a:p>
                      <a:pPr algn="ctr" fontAlgn="b"/>
                      <a:r>
                        <a:rPr lang="en-US" sz="1400" b="1" i="0" u="none" strike="noStrike" dirty="0">
                          <a:solidFill>
                            <a:srgbClr val="000000"/>
                          </a:solidFill>
                          <a:effectLst/>
                          <a:latin typeface="+mj-lt"/>
                        </a:rPr>
                        <a:t>5,581 </a:t>
                      </a:r>
                    </a:p>
                  </a:txBody>
                  <a:tcPr marL="6350" marR="6350" marT="6350" marB="0" anchor="ctr"/>
                </a:tc>
                <a:tc>
                  <a:txBody>
                    <a:bodyPr/>
                    <a:lstStyle/>
                    <a:p>
                      <a:pPr algn="ctr" fontAlgn="b"/>
                      <a:r>
                        <a:rPr lang="en-US" sz="1400" b="1" i="0" u="none" strike="noStrike" dirty="0">
                          <a:solidFill>
                            <a:srgbClr val="000000"/>
                          </a:solidFill>
                          <a:effectLst/>
                          <a:latin typeface="+mj-lt"/>
                        </a:rPr>
                        <a:t>2,829</a:t>
                      </a:r>
                    </a:p>
                  </a:txBody>
                  <a:tcPr marL="6350" marR="6350" marT="6350" marB="0" anchor="ctr"/>
                </a:tc>
                <a:tc>
                  <a:txBody>
                    <a:bodyPr/>
                    <a:lstStyle/>
                    <a:p>
                      <a:pPr algn="ctr" fontAlgn="b"/>
                      <a:r>
                        <a:rPr lang="en-US" sz="1400" b="1" i="0" u="none" strike="noStrike" dirty="0">
                          <a:solidFill>
                            <a:srgbClr val="000000"/>
                          </a:solidFill>
                          <a:effectLst/>
                          <a:latin typeface="+mj-lt"/>
                        </a:rPr>
                        <a:t>186 </a:t>
                      </a:r>
                    </a:p>
                  </a:txBody>
                  <a:tcPr marL="6350" marR="6350" marT="6350" marB="0" anchor="ctr"/>
                </a:tc>
                <a:tc>
                  <a:txBody>
                    <a:bodyPr/>
                    <a:lstStyle/>
                    <a:p>
                      <a:pPr algn="ctr" fontAlgn="b"/>
                      <a:r>
                        <a:rPr lang="en-US" sz="1400" b="1" i="0" u="none" strike="noStrike" dirty="0">
                          <a:solidFill>
                            <a:srgbClr val="000000"/>
                          </a:solidFill>
                          <a:effectLst/>
                          <a:latin typeface="+mj-lt"/>
                        </a:rPr>
                        <a:t>87</a:t>
                      </a:r>
                    </a:p>
                  </a:txBody>
                  <a:tcPr marL="6350" marR="6350" marT="6350" marB="0" anchor="ctr"/>
                </a:tc>
                <a:extLst>
                  <a:ext uri="{0D108BD9-81ED-4DB2-BD59-A6C34878D82A}">
                    <a16:rowId xmlns:a16="http://schemas.microsoft.com/office/drawing/2014/main" val="280951485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1,293 </a:t>
                      </a:r>
                    </a:p>
                  </a:txBody>
                  <a:tcPr marL="6350" marR="6350" marT="6350" marB="0" anchor="ctr"/>
                </a:tc>
                <a:tc>
                  <a:txBody>
                    <a:bodyPr/>
                    <a:lstStyle/>
                    <a:p>
                      <a:pPr algn="ctr" fontAlgn="b"/>
                      <a:r>
                        <a:rPr lang="en-US" sz="1400" b="1" i="0" u="none" strike="noStrike">
                          <a:solidFill>
                            <a:srgbClr val="000000"/>
                          </a:solidFill>
                          <a:effectLst/>
                          <a:latin typeface="+mj-lt"/>
                        </a:rPr>
                        <a:t>745</a:t>
                      </a:r>
                    </a:p>
                  </a:txBody>
                  <a:tcPr marL="6350" marR="6350" marT="6350" marB="0" anchor="ctr"/>
                </a:tc>
                <a:tc>
                  <a:txBody>
                    <a:bodyPr/>
                    <a:lstStyle/>
                    <a:p>
                      <a:pPr algn="ctr" fontAlgn="b"/>
                      <a:r>
                        <a:rPr lang="en-US" sz="1400" b="1" i="0" u="none" strike="noStrike" dirty="0">
                          <a:solidFill>
                            <a:srgbClr val="000000"/>
                          </a:solidFill>
                          <a:effectLst/>
                          <a:latin typeface="+mj-lt"/>
                        </a:rPr>
                        <a:t>331 </a:t>
                      </a:r>
                    </a:p>
                  </a:txBody>
                  <a:tcPr marL="6350" marR="6350" marT="6350" marB="0" anchor="ctr"/>
                </a:tc>
                <a:tc>
                  <a:txBody>
                    <a:bodyPr/>
                    <a:lstStyle/>
                    <a:p>
                      <a:pPr algn="ctr" fontAlgn="b"/>
                      <a:r>
                        <a:rPr lang="en-US" sz="1400" b="1" i="0" u="none" strike="noStrike" dirty="0">
                          <a:solidFill>
                            <a:srgbClr val="000000"/>
                          </a:solidFill>
                          <a:effectLst/>
                          <a:latin typeface="+mj-lt"/>
                        </a:rPr>
                        <a:t>54</a:t>
                      </a:r>
                    </a:p>
                  </a:txBody>
                  <a:tcPr marL="6350" marR="6350" marT="6350" marB="0" anchor="ctr"/>
                </a:tc>
                <a:tc>
                  <a:txBody>
                    <a:bodyPr/>
                    <a:lstStyle/>
                    <a:p>
                      <a:pPr algn="ctr" fontAlgn="b"/>
                      <a:r>
                        <a:rPr lang="en-US" sz="1400" b="1" i="0" u="none" strike="noStrike" dirty="0">
                          <a:solidFill>
                            <a:srgbClr val="000000"/>
                          </a:solidFill>
                          <a:effectLst/>
                          <a:latin typeface="+mj-lt"/>
                        </a:rPr>
                        <a:t>876 </a:t>
                      </a:r>
                    </a:p>
                  </a:txBody>
                  <a:tcPr marL="6350" marR="6350" marT="6350" marB="0" anchor="ctr"/>
                </a:tc>
                <a:tc>
                  <a:txBody>
                    <a:bodyPr/>
                    <a:lstStyle/>
                    <a:p>
                      <a:pPr algn="ctr" fontAlgn="b"/>
                      <a:r>
                        <a:rPr lang="en-US" sz="1400" b="1" i="0" u="none" strike="noStrike" dirty="0">
                          <a:solidFill>
                            <a:srgbClr val="000000"/>
                          </a:solidFill>
                          <a:effectLst/>
                          <a:latin typeface="+mj-lt"/>
                        </a:rPr>
                        <a:t>26</a:t>
                      </a:r>
                    </a:p>
                  </a:txBody>
                  <a:tcPr marL="6350" marR="6350" marT="6350" marB="0" anchor="ctr"/>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fontAlgn="b"/>
                      <a:r>
                        <a:rPr lang="en-US" sz="1400" b="1" i="1" u="none" strike="noStrike" dirty="0">
                          <a:solidFill>
                            <a:srgbClr val="000000"/>
                          </a:solidFill>
                          <a:effectLst/>
                          <a:latin typeface="+mj-lt"/>
                        </a:rPr>
                        <a:t>1,432 </a:t>
                      </a:r>
                    </a:p>
                  </a:txBody>
                  <a:tcPr marL="6350" marR="6350" marT="6350" marB="0" anchor="ctr"/>
                </a:tc>
                <a:tc>
                  <a:txBody>
                    <a:bodyPr/>
                    <a:lstStyle/>
                    <a:p>
                      <a:pPr algn="ctr" fontAlgn="b"/>
                      <a:r>
                        <a:rPr lang="en-US" sz="1400" b="1" i="1" u="none" strike="noStrike" dirty="0">
                          <a:solidFill>
                            <a:srgbClr val="000000"/>
                          </a:solidFill>
                          <a:effectLst/>
                          <a:latin typeface="+mj-lt"/>
                        </a:rPr>
                        <a:t>2,157 </a:t>
                      </a:r>
                    </a:p>
                  </a:txBody>
                  <a:tcPr marL="6350" marR="6350" marT="6350" marB="0" anchor="ctr"/>
                </a:tc>
                <a:tc>
                  <a:txBody>
                    <a:bodyPr/>
                    <a:lstStyle/>
                    <a:p>
                      <a:pPr algn="ctr" fontAlgn="b"/>
                      <a:r>
                        <a:rPr lang="en-US" sz="1400" b="1" i="1" u="none" strike="noStrike" dirty="0">
                          <a:solidFill>
                            <a:srgbClr val="000000"/>
                          </a:solidFill>
                          <a:effectLst/>
                          <a:latin typeface="+mj-lt"/>
                        </a:rPr>
                        <a:t>15,302 </a:t>
                      </a:r>
                    </a:p>
                  </a:txBody>
                  <a:tcPr marL="6350" marR="6350" marT="6350" marB="0" anchor="ctr"/>
                </a:tc>
                <a:tc>
                  <a:txBody>
                    <a:bodyPr/>
                    <a:lstStyle/>
                    <a:p>
                      <a:pPr algn="ctr" fontAlgn="b"/>
                      <a:r>
                        <a:rPr lang="en-US" sz="1400" b="1" i="1" u="none" strike="noStrike" dirty="0">
                          <a:solidFill>
                            <a:srgbClr val="000000"/>
                          </a:solidFill>
                          <a:effectLst/>
                          <a:latin typeface="+mj-lt"/>
                        </a:rPr>
                        <a:t>18,382 </a:t>
                      </a:r>
                    </a:p>
                  </a:txBody>
                  <a:tcPr marL="6350" marR="6350" marT="6350" marB="0" anchor="ctr"/>
                </a:tc>
                <a:tc>
                  <a:txBody>
                    <a:bodyPr/>
                    <a:lstStyle/>
                    <a:p>
                      <a:pPr algn="ctr" fontAlgn="b"/>
                      <a:r>
                        <a:rPr lang="en-US" sz="1400" b="1" i="1" u="none" strike="noStrike" dirty="0">
                          <a:solidFill>
                            <a:srgbClr val="000000"/>
                          </a:solidFill>
                          <a:effectLst/>
                          <a:latin typeface="+mj-lt"/>
                        </a:rPr>
                        <a:t>1,671 </a:t>
                      </a:r>
                    </a:p>
                  </a:txBody>
                  <a:tcPr marL="6350" marR="6350" marT="6350" marB="0" anchor="ctr"/>
                </a:tc>
                <a:tc>
                  <a:txBody>
                    <a:bodyPr/>
                    <a:lstStyle/>
                    <a:p>
                      <a:pPr algn="ctr" fontAlgn="b"/>
                      <a:r>
                        <a:rPr lang="en-US" sz="1400" b="1" i="1" u="none" strike="noStrike" dirty="0">
                          <a:solidFill>
                            <a:srgbClr val="000000"/>
                          </a:solidFill>
                          <a:effectLst/>
                          <a:latin typeface="+mj-lt"/>
                        </a:rPr>
                        <a:t>1,390 </a:t>
                      </a:r>
                    </a:p>
                  </a:txBody>
                  <a:tcPr marL="6350" marR="6350" marT="6350" marB="0" anchor="ctr"/>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t>Table 3. Estimated communal production (MT) of maize, </a:t>
            </a:r>
            <a:r>
              <a:rPr lang="en-US" b="1" dirty="0" err="1"/>
              <a:t>mahangu</a:t>
            </a:r>
            <a:r>
              <a:rPr lang="en-US" b="1" dirty="0"/>
              <a:t> and sorghum in key administrative areas (NHIES 2015/16 and MAWF 2014)</a:t>
            </a:r>
          </a:p>
        </p:txBody>
      </p:sp>
    </p:spTree>
    <p:extLst>
      <p:ext uri="{BB962C8B-B14F-4D97-AF65-F5344CB8AC3E}">
        <p14:creationId xmlns:p14="http://schemas.microsoft.com/office/powerpoint/2010/main" val="408907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15000</TotalTime>
  <Words>2618</Words>
  <Application>Microsoft Office PowerPoint</Application>
  <PresentationFormat>Widescreen</PresentationFormat>
  <Paragraphs>324</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III. Key Findings</vt:lpstr>
      <vt:lpstr>IV. Appendix A: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lpstr>PowerPoint Presentation</vt:lpstr>
      <vt:lpstr>IV. Appendix B: Data Tables</vt:lpstr>
      <vt:lpstr>IV. Appendix B: Data Tables</vt:lpstr>
      <vt:lpstr>IV. Appendix B: Data Tables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Aaron WISE</cp:lastModifiedBy>
  <cp:revision>121</cp:revision>
  <dcterms:created xsi:type="dcterms:W3CDTF">2020-10-13T02:26:37Z</dcterms:created>
  <dcterms:modified xsi:type="dcterms:W3CDTF">2021-03-01T01:59:35Z</dcterms:modified>
</cp:coreProperties>
</file>