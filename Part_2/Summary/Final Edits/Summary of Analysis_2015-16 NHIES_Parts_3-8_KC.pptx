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74" r:id="rId6"/>
    <p:sldId id="275" r:id="rId7"/>
    <p:sldId id="276" r:id="rId8"/>
    <p:sldId id="277" r:id="rId9"/>
    <p:sldId id="260" r:id="rId10"/>
    <p:sldId id="261" r:id="rId11"/>
    <p:sldId id="262" r:id="rId12"/>
    <p:sldId id="263" r:id="rId13"/>
    <p:sldId id="279" r:id="rId14"/>
    <p:sldId id="280" r:id="rId15"/>
    <p:sldId id="283" r:id="rId16"/>
    <p:sldId id="264" r:id="rId17"/>
    <p:sldId id="265" r:id="rId18"/>
    <p:sldId id="266" r:id="rId19"/>
    <p:sldId id="267" r:id="rId20"/>
    <p:sldId id="268" r:id="rId21"/>
    <p:sldId id="269" r:id="rId22"/>
    <p:sldId id="285" r:id="rId23"/>
    <p:sldId id="284" r:id="rId24"/>
    <p:sldId id="270" r:id="rId25"/>
    <p:sldId id="271" r:id="rId26"/>
    <p:sldId id="273" r:id="rId27"/>
    <p:sldId id="286" r:id="rId28"/>
    <p:sldId id="272" r:id="rId29"/>
    <p:sldId id="287" r:id="rId30"/>
    <p:sldId id="27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32"/>
    <p:restoredTop sz="94646"/>
  </p:normalViewPr>
  <p:slideViewPr>
    <p:cSldViewPr snapToGrid="0">
      <p:cViewPr varScale="1">
        <p:scale>
          <a:sx n="79" d="100"/>
          <a:sy n="79" d="100"/>
        </p:scale>
        <p:origin x="107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Users/karencodling/Dropbox/Namibia/NHIES%202015-16%20datasets%20&amp;%20files/HIES%20secondary%20analysis_FINAL/NHIES_FINAL/6_DHS_salt/output/DHS_Namibia_salt_analys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karencodling/Dropbox/Namibia/NHIES%202015-16%20datasets%20&amp;%20files/HIES%20secondary%20analysis_FINAL/NHIES_FINAL/6_DHS_salt/output/DHS_Namibia_salt_analys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karencodling/Dropbox/Namibia/NHIES%202015-16%20datasets%20&amp;%20files/HIES%20secondary%20analysis_FINAL/NHIES_FINAL/6_DHS_salt/output/DHS_Namibia_salt_analyse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of households:</a:t>
            </a:r>
            <a:r>
              <a:rPr lang="en-US" baseline="0"/>
              <a:t> Salt Source = Salt Pan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NA"/>
        </a:p>
      </c:txPr>
    </c:title>
    <c:autoTitleDeleted val="0"/>
    <c:plotArea>
      <c:layout/>
      <c:barChart>
        <c:barDir val="col"/>
        <c:grouping val="clustered"/>
        <c:varyColors val="0"/>
        <c:ser>
          <c:idx val="0"/>
          <c:order val="0"/>
          <c:tx>
            <c:strRef>
              <c:f>'2000_salt_source'!$D$1</c:f>
              <c:strCache>
                <c:ptCount val="1"/>
                <c:pt idx="0">
                  <c:v>salt pan</c:v>
                </c:pt>
              </c:strCache>
            </c:strRef>
          </c:tx>
          <c:spPr>
            <a:solidFill>
              <a:schemeClr val="accent1"/>
            </a:solidFill>
            <a:ln>
              <a:noFill/>
            </a:ln>
            <a:effectLst/>
          </c:spPr>
          <c:invertIfNegative val="0"/>
          <c:cat>
            <c:strRef>
              <c:f>'2000_salt_source'!$A$5:$A$17</c:f>
              <c:strCache>
                <c:ptCount val="13"/>
                <c:pt idx="0">
                  <c:v>caprivi</c:v>
                </c:pt>
                <c:pt idx="1">
                  <c:v>erongo</c:v>
                </c:pt>
                <c:pt idx="2">
                  <c:v>hardap</c:v>
                </c:pt>
                <c:pt idx="3">
                  <c:v>karas</c:v>
                </c:pt>
                <c:pt idx="4">
                  <c:v>kavango</c:v>
                </c:pt>
                <c:pt idx="5">
                  <c:v>khomas</c:v>
                </c:pt>
                <c:pt idx="6">
                  <c:v>kunene</c:v>
                </c:pt>
                <c:pt idx="7">
                  <c:v>ohangwena</c:v>
                </c:pt>
                <c:pt idx="8">
                  <c:v>omaheke</c:v>
                </c:pt>
                <c:pt idx="9">
                  <c:v>omusati</c:v>
                </c:pt>
                <c:pt idx="10">
                  <c:v>oshana</c:v>
                </c:pt>
                <c:pt idx="11">
                  <c:v>oshikoto</c:v>
                </c:pt>
                <c:pt idx="12">
                  <c:v>otjozondjupa</c:v>
                </c:pt>
              </c:strCache>
            </c:strRef>
          </c:cat>
          <c:val>
            <c:numRef>
              <c:f>'2000_salt_source'!$D$5:$D$17</c:f>
              <c:numCache>
                <c:formatCode>0.0%</c:formatCode>
                <c:ptCount val="13"/>
                <c:pt idx="0">
                  <c:v>0</c:v>
                </c:pt>
                <c:pt idx="1">
                  <c:v>3.2890307000000001E-2</c:v>
                </c:pt>
                <c:pt idx="2">
                  <c:v>4.8216229999999997E-3</c:v>
                </c:pt>
                <c:pt idx="3">
                  <c:v>5.6847499999999997E-3</c:v>
                </c:pt>
                <c:pt idx="4">
                  <c:v>0</c:v>
                </c:pt>
                <c:pt idx="5">
                  <c:v>1.9311930000000001E-3</c:v>
                </c:pt>
                <c:pt idx="6">
                  <c:v>1.0829174E-2</c:v>
                </c:pt>
                <c:pt idx="7">
                  <c:v>1.1360387E-2</c:v>
                </c:pt>
                <c:pt idx="8">
                  <c:v>1.6338417000000001E-2</c:v>
                </c:pt>
                <c:pt idx="9">
                  <c:v>0.17191846199999999</c:v>
                </c:pt>
                <c:pt idx="10">
                  <c:v>0.17495729700000001</c:v>
                </c:pt>
                <c:pt idx="11">
                  <c:v>1.3348248E-2</c:v>
                </c:pt>
                <c:pt idx="12">
                  <c:v>3.8520160000000002E-3</c:v>
                </c:pt>
              </c:numCache>
            </c:numRef>
          </c:val>
          <c:extLst>
            <c:ext xmlns:c16="http://schemas.microsoft.com/office/drawing/2014/chart" uri="{C3380CC4-5D6E-409C-BE32-E72D297353CC}">
              <c16:uniqueId val="{00000000-6DF9-854C-B7DA-CB4E3560D28C}"/>
            </c:ext>
          </c:extLst>
        </c:ser>
        <c:dLbls>
          <c:showLegendKey val="0"/>
          <c:showVal val="0"/>
          <c:showCatName val="0"/>
          <c:showSerName val="0"/>
          <c:showPercent val="0"/>
          <c:showBubbleSize val="0"/>
        </c:dLbls>
        <c:gapWidth val="219"/>
        <c:overlap val="-27"/>
        <c:axId val="532067055"/>
        <c:axId val="653218751"/>
      </c:barChart>
      <c:catAx>
        <c:axId val="532067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A"/>
          </a:p>
        </c:txPr>
        <c:crossAx val="653218751"/>
        <c:crosses val="autoZero"/>
        <c:auto val="1"/>
        <c:lblAlgn val="ctr"/>
        <c:lblOffset val="100"/>
        <c:noMultiLvlLbl val="0"/>
      </c:catAx>
      <c:valAx>
        <c:axId val="653218751"/>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A"/>
          </a:p>
        </c:txPr>
        <c:crossAx val="53206705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A"/>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of households: Type</a:t>
            </a:r>
            <a:r>
              <a:rPr lang="en-US" baseline="0"/>
              <a:t> of Salt = Block salt</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NA"/>
        </a:p>
      </c:txPr>
    </c:title>
    <c:autoTitleDeleted val="0"/>
    <c:plotArea>
      <c:layout/>
      <c:barChart>
        <c:barDir val="col"/>
        <c:grouping val="clustered"/>
        <c:varyColors val="0"/>
        <c:ser>
          <c:idx val="0"/>
          <c:order val="0"/>
          <c:tx>
            <c:strRef>
              <c:f>'2000_salt_type'!$D$1</c:f>
              <c:strCache>
                <c:ptCount val="1"/>
                <c:pt idx="0">
                  <c:v>block salt</c:v>
                </c:pt>
              </c:strCache>
            </c:strRef>
          </c:tx>
          <c:spPr>
            <a:solidFill>
              <a:schemeClr val="accent1"/>
            </a:solidFill>
            <a:ln>
              <a:noFill/>
            </a:ln>
            <a:effectLst/>
          </c:spPr>
          <c:invertIfNegative val="0"/>
          <c:cat>
            <c:strRef>
              <c:f>'2000_salt_type'!$A$5:$A$17</c:f>
              <c:strCache>
                <c:ptCount val="13"/>
                <c:pt idx="0">
                  <c:v>caprivi</c:v>
                </c:pt>
                <c:pt idx="1">
                  <c:v>erongo</c:v>
                </c:pt>
                <c:pt idx="2">
                  <c:v>hardap</c:v>
                </c:pt>
                <c:pt idx="3">
                  <c:v>karas</c:v>
                </c:pt>
                <c:pt idx="4">
                  <c:v>kavango</c:v>
                </c:pt>
                <c:pt idx="5">
                  <c:v>khomas</c:v>
                </c:pt>
                <c:pt idx="6">
                  <c:v>kunene</c:v>
                </c:pt>
                <c:pt idx="7">
                  <c:v>ohangwena</c:v>
                </c:pt>
                <c:pt idx="8">
                  <c:v>omaheke</c:v>
                </c:pt>
                <c:pt idx="9">
                  <c:v>omusati</c:v>
                </c:pt>
                <c:pt idx="10">
                  <c:v>oshana</c:v>
                </c:pt>
                <c:pt idx="11">
                  <c:v>oshikoto</c:v>
                </c:pt>
                <c:pt idx="12">
                  <c:v>otjozondjupa</c:v>
                </c:pt>
              </c:strCache>
            </c:strRef>
          </c:cat>
          <c:val>
            <c:numRef>
              <c:f>'2000_salt_type'!$D$5:$D$17</c:f>
              <c:numCache>
                <c:formatCode>0.0%</c:formatCode>
                <c:ptCount val="13"/>
                <c:pt idx="0">
                  <c:v>2.8654356999999998E-2</c:v>
                </c:pt>
                <c:pt idx="1">
                  <c:v>2.7878436999999999E-2</c:v>
                </c:pt>
                <c:pt idx="2">
                  <c:v>0.130050584</c:v>
                </c:pt>
                <c:pt idx="3">
                  <c:v>0.11567184699999999</c:v>
                </c:pt>
                <c:pt idx="4">
                  <c:v>0.41447073499999998</c:v>
                </c:pt>
                <c:pt idx="5">
                  <c:v>3.2417091000000002E-2</c:v>
                </c:pt>
                <c:pt idx="6">
                  <c:v>0.15650445800000001</c:v>
                </c:pt>
                <c:pt idx="7">
                  <c:v>0.65845525900000001</c:v>
                </c:pt>
                <c:pt idx="8">
                  <c:v>0.525237854</c:v>
                </c:pt>
                <c:pt idx="9">
                  <c:v>0.44801415700000002</c:v>
                </c:pt>
                <c:pt idx="10">
                  <c:v>5.9730215000000003E-2</c:v>
                </c:pt>
                <c:pt idx="11">
                  <c:v>0.51401485700000005</c:v>
                </c:pt>
                <c:pt idx="12">
                  <c:v>0.186366895</c:v>
                </c:pt>
              </c:numCache>
            </c:numRef>
          </c:val>
          <c:extLst>
            <c:ext xmlns:c16="http://schemas.microsoft.com/office/drawing/2014/chart" uri="{C3380CC4-5D6E-409C-BE32-E72D297353CC}">
              <c16:uniqueId val="{00000000-8CD4-C341-B8C8-C409183CBD53}"/>
            </c:ext>
          </c:extLst>
        </c:ser>
        <c:dLbls>
          <c:showLegendKey val="0"/>
          <c:showVal val="0"/>
          <c:showCatName val="0"/>
          <c:showSerName val="0"/>
          <c:showPercent val="0"/>
          <c:showBubbleSize val="0"/>
        </c:dLbls>
        <c:gapWidth val="219"/>
        <c:overlap val="-27"/>
        <c:axId val="530620143"/>
        <c:axId val="653225407"/>
      </c:barChart>
      <c:catAx>
        <c:axId val="530620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A"/>
          </a:p>
        </c:txPr>
        <c:crossAx val="653225407"/>
        <c:crosses val="autoZero"/>
        <c:auto val="1"/>
        <c:lblAlgn val="ctr"/>
        <c:lblOffset val="100"/>
        <c:noMultiLvlLbl val="0"/>
      </c:catAx>
      <c:valAx>
        <c:axId val="653225407"/>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A"/>
          </a:p>
        </c:txPr>
        <c:crossAx val="5306201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A"/>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t>
            </a:r>
            <a:r>
              <a:rPr lang="en-US" baseline="0"/>
              <a:t> of households with no iodine in salt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NA"/>
        </a:p>
      </c:txPr>
    </c:title>
    <c:autoTitleDeleted val="0"/>
    <c:plotArea>
      <c:layout/>
      <c:barChart>
        <c:barDir val="col"/>
        <c:grouping val="clustered"/>
        <c:varyColors val="0"/>
        <c:ser>
          <c:idx val="0"/>
          <c:order val="0"/>
          <c:tx>
            <c:strRef>
              <c:f>'2000-2013 comparison'!$B$1</c:f>
              <c:strCache>
                <c:ptCount val="1"/>
                <c:pt idx="0">
                  <c:v>2000 - None</c:v>
                </c:pt>
              </c:strCache>
            </c:strRef>
          </c:tx>
          <c:spPr>
            <a:solidFill>
              <a:schemeClr val="accent1"/>
            </a:solidFill>
            <a:ln>
              <a:noFill/>
            </a:ln>
            <a:effectLst/>
          </c:spPr>
          <c:invertIfNegative val="0"/>
          <c:cat>
            <c:strRef>
              <c:f>'2000-2013 comparison'!$A$2:$A$14</c:f>
              <c:strCache>
                <c:ptCount val="13"/>
                <c:pt idx="0">
                  <c:v>caprivi</c:v>
                </c:pt>
                <c:pt idx="1">
                  <c:v>erongo</c:v>
                </c:pt>
                <c:pt idx="2">
                  <c:v>hardap</c:v>
                </c:pt>
                <c:pt idx="3">
                  <c:v>karas</c:v>
                </c:pt>
                <c:pt idx="4">
                  <c:v>kavango</c:v>
                </c:pt>
                <c:pt idx="5">
                  <c:v>khomas</c:v>
                </c:pt>
                <c:pt idx="6">
                  <c:v>kunene</c:v>
                </c:pt>
                <c:pt idx="7">
                  <c:v>ohangwena</c:v>
                </c:pt>
                <c:pt idx="8">
                  <c:v>omaheke</c:v>
                </c:pt>
                <c:pt idx="9">
                  <c:v>omusati</c:v>
                </c:pt>
                <c:pt idx="10">
                  <c:v>oshana</c:v>
                </c:pt>
                <c:pt idx="11">
                  <c:v>oshikoto</c:v>
                </c:pt>
                <c:pt idx="12">
                  <c:v>otjozondjupa</c:v>
                </c:pt>
              </c:strCache>
            </c:strRef>
          </c:cat>
          <c:val>
            <c:numRef>
              <c:f>'2000-2013 comparison'!$B$2:$B$14</c:f>
              <c:numCache>
                <c:formatCode>0.0%</c:formatCode>
                <c:ptCount val="13"/>
                <c:pt idx="0">
                  <c:v>4.6236229291759703E-2</c:v>
                </c:pt>
                <c:pt idx="1">
                  <c:v>6.3497429523999394E-2</c:v>
                </c:pt>
                <c:pt idx="2">
                  <c:v>0.20189937162308799</c:v>
                </c:pt>
                <c:pt idx="3">
                  <c:v>0.147012048044698</c:v>
                </c:pt>
                <c:pt idx="4">
                  <c:v>0.456717749384838</c:v>
                </c:pt>
                <c:pt idx="5">
                  <c:v>5.1265377157911102E-2</c:v>
                </c:pt>
                <c:pt idx="6">
                  <c:v>0.23968236949337601</c:v>
                </c:pt>
                <c:pt idx="7">
                  <c:v>7.0490084503943007E-2</c:v>
                </c:pt>
                <c:pt idx="8">
                  <c:v>0.60384579585885301</c:v>
                </c:pt>
                <c:pt idx="9">
                  <c:v>0.22393608840212201</c:v>
                </c:pt>
                <c:pt idx="10">
                  <c:v>0.21362655104448</c:v>
                </c:pt>
                <c:pt idx="11">
                  <c:v>0.115623810916064</c:v>
                </c:pt>
                <c:pt idx="12">
                  <c:v>0.223411719353275</c:v>
                </c:pt>
              </c:numCache>
            </c:numRef>
          </c:val>
          <c:extLst>
            <c:ext xmlns:c16="http://schemas.microsoft.com/office/drawing/2014/chart" uri="{C3380CC4-5D6E-409C-BE32-E72D297353CC}">
              <c16:uniqueId val="{00000000-0F07-1344-A541-43D7D36581A1}"/>
            </c:ext>
          </c:extLst>
        </c:ser>
        <c:ser>
          <c:idx val="1"/>
          <c:order val="1"/>
          <c:tx>
            <c:strRef>
              <c:f>'2000-2013 comparison'!$C$1</c:f>
              <c:strCache>
                <c:ptCount val="1"/>
                <c:pt idx="0">
                  <c:v>2013 - None</c:v>
                </c:pt>
              </c:strCache>
            </c:strRef>
          </c:tx>
          <c:spPr>
            <a:solidFill>
              <a:schemeClr val="accent2"/>
            </a:solidFill>
            <a:ln>
              <a:noFill/>
            </a:ln>
            <a:effectLst/>
          </c:spPr>
          <c:invertIfNegative val="0"/>
          <c:cat>
            <c:strRef>
              <c:f>'2000-2013 comparison'!$A$2:$A$14</c:f>
              <c:strCache>
                <c:ptCount val="13"/>
                <c:pt idx="0">
                  <c:v>caprivi</c:v>
                </c:pt>
                <c:pt idx="1">
                  <c:v>erongo</c:v>
                </c:pt>
                <c:pt idx="2">
                  <c:v>hardap</c:v>
                </c:pt>
                <c:pt idx="3">
                  <c:v>karas</c:v>
                </c:pt>
                <c:pt idx="4">
                  <c:v>kavango</c:v>
                </c:pt>
                <c:pt idx="5">
                  <c:v>khomas</c:v>
                </c:pt>
                <c:pt idx="6">
                  <c:v>kunene</c:v>
                </c:pt>
                <c:pt idx="7">
                  <c:v>ohangwena</c:v>
                </c:pt>
                <c:pt idx="8">
                  <c:v>omaheke</c:v>
                </c:pt>
                <c:pt idx="9">
                  <c:v>omusati</c:v>
                </c:pt>
                <c:pt idx="10">
                  <c:v>oshana</c:v>
                </c:pt>
                <c:pt idx="11">
                  <c:v>oshikoto</c:v>
                </c:pt>
                <c:pt idx="12">
                  <c:v>otjozondjupa</c:v>
                </c:pt>
              </c:strCache>
            </c:strRef>
          </c:cat>
          <c:val>
            <c:numRef>
              <c:f>'2000-2013 comparison'!$C$2:$C$14</c:f>
              <c:numCache>
                <c:formatCode>0.0%</c:formatCode>
                <c:ptCount val="13"/>
                <c:pt idx="0">
                  <c:v>3.1686625263012302E-2</c:v>
                </c:pt>
                <c:pt idx="1">
                  <c:v>6.7119332519852998E-2</c:v>
                </c:pt>
                <c:pt idx="2">
                  <c:v>0.22881747467109101</c:v>
                </c:pt>
                <c:pt idx="3">
                  <c:v>0.100153479378824</c:v>
                </c:pt>
                <c:pt idx="4">
                  <c:v>0.211803203915576</c:v>
                </c:pt>
                <c:pt idx="5">
                  <c:v>7.9007462018193197E-2</c:v>
                </c:pt>
                <c:pt idx="6">
                  <c:v>0.25765492222487602</c:v>
                </c:pt>
                <c:pt idx="7">
                  <c:v>0.37910134953180102</c:v>
                </c:pt>
                <c:pt idx="8">
                  <c:v>0.40714099060286502</c:v>
                </c:pt>
                <c:pt idx="9">
                  <c:v>0.435655580402381</c:v>
                </c:pt>
                <c:pt idx="10">
                  <c:v>0.32400397261684299</c:v>
                </c:pt>
                <c:pt idx="11">
                  <c:v>0.399510410408213</c:v>
                </c:pt>
                <c:pt idx="12">
                  <c:v>0.24907443393447601</c:v>
                </c:pt>
              </c:numCache>
            </c:numRef>
          </c:val>
          <c:extLst>
            <c:ext xmlns:c16="http://schemas.microsoft.com/office/drawing/2014/chart" uri="{C3380CC4-5D6E-409C-BE32-E72D297353CC}">
              <c16:uniqueId val="{00000001-0F07-1344-A541-43D7D36581A1}"/>
            </c:ext>
          </c:extLst>
        </c:ser>
        <c:dLbls>
          <c:showLegendKey val="0"/>
          <c:showVal val="0"/>
          <c:showCatName val="0"/>
          <c:showSerName val="0"/>
          <c:showPercent val="0"/>
          <c:showBubbleSize val="0"/>
        </c:dLbls>
        <c:gapWidth val="219"/>
        <c:overlap val="-27"/>
        <c:axId val="532047855"/>
        <c:axId val="653228735"/>
      </c:barChart>
      <c:catAx>
        <c:axId val="532047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A"/>
          </a:p>
        </c:txPr>
        <c:crossAx val="653228735"/>
        <c:crosses val="autoZero"/>
        <c:auto val="1"/>
        <c:lblAlgn val="ctr"/>
        <c:lblOffset val="100"/>
        <c:noMultiLvlLbl val="0"/>
      </c:catAx>
      <c:valAx>
        <c:axId val="653228735"/>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A"/>
          </a:p>
        </c:txPr>
        <c:crossAx val="5320478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A"/>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NA"/>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EBBACE-FAC7-7F43-9C6B-B6A8BE1A0DE6}" type="datetimeFigureOut">
              <a:rPr lang="en-NA" smtClean="0"/>
              <a:t>19/02/2021</a:t>
            </a:fld>
            <a:endParaRPr lang="en-N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F38C6E-29A5-2440-AD01-EE16FC7DFBC5}" type="slidenum">
              <a:rPr lang="en-NA" smtClean="0"/>
              <a:t>‹#›</a:t>
            </a:fld>
            <a:endParaRPr lang="en-NA"/>
          </a:p>
        </p:txBody>
      </p:sp>
    </p:spTree>
    <p:extLst>
      <p:ext uri="{BB962C8B-B14F-4D97-AF65-F5344CB8AC3E}">
        <p14:creationId xmlns:p14="http://schemas.microsoft.com/office/powerpoint/2010/main" val="4229398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A" dirty="0"/>
          </a:p>
        </p:txBody>
      </p:sp>
      <p:sp>
        <p:nvSpPr>
          <p:cNvPr id="4" name="Slide Number Placeholder 3"/>
          <p:cNvSpPr>
            <a:spLocks noGrp="1"/>
          </p:cNvSpPr>
          <p:nvPr>
            <p:ph type="sldNum" sz="quarter" idx="5"/>
          </p:nvPr>
        </p:nvSpPr>
        <p:spPr/>
        <p:txBody>
          <a:bodyPr/>
          <a:lstStyle/>
          <a:p>
            <a:fld id="{32F38C6E-29A5-2440-AD01-EE16FC7DFBC5}" type="slidenum">
              <a:rPr lang="en-NA" smtClean="0"/>
              <a:t>6</a:t>
            </a:fld>
            <a:endParaRPr lang="en-NA"/>
          </a:p>
        </p:txBody>
      </p:sp>
    </p:spTree>
    <p:extLst>
      <p:ext uri="{BB962C8B-B14F-4D97-AF65-F5344CB8AC3E}">
        <p14:creationId xmlns:p14="http://schemas.microsoft.com/office/powerpoint/2010/main" val="2072765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CA6B4-A9CD-49AE-B9C1-64755B9EB3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9622B0-186E-4E22-82F7-79097BDF0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464E0B-D8CE-49A1-833D-AFEFD7938356}"/>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5" name="Footer Placeholder 4">
            <a:extLst>
              <a:ext uri="{FF2B5EF4-FFF2-40B4-BE49-F238E27FC236}">
                <a16:creationId xmlns:a16="http://schemas.microsoft.com/office/drawing/2014/main" id="{303DAB7D-1ABB-4CAF-8BFD-08611AD155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4BDC3F-A375-4004-8024-447793756070}"/>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77864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96A70-1E57-4895-B176-720511569A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256273-0BC2-4497-B0E5-33B95725D4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13FA40-25B4-4360-959B-519AFB08C845}"/>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5" name="Footer Placeholder 4">
            <a:extLst>
              <a:ext uri="{FF2B5EF4-FFF2-40B4-BE49-F238E27FC236}">
                <a16:creationId xmlns:a16="http://schemas.microsoft.com/office/drawing/2014/main" id="{C8F62033-0D86-4ABC-9444-B2D86CD1F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6E0CFF-7C37-4DB6-9D18-33F33EBFE49A}"/>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623140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BAAD0-576F-4382-B9F3-9E525C3D1A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0F2F14-E686-4C9A-BAFC-91206BE477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9A179D-2EFF-4ACC-A08E-93D8DCAF68AA}"/>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5" name="Footer Placeholder 4">
            <a:extLst>
              <a:ext uri="{FF2B5EF4-FFF2-40B4-BE49-F238E27FC236}">
                <a16:creationId xmlns:a16="http://schemas.microsoft.com/office/drawing/2014/main" id="{42AA5DE0-1237-4C62-999A-B48B8E137E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8C693-23AD-4748-991A-8A0A75BAF722}"/>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934014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3A98-B0C5-4410-83A7-6014610B49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6ABADA-3411-404C-98DB-333D4EB08C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281EA7-AC0F-4A57-9CD8-E4C4F88740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E3538A-C099-4C6F-AB61-C38474B08EC1}"/>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6" name="Footer Placeholder 5">
            <a:extLst>
              <a:ext uri="{FF2B5EF4-FFF2-40B4-BE49-F238E27FC236}">
                <a16:creationId xmlns:a16="http://schemas.microsoft.com/office/drawing/2014/main" id="{AC5A480A-57F5-406B-98A3-7F93AD659C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2F8CA-13AA-4850-A9DA-B9FE2083FDBB}"/>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315033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45AC9-8B76-45D0-AE9A-D64D0969A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EC7AF7-5233-4AD1-B373-1B7A1B6A42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6C1637-A60B-44FE-B33E-59C5F3E0EB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7836FA-4728-40AD-ABF3-C5F47E9B65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E76A33-A1B8-4B80-A7A2-FE2C75D739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38C920-55BC-4203-A1F5-B1C9CEBA9551}"/>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8" name="Footer Placeholder 7">
            <a:extLst>
              <a:ext uri="{FF2B5EF4-FFF2-40B4-BE49-F238E27FC236}">
                <a16:creationId xmlns:a16="http://schemas.microsoft.com/office/drawing/2014/main" id="{10E413D1-4C7E-48D9-9C4A-D05422C9E2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EE8F6E-21F8-4171-9C35-FFE586CBE1AE}"/>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18561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2039-1BFC-4550-A6D3-1B4A6A0A4A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3996F7-6649-44E2-9F85-9FA0C0AF9D21}"/>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4" name="Footer Placeholder 3">
            <a:extLst>
              <a:ext uri="{FF2B5EF4-FFF2-40B4-BE49-F238E27FC236}">
                <a16:creationId xmlns:a16="http://schemas.microsoft.com/office/drawing/2014/main" id="{1AA98A43-C40A-4457-AF92-5288B4A480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020F24-3D65-4777-A191-E6B20D0E58F5}"/>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496519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EDD57A-B05A-46C4-AEE8-43CB51F2F199}"/>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3" name="Footer Placeholder 2">
            <a:extLst>
              <a:ext uri="{FF2B5EF4-FFF2-40B4-BE49-F238E27FC236}">
                <a16:creationId xmlns:a16="http://schemas.microsoft.com/office/drawing/2014/main" id="{3AC8DEF7-E2CD-443E-9200-473EF2FD49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F0DA3B-3EA7-48CB-95A7-43F5C6BD8D2B}"/>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1963955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ED687-8792-4846-9D6F-9D9B84F8E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3975E3-5376-4E97-91C9-8774F348D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BDD99A-DFA2-4D06-B3EE-DE24ECBD6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E034BF-78C0-497B-ABEE-BFC25F729245}"/>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6" name="Footer Placeholder 5">
            <a:extLst>
              <a:ext uri="{FF2B5EF4-FFF2-40B4-BE49-F238E27FC236}">
                <a16:creationId xmlns:a16="http://schemas.microsoft.com/office/drawing/2014/main" id="{FB2AC9DC-6242-41F9-A087-A9C23849CD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E897CD-D388-4CB8-9C2C-B402E6D3E007}"/>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3807164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A1B77-35EF-4FE4-A66E-F765AB54BD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8E30B2-6A27-4E58-9DC4-48913A8BE7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59A05A-9AE9-44B8-849D-CF52EF09E2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A60853-BCFB-441B-92DA-722F94CFF346}"/>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6" name="Footer Placeholder 5">
            <a:extLst>
              <a:ext uri="{FF2B5EF4-FFF2-40B4-BE49-F238E27FC236}">
                <a16:creationId xmlns:a16="http://schemas.microsoft.com/office/drawing/2014/main" id="{FA044188-4485-408D-BDD0-67A277C217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39CE07-8574-41C7-AEA9-687B212271B3}"/>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64441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1C701-CC4B-4796-804E-19C0B9B6E0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8C697E-9017-414A-9388-6F294ACB6E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25C1FC-96B7-42B5-BB5E-B918AF37F78E}"/>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5" name="Footer Placeholder 4">
            <a:extLst>
              <a:ext uri="{FF2B5EF4-FFF2-40B4-BE49-F238E27FC236}">
                <a16:creationId xmlns:a16="http://schemas.microsoft.com/office/drawing/2014/main" id="{8D9DEEF5-83F3-4BD2-81C4-3D4FC82B9B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E8931-0F4B-4F8C-8E1E-B158AABB3504}"/>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11884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6510B4-0049-4B88-A17C-606A0B27D1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D7EF34-E34C-4FB9-98CD-B7486E0A5A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517E2-9D49-4BE1-A424-FDEF9B7BC02A}"/>
              </a:ext>
            </a:extLst>
          </p:cNvPr>
          <p:cNvSpPr>
            <a:spLocks noGrp="1"/>
          </p:cNvSpPr>
          <p:nvPr>
            <p:ph type="dt" sz="half" idx="10"/>
          </p:nvPr>
        </p:nvSpPr>
        <p:spPr/>
        <p:txBody>
          <a:bodyPr/>
          <a:lstStyle/>
          <a:p>
            <a:fld id="{2E9A838B-9EEB-4CEB-A0C0-44EBF9CD4AA5}" type="datetimeFigureOut">
              <a:rPr lang="en-US" smtClean="0"/>
              <a:t>2/19/21</a:t>
            </a:fld>
            <a:endParaRPr lang="en-US"/>
          </a:p>
        </p:txBody>
      </p:sp>
      <p:sp>
        <p:nvSpPr>
          <p:cNvPr id="5" name="Footer Placeholder 4">
            <a:extLst>
              <a:ext uri="{FF2B5EF4-FFF2-40B4-BE49-F238E27FC236}">
                <a16:creationId xmlns:a16="http://schemas.microsoft.com/office/drawing/2014/main" id="{3A028D6D-CB24-4EE8-871E-92F09DAC5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F95E9F-08CA-41BD-891A-D4C05C7C6A8B}"/>
              </a:ext>
            </a:extLst>
          </p:cNvPr>
          <p:cNvSpPr>
            <a:spLocks noGrp="1"/>
          </p:cNvSpPr>
          <p:nvPr>
            <p:ph type="sldNum" sz="quarter" idx="12"/>
          </p:nvPr>
        </p:nvSpPr>
        <p:spPr/>
        <p:txBody>
          <a:bodyPr/>
          <a:lstStyle/>
          <a:p>
            <a:fld id="{6AAC1C16-7A5B-45FA-952C-7D904534811D}" type="slidenum">
              <a:rPr lang="en-US" smtClean="0"/>
              <a:t>‹#›</a:t>
            </a:fld>
            <a:endParaRPr lang="en-US"/>
          </a:p>
        </p:txBody>
      </p:sp>
    </p:spTree>
    <p:extLst>
      <p:ext uri="{BB962C8B-B14F-4D97-AF65-F5344CB8AC3E}">
        <p14:creationId xmlns:p14="http://schemas.microsoft.com/office/powerpoint/2010/main" val="2330083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832634-01A2-479A-82A5-C994F11382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A4C0D4-9C7D-4903-A9E4-3ADD355357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D71CF-D87E-40D6-A688-0F8870C9EF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9A838B-9EEB-4CEB-A0C0-44EBF9CD4AA5}" type="datetimeFigureOut">
              <a:rPr lang="en-US" smtClean="0"/>
              <a:t>2/19/21</a:t>
            </a:fld>
            <a:endParaRPr lang="en-US"/>
          </a:p>
        </p:txBody>
      </p:sp>
      <p:sp>
        <p:nvSpPr>
          <p:cNvPr id="5" name="Footer Placeholder 4">
            <a:extLst>
              <a:ext uri="{FF2B5EF4-FFF2-40B4-BE49-F238E27FC236}">
                <a16:creationId xmlns:a16="http://schemas.microsoft.com/office/drawing/2014/main" id="{F992D081-3FF9-4F67-AECC-C7CD3325EA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468C6A7-80FB-404A-8C86-47D3CD4005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AC1C16-7A5B-45FA-952C-7D904534811D}" type="slidenum">
              <a:rPr lang="en-US" smtClean="0"/>
              <a:t>‹#›</a:t>
            </a:fld>
            <a:endParaRPr lang="en-US"/>
          </a:p>
        </p:txBody>
      </p:sp>
    </p:spTree>
    <p:extLst>
      <p:ext uri="{BB962C8B-B14F-4D97-AF65-F5344CB8AC3E}">
        <p14:creationId xmlns:p14="http://schemas.microsoft.com/office/powerpoint/2010/main" val="995431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hyperlink" Target="https://www.dropbox.com/sh/itt9gs7lgsh2va2/AAD3YotIpDZ1ABhPkJeEvzO-a?dl=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4204362"/>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6012524"/>
            <a:ext cx="9144000" cy="369332"/>
          </a:xfrm>
          <a:prstGeom prst="rect">
            <a:avLst/>
          </a:prstGeom>
          <a:noFill/>
        </p:spPr>
        <p:txBody>
          <a:bodyPr wrap="square" rtlCol="0">
            <a:spAutoFit/>
          </a:bodyPr>
          <a:lstStyle/>
          <a:p>
            <a:pPr algn="ctr"/>
            <a:r>
              <a:rPr lang="en-US">
                <a:latin typeface="+mj-lt"/>
              </a:rPr>
              <a:t>18 December 2020</a:t>
            </a:r>
            <a:endParaRPr lang="en-US" dirty="0">
              <a:latin typeface="+mj-lt"/>
            </a:endParaRPr>
          </a:p>
        </p:txBody>
      </p:sp>
      <p:sp>
        <p:nvSpPr>
          <p:cNvPr id="5" name="TextBox 4">
            <a:extLst>
              <a:ext uri="{FF2B5EF4-FFF2-40B4-BE49-F238E27FC236}">
                <a16:creationId xmlns:a16="http://schemas.microsoft.com/office/drawing/2014/main" id="{FAF1A56F-655E-4AED-8650-FCB49B6F8779}"/>
              </a:ext>
            </a:extLst>
          </p:cNvPr>
          <p:cNvSpPr txBox="1"/>
          <p:nvPr/>
        </p:nvSpPr>
        <p:spPr>
          <a:xfrm>
            <a:off x="1524000" y="3192087"/>
            <a:ext cx="9144000" cy="707886"/>
          </a:xfrm>
          <a:prstGeom prst="rect">
            <a:avLst/>
          </a:prstGeom>
          <a:noFill/>
        </p:spPr>
        <p:txBody>
          <a:bodyPr wrap="square" rtlCol="0">
            <a:spAutoFit/>
          </a:bodyPr>
          <a:lstStyle/>
          <a:p>
            <a:pPr algn="ctr"/>
            <a:r>
              <a:rPr lang="en-US" sz="4000" dirty="0">
                <a:latin typeface="Tw Cen MT" panose="020B0602020104020603" pitchFamily="34" charset="0"/>
              </a:rPr>
              <a:t>Tasks 3-8</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Task 3: g/c/d</a:t>
            </a:r>
          </a:p>
          <a:p>
            <a:pPr marL="571500" indent="-571500">
              <a:spcBef>
                <a:spcPts val="600"/>
              </a:spcBef>
              <a:spcAft>
                <a:spcPts val="1200"/>
              </a:spcAft>
              <a:buFont typeface="+mj-lt"/>
              <a:buAutoNum type="romanUcPeriod"/>
            </a:pPr>
            <a:r>
              <a:rPr lang="en-US" sz="2400" dirty="0">
                <a:latin typeface="+mj-lt"/>
              </a:rPr>
              <a:t>Task 4: </a:t>
            </a:r>
            <a:r>
              <a:rPr lang="en-US" sz="2400" dirty="0" err="1">
                <a:latin typeface="+mj-lt"/>
              </a:rPr>
              <a:t>ADePT</a:t>
            </a:r>
            <a:endParaRPr lang="en-US" sz="2400" dirty="0">
              <a:latin typeface="+mj-lt"/>
            </a:endParaRPr>
          </a:p>
          <a:p>
            <a:pPr marL="571500" indent="-571500">
              <a:spcBef>
                <a:spcPts val="600"/>
              </a:spcBef>
              <a:spcAft>
                <a:spcPts val="1200"/>
              </a:spcAft>
              <a:buFont typeface="+mj-lt"/>
              <a:buAutoNum type="romanUcPeriod"/>
            </a:pPr>
            <a:r>
              <a:rPr lang="en-US" sz="2400" dirty="0">
                <a:latin typeface="+mj-lt"/>
              </a:rPr>
              <a:t>Task 5: SADC calculations on micronutrient contribution of fortified foods</a:t>
            </a:r>
          </a:p>
          <a:p>
            <a:pPr marL="571500" indent="-571500">
              <a:spcBef>
                <a:spcPts val="600"/>
              </a:spcBef>
              <a:spcAft>
                <a:spcPts val="1200"/>
              </a:spcAft>
              <a:buFont typeface="+mj-lt"/>
              <a:buAutoNum type="romanUcPeriod"/>
            </a:pPr>
            <a:r>
              <a:rPr lang="en-US" sz="2400" dirty="0">
                <a:latin typeface="+mj-lt"/>
              </a:rPr>
              <a:t>Task 6: DHS salt data</a:t>
            </a:r>
          </a:p>
          <a:p>
            <a:pPr marL="571500" indent="-571500">
              <a:spcBef>
                <a:spcPts val="600"/>
              </a:spcBef>
              <a:spcAft>
                <a:spcPts val="1200"/>
              </a:spcAft>
              <a:buFont typeface="+mj-lt"/>
              <a:buAutoNum type="romanUcPeriod"/>
            </a:pPr>
            <a:r>
              <a:rPr lang="en-US" sz="2400" dirty="0">
                <a:latin typeface="+mj-lt"/>
              </a:rPr>
              <a:t>Task 7: Direct/discretionary salt intake from DRB</a:t>
            </a:r>
          </a:p>
          <a:p>
            <a:pPr marL="571500" indent="-571500">
              <a:spcBef>
                <a:spcPts val="600"/>
              </a:spcBef>
              <a:spcAft>
                <a:spcPts val="1200"/>
              </a:spcAft>
              <a:buFont typeface="+mj-lt"/>
              <a:buAutoNum type="romanUcPeriod"/>
            </a:pPr>
            <a:r>
              <a:rPr lang="en-US" sz="2400" dirty="0">
                <a:latin typeface="+mj-lt"/>
              </a:rPr>
              <a:t>Task 8: Contribution of processed foods to salt intake</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C1E60-5132-4E90-9AB3-AE22F110A83F}"/>
              </a:ext>
            </a:extLst>
          </p:cNvPr>
          <p:cNvSpPr>
            <a:spLocks noGrp="1"/>
          </p:cNvSpPr>
          <p:nvPr>
            <p:ph type="title"/>
          </p:nvPr>
        </p:nvSpPr>
        <p:spPr/>
        <p:txBody>
          <a:bodyPr/>
          <a:lstStyle/>
          <a:p>
            <a:r>
              <a:rPr lang="en-US" dirty="0">
                <a:latin typeface="Tw Cen MT" panose="020B0602020104020603" pitchFamily="34" charset="0"/>
              </a:rPr>
              <a:t>Task 3</a:t>
            </a:r>
          </a:p>
        </p:txBody>
      </p:sp>
      <p:sp>
        <p:nvSpPr>
          <p:cNvPr id="3" name="Content Placeholder 2">
            <a:extLst>
              <a:ext uri="{FF2B5EF4-FFF2-40B4-BE49-F238E27FC236}">
                <a16:creationId xmlns:a16="http://schemas.microsoft.com/office/drawing/2014/main" id="{461BBE5C-A6A1-4913-9B80-D2C8762D4CC6}"/>
              </a:ext>
            </a:extLst>
          </p:cNvPr>
          <p:cNvSpPr>
            <a:spLocks noGrp="1"/>
          </p:cNvSpPr>
          <p:nvPr>
            <p:ph idx="1"/>
          </p:nvPr>
        </p:nvSpPr>
        <p:spPr/>
        <p:txBody>
          <a:bodyPr/>
          <a:lstStyle/>
          <a:p>
            <a:pPr marL="0" indent="0">
              <a:buNone/>
            </a:pPr>
            <a:r>
              <a:rPr lang="en-US" i="1" dirty="0">
                <a:latin typeface="+mj-lt"/>
              </a:rPr>
              <a:t>From most appropriate sources, calculate consumption/availability of fortifiable (imported and commercially produced) wheat, maize and </a:t>
            </a:r>
            <a:r>
              <a:rPr lang="en-US" i="1" dirty="0" err="1">
                <a:latin typeface="+mj-lt"/>
              </a:rPr>
              <a:t>mahangu</a:t>
            </a:r>
            <a:r>
              <a:rPr lang="en-US" i="1" dirty="0">
                <a:latin typeface="+mj-lt"/>
              </a:rPr>
              <a:t>, vegetable oil, and milk as average g/capita/day nationally, for development of national fortification standards. Where available, compile data on regional consumption/availability of these foods, to illustrate regional variations in consumption/availability.</a:t>
            </a:r>
          </a:p>
        </p:txBody>
      </p:sp>
    </p:spTree>
    <p:extLst>
      <p:ext uri="{BB962C8B-B14F-4D97-AF65-F5344CB8AC3E}">
        <p14:creationId xmlns:p14="http://schemas.microsoft.com/office/powerpoint/2010/main" val="592820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DD39A-14D8-45D5-B432-D3F93E831E07}"/>
              </a:ext>
            </a:extLst>
          </p:cNvPr>
          <p:cNvSpPr>
            <a:spLocks noGrp="1"/>
          </p:cNvSpPr>
          <p:nvPr>
            <p:ph type="title"/>
          </p:nvPr>
        </p:nvSpPr>
        <p:spPr/>
        <p:txBody>
          <a:bodyPr/>
          <a:lstStyle/>
          <a:p>
            <a:r>
              <a:rPr lang="en-US" dirty="0">
                <a:latin typeface="Tw Cen MT" panose="020B0602020104020603" pitchFamily="34" charset="0"/>
              </a:rPr>
              <a:t>Task 3: Methodology</a:t>
            </a:r>
          </a:p>
        </p:txBody>
      </p:sp>
      <p:sp>
        <p:nvSpPr>
          <p:cNvPr id="3" name="Content Placeholder 2">
            <a:extLst>
              <a:ext uri="{FF2B5EF4-FFF2-40B4-BE49-F238E27FC236}">
                <a16:creationId xmlns:a16="http://schemas.microsoft.com/office/drawing/2014/main" id="{702CFCF2-4DA6-4761-A4B6-7B10DB9BBB25}"/>
              </a:ext>
            </a:extLst>
          </p:cNvPr>
          <p:cNvSpPr>
            <a:spLocks noGrp="1"/>
          </p:cNvSpPr>
          <p:nvPr>
            <p:ph idx="1"/>
          </p:nvPr>
        </p:nvSpPr>
        <p:spPr>
          <a:xfrm>
            <a:off x="838200" y="1564368"/>
            <a:ext cx="10515600" cy="4351338"/>
          </a:xfrm>
        </p:spPr>
        <p:txBody>
          <a:bodyPr>
            <a:noAutofit/>
          </a:bodyPr>
          <a:lstStyle/>
          <a:p>
            <a:pPr marL="274320">
              <a:lnSpc>
                <a:spcPct val="100000"/>
              </a:lnSpc>
              <a:spcBef>
                <a:spcPts val="1200"/>
              </a:spcBef>
              <a:spcAft>
                <a:spcPts val="1200"/>
              </a:spcAft>
              <a:buFont typeface="Wingdings" panose="05000000000000000000" pitchFamily="2" charset="2"/>
              <a:buChar char="§"/>
            </a:pPr>
            <a:r>
              <a:rPr lang="en-US" sz="2000" b="1" dirty="0">
                <a:latin typeface="+mj-lt"/>
              </a:rPr>
              <a:t>Data Sources</a:t>
            </a:r>
            <a:r>
              <a:rPr lang="en-US" sz="2000" dirty="0">
                <a:latin typeface="+mj-lt"/>
              </a:rPr>
              <a:t>: FAO </a:t>
            </a:r>
            <a:r>
              <a:rPr lang="en-US" sz="2000" dirty="0" err="1">
                <a:latin typeface="+mj-lt"/>
              </a:rPr>
              <a:t>ADePT</a:t>
            </a:r>
            <a:r>
              <a:rPr lang="en-US" sz="2000" dirty="0">
                <a:latin typeface="+mj-lt"/>
              </a:rPr>
              <a:t> results file (November 2020 version)</a:t>
            </a:r>
          </a:p>
          <a:p>
            <a:pPr marL="274320">
              <a:lnSpc>
                <a:spcPct val="100000"/>
              </a:lnSpc>
              <a:spcBef>
                <a:spcPts val="1200"/>
              </a:spcBef>
              <a:spcAft>
                <a:spcPts val="1200"/>
              </a:spcAft>
              <a:buFont typeface="Wingdings" panose="05000000000000000000" pitchFamily="2" charset="2"/>
              <a:buChar char="§"/>
            </a:pPr>
            <a:r>
              <a:rPr lang="en-US" sz="2000" b="1" dirty="0">
                <a:latin typeface="+mj-lt"/>
              </a:rPr>
              <a:t>Software</a:t>
            </a:r>
            <a:r>
              <a:rPr lang="en-US" sz="2000" dirty="0">
                <a:latin typeface="+mj-lt"/>
              </a:rPr>
              <a:t>: Python 3.8</a:t>
            </a:r>
          </a:p>
          <a:p>
            <a:pPr marL="274320">
              <a:lnSpc>
                <a:spcPct val="100000"/>
              </a:lnSpc>
              <a:spcBef>
                <a:spcPts val="1200"/>
              </a:spcBef>
              <a:spcAft>
                <a:spcPts val="1200"/>
              </a:spcAft>
              <a:buFont typeface="Wingdings" panose="05000000000000000000" pitchFamily="2" charset="2"/>
              <a:buChar char="§"/>
            </a:pPr>
            <a:r>
              <a:rPr lang="en-US" sz="2000" b="1" dirty="0">
                <a:latin typeface="+mj-lt"/>
              </a:rPr>
              <a:t>Analysis</a:t>
            </a:r>
            <a:r>
              <a:rPr lang="en-US" sz="2000" dirty="0">
                <a:latin typeface="+mj-lt"/>
              </a:rPr>
              <a:t> </a:t>
            </a:r>
            <a:r>
              <a:rPr lang="en-US" sz="2000" b="1" dirty="0">
                <a:latin typeface="+mj-lt"/>
              </a:rPr>
              <a:t>Process</a:t>
            </a:r>
            <a:r>
              <a:rPr lang="en-US" sz="2000" dirty="0">
                <a:latin typeface="+mj-lt"/>
              </a:rPr>
              <a:t>: The 2020 </a:t>
            </a:r>
            <a:r>
              <a:rPr lang="en-US" sz="2000" dirty="0" err="1">
                <a:latin typeface="+mj-lt"/>
              </a:rPr>
              <a:t>ADePT</a:t>
            </a:r>
            <a:r>
              <a:rPr lang="en-US" sz="2000" dirty="0">
                <a:latin typeface="+mj-lt"/>
              </a:rPr>
              <a:t> results for Namibia, calculated by FAO, were used to estimate the g/c/d at the national and regional level for several potential fortification vectors (food items), including wheat, maize, mahangu, salt, milk, oil and sugar including foods made with those foods. The estimated “fortifiable content” (i.e. % of the food made up of the fortified food - proportion of bread that is wheat flour) in each food item was provided by IGN. These proportions were applied to the individual food items in the </a:t>
            </a:r>
            <a:r>
              <a:rPr lang="en-US" sz="2000" dirty="0" err="1">
                <a:latin typeface="+mj-lt"/>
              </a:rPr>
              <a:t>ADePT</a:t>
            </a:r>
            <a:r>
              <a:rPr lang="en-US" sz="2000" dirty="0">
                <a:latin typeface="+mj-lt"/>
              </a:rPr>
              <a:t> results and summed to produce the output.</a:t>
            </a:r>
          </a:p>
          <a:p>
            <a:pPr marL="274320">
              <a:lnSpc>
                <a:spcPct val="100000"/>
              </a:lnSpc>
              <a:spcBef>
                <a:spcPts val="1200"/>
              </a:spcBef>
              <a:spcAft>
                <a:spcPts val="1200"/>
              </a:spcAft>
              <a:buFont typeface="Wingdings" panose="05000000000000000000" pitchFamily="2" charset="2"/>
              <a:buChar char="§"/>
            </a:pPr>
            <a:r>
              <a:rPr lang="en-US" sz="2000" b="1" dirty="0">
                <a:latin typeface="+mj-lt"/>
              </a:rPr>
              <a:t>Limitations</a:t>
            </a:r>
            <a:r>
              <a:rPr lang="en-US" sz="2000" dirty="0">
                <a:latin typeface="+mj-lt"/>
              </a:rPr>
              <a:t>: The accuracy of the analysis is dependent upon the accuracy of the underlying </a:t>
            </a:r>
            <a:r>
              <a:rPr lang="en-US" sz="2000" dirty="0" err="1">
                <a:latin typeface="+mj-lt"/>
              </a:rPr>
              <a:t>ADePT</a:t>
            </a:r>
            <a:r>
              <a:rPr lang="en-US" sz="2000" dirty="0">
                <a:latin typeface="+mj-lt"/>
              </a:rPr>
              <a:t> results. Small adjustments in the “fortifiable content” proportions could have material impacts on the outputs.</a:t>
            </a:r>
          </a:p>
        </p:txBody>
      </p:sp>
    </p:spTree>
    <p:extLst>
      <p:ext uri="{BB962C8B-B14F-4D97-AF65-F5344CB8AC3E}">
        <p14:creationId xmlns:p14="http://schemas.microsoft.com/office/powerpoint/2010/main" val="1457799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8433-A179-F442-B952-63F12F1B35F3}"/>
              </a:ext>
            </a:extLst>
          </p:cNvPr>
          <p:cNvSpPr>
            <a:spLocks noGrp="1"/>
          </p:cNvSpPr>
          <p:nvPr>
            <p:ph type="title"/>
          </p:nvPr>
        </p:nvSpPr>
        <p:spPr/>
        <p:txBody>
          <a:bodyPr/>
          <a:lstStyle/>
          <a:p>
            <a:r>
              <a:rPr lang="en-NA" dirty="0"/>
              <a:t>Task 3: Foods included in the calculation and % fortifiable content for wheat flour</a:t>
            </a:r>
          </a:p>
        </p:txBody>
      </p:sp>
      <p:graphicFrame>
        <p:nvGraphicFramePr>
          <p:cNvPr id="4" name="Table 4">
            <a:extLst>
              <a:ext uri="{FF2B5EF4-FFF2-40B4-BE49-F238E27FC236}">
                <a16:creationId xmlns:a16="http://schemas.microsoft.com/office/drawing/2014/main" id="{7E748BE4-DCEE-5648-A847-C1C39A3AA5D5}"/>
              </a:ext>
            </a:extLst>
          </p:cNvPr>
          <p:cNvGraphicFramePr>
            <a:graphicFrameLocks noGrp="1"/>
          </p:cNvGraphicFramePr>
          <p:nvPr>
            <p:ph idx="1"/>
            <p:extLst>
              <p:ext uri="{D42A27DB-BD31-4B8C-83A1-F6EECF244321}">
                <p14:modId xmlns:p14="http://schemas.microsoft.com/office/powerpoint/2010/main" val="3019263393"/>
              </p:ext>
            </p:extLst>
          </p:nvPr>
        </p:nvGraphicFramePr>
        <p:xfrm>
          <a:off x="838201" y="1968931"/>
          <a:ext cx="10379528" cy="3870960"/>
        </p:xfrm>
        <a:graphic>
          <a:graphicData uri="http://schemas.openxmlformats.org/drawingml/2006/table">
            <a:tbl>
              <a:tblPr firstRow="1" bandRow="1">
                <a:tableStyleId>{5C22544A-7EE6-4342-B048-85BDC9FD1C3A}</a:tableStyleId>
              </a:tblPr>
              <a:tblGrid>
                <a:gridCol w="1895662">
                  <a:extLst>
                    <a:ext uri="{9D8B030D-6E8A-4147-A177-3AD203B41FA5}">
                      <a16:colId xmlns:a16="http://schemas.microsoft.com/office/drawing/2014/main" val="1938524739"/>
                    </a:ext>
                  </a:extLst>
                </a:gridCol>
                <a:gridCol w="4777280">
                  <a:extLst>
                    <a:ext uri="{9D8B030D-6E8A-4147-A177-3AD203B41FA5}">
                      <a16:colId xmlns:a16="http://schemas.microsoft.com/office/drawing/2014/main" val="1751083270"/>
                    </a:ext>
                  </a:extLst>
                </a:gridCol>
                <a:gridCol w="2158980">
                  <a:extLst>
                    <a:ext uri="{9D8B030D-6E8A-4147-A177-3AD203B41FA5}">
                      <a16:colId xmlns:a16="http://schemas.microsoft.com/office/drawing/2014/main" val="3373922058"/>
                    </a:ext>
                  </a:extLst>
                </a:gridCol>
                <a:gridCol w="1547606">
                  <a:extLst>
                    <a:ext uri="{9D8B030D-6E8A-4147-A177-3AD203B41FA5}">
                      <a16:colId xmlns:a16="http://schemas.microsoft.com/office/drawing/2014/main" val="2038246335"/>
                    </a:ext>
                  </a:extLst>
                </a:gridCol>
              </a:tblGrid>
              <a:tr h="370840">
                <a:tc>
                  <a:txBody>
                    <a:bodyPr/>
                    <a:lstStyle/>
                    <a:p>
                      <a:r>
                        <a:rPr lang="en-NA" dirty="0"/>
                        <a:t>Food Item Code</a:t>
                      </a:r>
                    </a:p>
                  </a:txBody>
                  <a:tcPr/>
                </a:tc>
                <a:tc>
                  <a:txBody>
                    <a:bodyPr/>
                    <a:lstStyle/>
                    <a:p>
                      <a:r>
                        <a:rPr lang="en-NA" dirty="0"/>
                        <a:t>Food item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A" dirty="0"/>
                        <a:t>Average quantity as purchased (g/c/d)</a:t>
                      </a:r>
                    </a:p>
                  </a:txBody>
                  <a:tcPr/>
                </a:tc>
                <a:tc>
                  <a:txBody>
                    <a:bodyPr/>
                    <a:lstStyle/>
                    <a:p>
                      <a:pPr algn="ctr"/>
                      <a:r>
                        <a:rPr lang="en-NA" dirty="0"/>
                        <a:t>Cereal flour content (%)</a:t>
                      </a:r>
                      <a:r>
                        <a:rPr lang="en-NA" baseline="30000" dirty="0"/>
                        <a:t>1</a:t>
                      </a:r>
                    </a:p>
                  </a:txBody>
                  <a:tcPr/>
                </a:tc>
                <a:extLst>
                  <a:ext uri="{0D108BD9-81ED-4DB2-BD59-A6C34878D82A}">
                    <a16:rowId xmlns:a16="http://schemas.microsoft.com/office/drawing/2014/main" val="565765799"/>
                  </a:ext>
                </a:extLst>
              </a:tr>
              <a:tr h="370840">
                <a:tc>
                  <a:txBody>
                    <a:bodyPr/>
                    <a:lstStyle/>
                    <a:p>
                      <a:r>
                        <a:rPr lang="en-GB" dirty="0"/>
                        <a:t>01112.01</a:t>
                      </a:r>
                      <a:endParaRPr lang="en-NA" dirty="0"/>
                    </a:p>
                  </a:txBody>
                  <a:tcPr/>
                </a:tc>
                <a:tc>
                  <a:txBody>
                    <a:bodyPr/>
                    <a:lstStyle/>
                    <a:p>
                      <a:r>
                        <a:rPr lang="en-GB" dirty="0"/>
                        <a:t>Bread (white, brown, whole wheat, rye, maize, etc.)</a:t>
                      </a:r>
                      <a:endParaRPr lang="en-NA" dirty="0"/>
                    </a:p>
                  </a:txBody>
                  <a:tcPr/>
                </a:tc>
                <a:tc>
                  <a:txBody>
                    <a:bodyPr/>
                    <a:lstStyle/>
                    <a:p>
                      <a:pPr algn="ctr"/>
                      <a:r>
                        <a:rPr lang="en-NA" dirty="0"/>
                        <a:t>166.67</a:t>
                      </a:r>
                    </a:p>
                  </a:txBody>
                  <a:tcPr/>
                </a:tc>
                <a:tc>
                  <a:txBody>
                    <a:bodyPr/>
                    <a:lstStyle/>
                    <a:p>
                      <a:pPr algn="ctr"/>
                      <a:r>
                        <a:rPr lang="en-NA" dirty="0"/>
                        <a:t>75</a:t>
                      </a:r>
                    </a:p>
                  </a:txBody>
                  <a:tcPr/>
                </a:tc>
                <a:extLst>
                  <a:ext uri="{0D108BD9-81ED-4DB2-BD59-A6C34878D82A}">
                    <a16:rowId xmlns:a16="http://schemas.microsoft.com/office/drawing/2014/main" val="250348788"/>
                  </a:ext>
                </a:extLst>
              </a:tr>
              <a:tr h="370840">
                <a:tc>
                  <a:txBody>
                    <a:bodyPr/>
                    <a:lstStyle/>
                    <a:p>
                      <a:r>
                        <a:rPr lang="en-GB" dirty="0"/>
                        <a:t>01112.02</a:t>
                      </a:r>
                      <a:endParaRPr lang="en-NA" dirty="0"/>
                    </a:p>
                  </a:txBody>
                  <a:tcPr/>
                </a:tc>
                <a:tc>
                  <a:txBody>
                    <a:bodyPr/>
                    <a:lstStyle/>
                    <a:p>
                      <a:r>
                        <a:rPr lang="en-GB" dirty="0" err="1"/>
                        <a:t>Brotchen</a:t>
                      </a:r>
                      <a:endParaRPr lang="en-NA" dirty="0"/>
                    </a:p>
                  </a:txBody>
                  <a:tcPr/>
                </a:tc>
                <a:tc>
                  <a:txBody>
                    <a:bodyPr/>
                    <a:lstStyle/>
                    <a:p>
                      <a:pPr algn="ctr"/>
                      <a:r>
                        <a:rPr lang="en-NA" dirty="0"/>
                        <a:t>0.41</a:t>
                      </a:r>
                    </a:p>
                  </a:txBody>
                  <a:tcPr/>
                </a:tc>
                <a:tc>
                  <a:txBody>
                    <a:bodyPr/>
                    <a:lstStyle/>
                    <a:p>
                      <a:pPr algn="ctr"/>
                      <a:r>
                        <a:rPr lang="en-NA" dirty="0"/>
                        <a:t>75</a:t>
                      </a:r>
                    </a:p>
                  </a:txBody>
                  <a:tcPr/>
                </a:tc>
                <a:extLst>
                  <a:ext uri="{0D108BD9-81ED-4DB2-BD59-A6C34878D82A}">
                    <a16:rowId xmlns:a16="http://schemas.microsoft.com/office/drawing/2014/main" val="3457050677"/>
                  </a:ext>
                </a:extLst>
              </a:tr>
              <a:tr h="370840">
                <a:tc>
                  <a:txBody>
                    <a:bodyPr/>
                    <a:lstStyle/>
                    <a:p>
                      <a:r>
                        <a:rPr lang="en-GB" dirty="0"/>
                        <a:t>01112.03</a:t>
                      </a:r>
                      <a:endParaRPr lang="en-NA" dirty="0"/>
                    </a:p>
                  </a:txBody>
                  <a:tcPr/>
                </a:tc>
                <a:tc>
                  <a:txBody>
                    <a:bodyPr/>
                    <a:lstStyle/>
                    <a:p>
                      <a:r>
                        <a:rPr lang="en-GB" dirty="0"/>
                        <a:t>Biscuits, rusks</a:t>
                      </a:r>
                      <a:endParaRPr lang="en-NA" dirty="0"/>
                    </a:p>
                  </a:txBody>
                  <a:tcPr/>
                </a:tc>
                <a:tc>
                  <a:txBody>
                    <a:bodyPr/>
                    <a:lstStyle/>
                    <a:p>
                      <a:pPr algn="ctr"/>
                      <a:r>
                        <a:rPr lang="en-NA" dirty="0"/>
                        <a:t>0.66</a:t>
                      </a:r>
                    </a:p>
                  </a:txBody>
                  <a:tcPr/>
                </a:tc>
                <a:tc>
                  <a:txBody>
                    <a:bodyPr/>
                    <a:lstStyle/>
                    <a:p>
                      <a:pPr algn="ctr"/>
                      <a:r>
                        <a:rPr lang="en-NA" dirty="0"/>
                        <a:t>85</a:t>
                      </a:r>
                    </a:p>
                  </a:txBody>
                  <a:tcPr/>
                </a:tc>
                <a:extLst>
                  <a:ext uri="{0D108BD9-81ED-4DB2-BD59-A6C34878D82A}">
                    <a16:rowId xmlns:a16="http://schemas.microsoft.com/office/drawing/2014/main" val="282765522"/>
                  </a:ext>
                </a:extLst>
              </a:tr>
              <a:tr h="370840">
                <a:tc>
                  <a:txBody>
                    <a:bodyPr/>
                    <a:lstStyle/>
                    <a:p>
                      <a:r>
                        <a:rPr lang="en-GB" dirty="0"/>
                        <a:t>01112.04</a:t>
                      </a:r>
                      <a:endParaRPr lang="en-NA" dirty="0"/>
                    </a:p>
                  </a:txBody>
                  <a:tcPr/>
                </a:tc>
                <a:tc>
                  <a:txBody>
                    <a:bodyPr/>
                    <a:lstStyle/>
                    <a:p>
                      <a:r>
                        <a:rPr lang="en-GB" dirty="0"/>
                        <a:t>Vetkoek</a:t>
                      </a:r>
                      <a:endParaRPr lang="en-NA" dirty="0"/>
                    </a:p>
                  </a:txBody>
                  <a:tcPr/>
                </a:tc>
                <a:tc>
                  <a:txBody>
                    <a:bodyPr/>
                    <a:lstStyle/>
                    <a:p>
                      <a:pPr algn="ctr"/>
                      <a:r>
                        <a:rPr lang="en-NA" dirty="0"/>
                        <a:t>3.61</a:t>
                      </a:r>
                    </a:p>
                  </a:txBody>
                  <a:tcPr/>
                </a:tc>
                <a:tc>
                  <a:txBody>
                    <a:bodyPr/>
                    <a:lstStyle/>
                    <a:p>
                      <a:pPr algn="ctr"/>
                      <a:r>
                        <a:rPr lang="en-NA" dirty="0"/>
                        <a:t>75</a:t>
                      </a:r>
                    </a:p>
                  </a:txBody>
                  <a:tcPr/>
                </a:tc>
                <a:extLst>
                  <a:ext uri="{0D108BD9-81ED-4DB2-BD59-A6C34878D82A}">
                    <a16:rowId xmlns:a16="http://schemas.microsoft.com/office/drawing/2014/main" val="895043140"/>
                  </a:ext>
                </a:extLst>
              </a:tr>
              <a:tr h="370840">
                <a:tc>
                  <a:txBody>
                    <a:bodyPr/>
                    <a:lstStyle/>
                    <a:p>
                      <a:r>
                        <a:rPr lang="en-GB" dirty="0"/>
                        <a:t>01113.01</a:t>
                      </a:r>
                      <a:endParaRPr lang="en-NA" dirty="0"/>
                    </a:p>
                  </a:txBody>
                  <a:tcPr/>
                </a:tc>
                <a:tc>
                  <a:txBody>
                    <a:bodyPr/>
                    <a:lstStyle/>
                    <a:p>
                      <a:r>
                        <a:rPr lang="en-GB" dirty="0"/>
                        <a:t>Macaroni, spaghetti, noodles</a:t>
                      </a:r>
                      <a:endParaRPr lang="en-NA" dirty="0"/>
                    </a:p>
                  </a:txBody>
                  <a:tcPr/>
                </a:tc>
                <a:tc>
                  <a:txBody>
                    <a:bodyPr/>
                    <a:lstStyle/>
                    <a:p>
                      <a:pPr algn="ctr"/>
                      <a:r>
                        <a:rPr lang="en-NA" dirty="0"/>
                        <a:t>14.55</a:t>
                      </a:r>
                    </a:p>
                  </a:txBody>
                  <a:tcPr/>
                </a:tc>
                <a:tc>
                  <a:txBody>
                    <a:bodyPr/>
                    <a:lstStyle/>
                    <a:p>
                      <a:pPr algn="ctr"/>
                      <a:r>
                        <a:rPr lang="en-NA" dirty="0"/>
                        <a:t>45</a:t>
                      </a:r>
                    </a:p>
                  </a:txBody>
                  <a:tcPr/>
                </a:tc>
                <a:extLst>
                  <a:ext uri="{0D108BD9-81ED-4DB2-BD59-A6C34878D82A}">
                    <a16:rowId xmlns:a16="http://schemas.microsoft.com/office/drawing/2014/main" val="477880169"/>
                  </a:ext>
                </a:extLst>
              </a:tr>
              <a:tr h="370840">
                <a:tc>
                  <a:txBody>
                    <a:bodyPr/>
                    <a:lstStyle/>
                    <a:p>
                      <a:r>
                        <a:rPr lang="en-GB" dirty="0"/>
                        <a:t>01114.01</a:t>
                      </a:r>
                      <a:endParaRPr lang="en-NA" dirty="0"/>
                    </a:p>
                  </a:txBody>
                  <a:tcPr/>
                </a:tc>
                <a:tc>
                  <a:txBody>
                    <a:bodyPr/>
                    <a:lstStyle/>
                    <a:p>
                      <a:r>
                        <a:rPr lang="en-GB" dirty="0"/>
                        <a:t>Cakes (all types)</a:t>
                      </a:r>
                      <a:endParaRPr lang="en-NA" dirty="0"/>
                    </a:p>
                  </a:txBody>
                  <a:tcPr/>
                </a:tc>
                <a:tc>
                  <a:txBody>
                    <a:bodyPr/>
                    <a:lstStyle/>
                    <a:p>
                      <a:pPr algn="ctr"/>
                      <a:r>
                        <a:rPr lang="en-NA" dirty="0"/>
                        <a:t>1.44</a:t>
                      </a:r>
                    </a:p>
                  </a:txBody>
                  <a:tcPr/>
                </a:tc>
                <a:tc>
                  <a:txBody>
                    <a:bodyPr/>
                    <a:lstStyle/>
                    <a:p>
                      <a:pPr algn="ctr"/>
                      <a:r>
                        <a:rPr lang="en-NA" dirty="0"/>
                        <a:t>65</a:t>
                      </a:r>
                    </a:p>
                  </a:txBody>
                  <a:tcPr/>
                </a:tc>
                <a:extLst>
                  <a:ext uri="{0D108BD9-81ED-4DB2-BD59-A6C34878D82A}">
                    <a16:rowId xmlns:a16="http://schemas.microsoft.com/office/drawing/2014/main" val="1329201746"/>
                  </a:ext>
                </a:extLst>
              </a:tr>
              <a:tr h="0">
                <a:tc>
                  <a:txBody>
                    <a:bodyPr/>
                    <a:lstStyle/>
                    <a:p>
                      <a:r>
                        <a:rPr lang="en-GB" dirty="0"/>
                        <a:t>01114.02</a:t>
                      </a:r>
                      <a:endParaRPr lang="en-NA" dirty="0"/>
                    </a:p>
                  </a:txBody>
                  <a:tcPr/>
                </a:tc>
                <a:tc>
                  <a:txBody>
                    <a:bodyPr/>
                    <a:lstStyle/>
                    <a:p>
                      <a:r>
                        <a:rPr lang="en-GB" dirty="0"/>
                        <a:t>Pies &amp; pizzas</a:t>
                      </a:r>
                      <a:endParaRPr lang="en-NA" dirty="0"/>
                    </a:p>
                  </a:txBody>
                  <a:tcPr/>
                </a:tc>
                <a:tc>
                  <a:txBody>
                    <a:bodyPr/>
                    <a:lstStyle/>
                    <a:p>
                      <a:pPr algn="ctr"/>
                      <a:r>
                        <a:rPr lang="en-NA" dirty="0"/>
                        <a:t>0.28</a:t>
                      </a:r>
                    </a:p>
                  </a:txBody>
                  <a:tcPr/>
                </a:tc>
                <a:tc>
                  <a:txBody>
                    <a:bodyPr/>
                    <a:lstStyle/>
                    <a:p>
                      <a:pPr algn="ctr"/>
                      <a:r>
                        <a:rPr lang="en-NA" dirty="0"/>
                        <a:t>70</a:t>
                      </a:r>
                    </a:p>
                  </a:txBody>
                  <a:tcPr/>
                </a:tc>
                <a:extLst>
                  <a:ext uri="{0D108BD9-81ED-4DB2-BD59-A6C34878D82A}">
                    <a16:rowId xmlns:a16="http://schemas.microsoft.com/office/drawing/2014/main" val="179680972"/>
                  </a:ext>
                </a:extLst>
              </a:tr>
              <a:tr h="370840">
                <a:tc>
                  <a:txBody>
                    <a:bodyPr/>
                    <a:lstStyle/>
                    <a:p>
                      <a:r>
                        <a:rPr lang="en-GB" dirty="0"/>
                        <a:t>01115.03</a:t>
                      </a:r>
                      <a:endParaRPr lang="en-NA" dirty="0"/>
                    </a:p>
                  </a:txBody>
                  <a:tcPr/>
                </a:tc>
                <a:tc>
                  <a:txBody>
                    <a:bodyPr/>
                    <a:lstStyle/>
                    <a:p>
                      <a:r>
                        <a:rPr lang="en-GB" dirty="0"/>
                        <a:t>Bread/ cake flour (all types)</a:t>
                      </a:r>
                      <a:endParaRPr lang="en-NA" dirty="0"/>
                    </a:p>
                  </a:txBody>
                  <a:tcPr/>
                </a:tc>
                <a:tc>
                  <a:txBody>
                    <a:bodyPr/>
                    <a:lstStyle/>
                    <a:p>
                      <a:pPr algn="ctr"/>
                      <a:r>
                        <a:rPr lang="en-NA" dirty="0"/>
                        <a:t>2.25</a:t>
                      </a:r>
                    </a:p>
                  </a:txBody>
                  <a:tcPr/>
                </a:tc>
                <a:tc>
                  <a:txBody>
                    <a:bodyPr/>
                    <a:lstStyle/>
                    <a:p>
                      <a:pPr algn="ctr"/>
                      <a:r>
                        <a:rPr lang="en-NA" dirty="0"/>
                        <a:t>100</a:t>
                      </a:r>
                    </a:p>
                  </a:txBody>
                  <a:tcPr/>
                </a:tc>
                <a:extLst>
                  <a:ext uri="{0D108BD9-81ED-4DB2-BD59-A6C34878D82A}">
                    <a16:rowId xmlns:a16="http://schemas.microsoft.com/office/drawing/2014/main" val="2685588862"/>
                  </a:ext>
                </a:extLst>
              </a:tr>
            </a:tbl>
          </a:graphicData>
        </a:graphic>
      </p:graphicFrame>
      <p:sp>
        <p:nvSpPr>
          <p:cNvPr id="5" name="TextBox 4">
            <a:extLst>
              <a:ext uri="{FF2B5EF4-FFF2-40B4-BE49-F238E27FC236}">
                <a16:creationId xmlns:a16="http://schemas.microsoft.com/office/drawing/2014/main" id="{76CF4D06-6A09-954A-BB2A-03AE1689D3AC}"/>
              </a:ext>
            </a:extLst>
          </p:cNvPr>
          <p:cNvSpPr txBox="1"/>
          <p:nvPr/>
        </p:nvSpPr>
        <p:spPr>
          <a:xfrm>
            <a:off x="838200" y="6123214"/>
            <a:ext cx="10515600" cy="369332"/>
          </a:xfrm>
          <a:prstGeom prst="rect">
            <a:avLst/>
          </a:prstGeom>
          <a:noFill/>
        </p:spPr>
        <p:txBody>
          <a:bodyPr wrap="square" rtlCol="0">
            <a:spAutoFit/>
          </a:bodyPr>
          <a:lstStyle/>
          <a:p>
            <a:r>
              <a:rPr lang="en-NA" baseline="30000" dirty="0"/>
              <a:t>1</a:t>
            </a:r>
            <a:r>
              <a:rPr lang="en-NA" dirty="0"/>
              <a:t> Proportions provided by Jurgen Hanke, NamibMills, email 9 November 2020</a:t>
            </a:r>
          </a:p>
        </p:txBody>
      </p:sp>
    </p:spTree>
    <p:extLst>
      <p:ext uri="{BB962C8B-B14F-4D97-AF65-F5344CB8AC3E}">
        <p14:creationId xmlns:p14="http://schemas.microsoft.com/office/powerpoint/2010/main" val="2782203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8433-A179-F442-B952-63F12F1B35F3}"/>
              </a:ext>
            </a:extLst>
          </p:cNvPr>
          <p:cNvSpPr>
            <a:spLocks noGrp="1"/>
          </p:cNvSpPr>
          <p:nvPr>
            <p:ph type="title"/>
          </p:nvPr>
        </p:nvSpPr>
        <p:spPr>
          <a:xfrm>
            <a:off x="446315" y="194747"/>
            <a:ext cx="10515600" cy="1325563"/>
          </a:xfrm>
        </p:spPr>
        <p:txBody>
          <a:bodyPr/>
          <a:lstStyle/>
          <a:p>
            <a:r>
              <a:rPr lang="en-NA" dirty="0"/>
              <a:t>Task 3: Foods included in the calculation and % fortifiable content for salt</a:t>
            </a:r>
          </a:p>
        </p:txBody>
      </p:sp>
      <p:graphicFrame>
        <p:nvGraphicFramePr>
          <p:cNvPr id="4" name="Table 4">
            <a:extLst>
              <a:ext uri="{FF2B5EF4-FFF2-40B4-BE49-F238E27FC236}">
                <a16:creationId xmlns:a16="http://schemas.microsoft.com/office/drawing/2014/main" id="{7E748BE4-DCEE-5648-A847-C1C39A3AA5D5}"/>
              </a:ext>
            </a:extLst>
          </p:cNvPr>
          <p:cNvGraphicFramePr>
            <a:graphicFrameLocks noGrp="1"/>
          </p:cNvGraphicFramePr>
          <p:nvPr>
            <p:ph idx="1"/>
            <p:extLst>
              <p:ext uri="{D42A27DB-BD31-4B8C-83A1-F6EECF244321}">
                <p14:modId xmlns:p14="http://schemas.microsoft.com/office/powerpoint/2010/main" val="3123142593"/>
              </p:ext>
            </p:extLst>
          </p:nvPr>
        </p:nvGraphicFramePr>
        <p:xfrm>
          <a:off x="103415" y="1690688"/>
          <a:ext cx="5992585" cy="5105400"/>
        </p:xfrm>
        <a:graphic>
          <a:graphicData uri="http://schemas.openxmlformats.org/drawingml/2006/table">
            <a:tbl>
              <a:tblPr firstRow="1" bandRow="1">
                <a:tableStyleId>{5C22544A-7EE6-4342-B048-85BDC9FD1C3A}</a:tableStyleId>
              </a:tblPr>
              <a:tblGrid>
                <a:gridCol w="898070">
                  <a:extLst>
                    <a:ext uri="{9D8B030D-6E8A-4147-A177-3AD203B41FA5}">
                      <a16:colId xmlns:a16="http://schemas.microsoft.com/office/drawing/2014/main" val="1938524739"/>
                    </a:ext>
                  </a:extLst>
                </a:gridCol>
                <a:gridCol w="2481943">
                  <a:extLst>
                    <a:ext uri="{9D8B030D-6E8A-4147-A177-3AD203B41FA5}">
                      <a16:colId xmlns:a16="http://schemas.microsoft.com/office/drawing/2014/main" val="1751083270"/>
                    </a:ext>
                  </a:extLst>
                </a:gridCol>
                <a:gridCol w="1600200">
                  <a:extLst>
                    <a:ext uri="{9D8B030D-6E8A-4147-A177-3AD203B41FA5}">
                      <a16:colId xmlns:a16="http://schemas.microsoft.com/office/drawing/2014/main" val="3373922058"/>
                    </a:ext>
                  </a:extLst>
                </a:gridCol>
                <a:gridCol w="1012372">
                  <a:extLst>
                    <a:ext uri="{9D8B030D-6E8A-4147-A177-3AD203B41FA5}">
                      <a16:colId xmlns:a16="http://schemas.microsoft.com/office/drawing/2014/main" val="4185816910"/>
                    </a:ext>
                  </a:extLst>
                </a:gridCol>
              </a:tblGrid>
              <a:tr h="370840">
                <a:tc>
                  <a:txBody>
                    <a:bodyPr/>
                    <a:lstStyle/>
                    <a:p>
                      <a:r>
                        <a:rPr lang="en-NA" sz="1400" dirty="0"/>
                        <a:t>Food Item Code</a:t>
                      </a:r>
                    </a:p>
                  </a:txBody>
                  <a:tcPr/>
                </a:tc>
                <a:tc>
                  <a:txBody>
                    <a:bodyPr/>
                    <a:lstStyle/>
                    <a:p>
                      <a:r>
                        <a:rPr lang="en-NA" sz="1400" dirty="0"/>
                        <a:t>Food item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A" sz="1400" dirty="0"/>
                        <a:t>Average quantity as purchased (g/c/d)</a:t>
                      </a:r>
                    </a:p>
                  </a:txBody>
                  <a:tcPr/>
                </a:tc>
                <a:tc>
                  <a:txBody>
                    <a:bodyPr/>
                    <a:lstStyle/>
                    <a:p>
                      <a:r>
                        <a:rPr lang="en-NA" sz="1400" dirty="0"/>
                        <a:t>Salt content (per %)</a:t>
                      </a:r>
                      <a:r>
                        <a:rPr lang="en-NA" sz="1400" baseline="30000" dirty="0"/>
                        <a:t>1</a:t>
                      </a:r>
                    </a:p>
                  </a:txBody>
                  <a:tcPr/>
                </a:tc>
                <a:extLst>
                  <a:ext uri="{0D108BD9-81ED-4DB2-BD59-A6C34878D82A}">
                    <a16:rowId xmlns:a16="http://schemas.microsoft.com/office/drawing/2014/main" val="565765799"/>
                  </a:ext>
                </a:extLst>
              </a:tr>
              <a:tr h="370840">
                <a:tc>
                  <a:txBody>
                    <a:bodyPr/>
                    <a:lstStyle/>
                    <a:p>
                      <a:r>
                        <a:rPr lang="en-GB" sz="1400" dirty="0"/>
                        <a:t>01112.01</a:t>
                      </a:r>
                      <a:endParaRPr lang="en-NA" sz="1400" dirty="0"/>
                    </a:p>
                  </a:txBody>
                  <a:tcPr/>
                </a:tc>
                <a:tc>
                  <a:txBody>
                    <a:bodyPr/>
                    <a:lstStyle/>
                    <a:p>
                      <a:r>
                        <a:rPr lang="en-GB" sz="1400" dirty="0"/>
                        <a:t>Bread (white, brown, whole wheat, rye, maize, etc.)</a:t>
                      </a:r>
                      <a:endParaRPr lang="en-NA" sz="1400" dirty="0"/>
                    </a:p>
                  </a:txBody>
                  <a:tcPr/>
                </a:tc>
                <a:tc>
                  <a:txBody>
                    <a:bodyPr/>
                    <a:lstStyle/>
                    <a:p>
                      <a:r>
                        <a:rPr lang="en-NA" sz="1400" dirty="0"/>
                        <a:t>166.67</a:t>
                      </a:r>
                    </a:p>
                  </a:txBody>
                  <a:tcPr/>
                </a:tc>
                <a:tc>
                  <a:txBody>
                    <a:bodyPr/>
                    <a:lstStyle/>
                    <a:p>
                      <a:r>
                        <a:rPr lang="en-NA" sz="1400" dirty="0"/>
                        <a:t>1.6</a:t>
                      </a:r>
                    </a:p>
                  </a:txBody>
                  <a:tcPr/>
                </a:tc>
                <a:extLst>
                  <a:ext uri="{0D108BD9-81ED-4DB2-BD59-A6C34878D82A}">
                    <a16:rowId xmlns:a16="http://schemas.microsoft.com/office/drawing/2014/main" val="250348788"/>
                  </a:ext>
                </a:extLst>
              </a:tr>
              <a:tr h="370840">
                <a:tc>
                  <a:txBody>
                    <a:bodyPr/>
                    <a:lstStyle/>
                    <a:p>
                      <a:r>
                        <a:rPr lang="en-GB" sz="1400" dirty="0"/>
                        <a:t>01112.02</a:t>
                      </a:r>
                      <a:endParaRPr lang="en-NA" sz="1400" dirty="0"/>
                    </a:p>
                  </a:txBody>
                  <a:tcPr/>
                </a:tc>
                <a:tc>
                  <a:txBody>
                    <a:bodyPr/>
                    <a:lstStyle/>
                    <a:p>
                      <a:r>
                        <a:rPr lang="en-GB" sz="1400" dirty="0" err="1"/>
                        <a:t>Brotchen</a:t>
                      </a:r>
                      <a:endParaRPr lang="en-NA" sz="1400" dirty="0"/>
                    </a:p>
                  </a:txBody>
                  <a:tcPr/>
                </a:tc>
                <a:tc>
                  <a:txBody>
                    <a:bodyPr/>
                    <a:lstStyle/>
                    <a:p>
                      <a:r>
                        <a:rPr lang="en-NA" sz="1400" dirty="0"/>
                        <a:t>0.41</a:t>
                      </a:r>
                    </a:p>
                  </a:txBody>
                  <a:tcPr/>
                </a:tc>
                <a:tc>
                  <a:txBody>
                    <a:bodyPr/>
                    <a:lstStyle/>
                    <a:p>
                      <a:r>
                        <a:rPr lang="en-NA" sz="1400" dirty="0"/>
                        <a:t>1.6</a:t>
                      </a:r>
                    </a:p>
                  </a:txBody>
                  <a:tcPr/>
                </a:tc>
                <a:extLst>
                  <a:ext uri="{0D108BD9-81ED-4DB2-BD59-A6C34878D82A}">
                    <a16:rowId xmlns:a16="http://schemas.microsoft.com/office/drawing/2014/main" val="3457050677"/>
                  </a:ext>
                </a:extLst>
              </a:tr>
              <a:tr h="370840">
                <a:tc>
                  <a:txBody>
                    <a:bodyPr/>
                    <a:lstStyle/>
                    <a:p>
                      <a:r>
                        <a:rPr lang="en-GB" sz="1400" dirty="0"/>
                        <a:t>01112.03</a:t>
                      </a:r>
                      <a:endParaRPr lang="en-NA" sz="1400" dirty="0"/>
                    </a:p>
                  </a:txBody>
                  <a:tcPr/>
                </a:tc>
                <a:tc>
                  <a:txBody>
                    <a:bodyPr/>
                    <a:lstStyle/>
                    <a:p>
                      <a:r>
                        <a:rPr lang="en-GB" sz="1400" dirty="0"/>
                        <a:t>Biscuits, rusks</a:t>
                      </a:r>
                      <a:endParaRPr lang="en-NA" sz="1400" dirty="0"/>
                    </a:p>
                  </a:txBody>
                  <a:tcPr/>
                </a:tc>
                <a:tc>
                  <a:txBody>
                    <a:bodyPr/>
                    <a:lstStyle/>
                    <a:p>
                      <a:r>
                        <a:rPr lang="en-NA" sz="1400" dirty="0"/>
                        <a:t>0.66</a:t>
                      </a:r>
                    </a:p>
                  </a:txBody>
                  <a:tcPr/>
                </a:tc>
                <a:tc>
                  <a:txBody>
                    <a:bodyPr/>
                    <a:lstStyle/>
                    <a:p>
                      <a:r>
                        <a:rPr lang="en-NA" sz="1400" dirty="0"/>
                        <a:t>0.3</a:t>
                      </a:r>
                    </a:p>
                  </a:txBody>
                  <a:tcPr/>
                </a:tc>
                <a:extLst>
                  <a:ext uri="{0D108BD9-81ED-4DB2-BD59-A6C34878D82A}">
                    <a16:rowId xmlns:a16="http://schemas.microsoft.com/office/drawing/2014/main" val="282765522"/>
                  </a:ext>
                </a:extLst>
              </a:tr>
              <a:tr h="370840">
                <a:tc>
                  <a:txBody>
                    <a:bodyPr/>
                    <a:lstStyle/>
                    <a:p>
                      <a:r>
                        <a:rPr lang="en-GB" sz="1400" dirty="0"/>
                        <a:t>01112.04</a:t>
                      </a:r>
                      <a:endParaRPr lang="en-NA" sz="1400" dirty="0"/>
                    </a:p>
                  </a:txBody>
                  <a:tcPr/>
                </a:tc>
                <a:tc>
                  <a:txBody>
                    <a:bodyPr/>
                    <a:lstStyle/>
                    <a:p>
                      <a:r>
                        <a:rPr lang="en-GB" sz="1400" dirty="0"/>
                        <a:t>Vetkoek</a:t>
                      </a:r>
                      <a:endParaRPr lang="en-NA" sz="1400" dirty="0"/>
                    </a:p>
                  </a:txBody>
                  <a:tcPr/>
                </a:tc>
                <a:tc>
                  <a:txBody>
                    <a:bodyPr/>
                    <a:lstStyle/>
                    <a:p>
                      <a:r>
                        <a:rPr lang="en-NA" sz="1400" dirty="0"/>
                        <a:t>3.61</a:t>
                      </a:r>
                    </a:p>
                  </a:txBody>
                  <a:tcPr/>
                </a:tc>
                <a:tc>
                  <a:txBody>
                    <a:bodyPr/>
                    <a:lstStyle/>
                    <a:p>
                      <a:r>
                        <a:rPr lang="en-NA" sz="1400" dirty="0"/>
                        <a:t>0.07</a:t>
                      </a:r>
                    </a:p>
                  </a:txBody>
                  <a:tcPr/>
                </a:tc>
                <a:extLst>
                  <a:ext uri="{0D108BD9-81ED-4DB2-BD59-A6C34878D82A}">
                    <a16:rowId xmlns:a16="http://schemas.microsoft.com/office/drawing/2014/main" val="895043140"/>
                  </a:ext>
                </a:extLst>
              </a:tr>
              <a:tr h="370840">
                <a:tc>
                  <a:txBody>
                    <a:bodyPr/>
                    <a:lstStyle/>
                    <a:p>
                      <a:r>
                        <a:rPr lang="en-GB" sz="1400" dirty="0"/>
                        <a:t>01113.01</a:t>
                      </a:r>
                      <a:endParaRPr lang="en-NA" sz="1400" dirty="0"/>
                    </a:p>
                  </a:txBody>
                  <a:tcPr/>
                </a:tc>
                <a:tc>
                  <a:txBody>
                    <a:bodyPr/>
                    <a:lstStyle/>
                    <a:p>
                      <a:r>
                        <a:rPr lang="en-GB" sz="1400" dirty="0"/>
                        <a:t>Macaroni, spaghetti, noodles</a:t>
                      </a:r>
                      <a:endParaRPr lang="en-NA" sz="1400" dirty="0"/>
                    </a:p>
                  </a:txBody>
                  <a:tcPr/>
                </a:tc>
                <a:tc>
                  <a:txBody>
                    <a:bodyPr/>
                    <a:lstStyle/>
                    <a:p>
                      <a:r>
                        <a:rPr lang="en-NA" sz="1400" dirty="0"/>
                        <a:t>14.55</a:t>
                      </a:r>
                    </a:p>
                  </a:txBody>
                  <a:tcPr/>
                </a:tc>
                <a:tc>
                  <a:txBody>
                    <a:bodyPr/>
                    <a:lstStyle/>
                    <a:p>
                      <a:r>
                        <a:rPr lang="en-NA" sz="1400" dirty="0"/>
                        <a:t>00</a:t>
                      </a:r>
                    </a:p>
                  </a:txBody>
                  <a:tcPr/>
                </a:tc>
                <a:extLst>
                  <a:ext uri="{0D108BD9-81ED-4DB2-BD59-A6C34878D82A}">
                    <a16:rowId xmlns:a16="http://schemas.microsoft.com/office/drawing/2014/main" val="477880169"/>
                  </a:ext>
                </a:extLst>
              </a:tr>
              <a:tr h="370840">
                <a:tc>
                  <a:txBody>
                    <a:bodyPr/>
                    <a:lstStyle/>
                    <a:p>
                      <a:r>
                        <a:rPr lang="en-GB" sz="1400" dirty="0"/>
                        <a:t>01114.01</a:t>
                      </a:r>
                      <a:endParaRPr lang="en-NA" sz="1400" dirty="0"/>
                    </a:p>
                  </a:txBody>
                  <a:tcPr/>
                </a:tc>
                <a:tc>
                  <a:txBody>
                    <a:bodyPr/>
                    <a:lstStyle/>
                    <a:p>
                      <a:r>
                        <a:rPr lang="en-GB" sz="1400" dirty="0"/>
                        <a:t>Cakes (all types)</a:t>
                      </a:r>
                      <a:endParaRPr lang="en-NA" sz="1400" dirty="0"/>
                    </a:p>
                  </a:txBody>
                  <a:tcPr/>
                </a:tc>
                <a:tc>
                  <a:txBody>
                    <a:bodyPr/>
                    <a:lstStyle/>
                    <a:p>
                      <a:r>
                        <a:rPr lang="en-NA" sz="1400" dirty="0"/>
                        <a:t>1.44</a:t>
                      </a:r>
                    </a:p>
                  </a:txBody>
                  <a:tcPr/>
                </a:tc>
                <a:tc>
                  <a:txBody>
                    <a:bodyPr/>
                    <a:lstStyle/>
                    <a:p>
                      <a:r>
                        <a:rPr lang="en-NA" sz="1400" dirty="0"/>
                        <a:t>1.05</a:t>
                      </a:r>
                    </a:p>
                  </a:txBody>
                  <a:tcPr/>
                </a:tc>
                <a:extLst>
                  <a:ext uri="{0D108BD9-81ED-4DB2-BD59-A6C34878D82A}">
                    <a16:rowId xmlns:a16="http://schemas.microsoft.com/office/drawing/2014/main" val="1329201746"/>
                  </a:ext>
                </a:extLst>
              </a:tr>
              <a:tr h="370840">
                <a:tc>
                  <a:txBody>
                    <a:bodyPr/>
                    <a:lstStyle/>
                    <a:p>
                      <a:r>
                        <a:rPr lang="en-GB" sz="1400" dirty="0"/>
                        <a:t>01114.02</a:t>
                      </a:r>
                      <a:endParaRPr lang="en-NA" sz="1400" dirty="0"/>
                    </a:p>
                  </a:txBody>
                  <a:tcPr/>
                </a:tc>
                <a:tc>
                  <a:txBody>
                    <a:bodyPr/>
                    <a:lstStyle/>
                    <a:p>
                      <a:r>
                        <a:rPr lang="en-GB" sz="1400" dirty="0"/>
                        <a:t>Pies &amp; pizzas</a:t>
                      </a:r>
                      <a:endParaRPr lang="en-NA" sz="1400" dirty="0"/>
                    </a:p>
                  </a:txBody>
                  <a:tcPr/>
                </a:tc>
                <a:tc>
                  <a:txBody>
                    <a:bodyPr/>
                    <a:lstStyle/>
                    <a:p>
                      <a:r>
                        <a:rPr lang="en-NA" sz="1400" dirty="0"/>
                        <a:t>0.28</a:t>
                      </a:r>
                    </a:p>
                  </a:txBody>
                  <a:tcPr/>
                </a:tc>
                <a:tc>
                  <a:txBody>
                    <a:bodyPr/>
                    <a:lstStyle/>
                    <a:p>
                      <a:r>
                        <a:rPr lang="en-NA" sz="1400" dirty="0"/>
                        <a:t>0.96</a:t>
                      </a:r>
                    </a:p>
                  </a:txBody>
                  <a:tcPr/>
                </a:tc>
                <a:extLst>
                  <a:ext uri="{0D108BD9-81ED-4DB2-BD59-A6C34878D82A}">
                    <a16:rowId xmlns:a16="http://schemas.microsoft.com/office/drawing/2014/main" val="179680972"/>
                  </a:ext>
                </a:extLst>
              </a:tr>
              <a:tr h="370840">
                <a:tc>
                  <a:txBody>
                    <a:bodyPr/>
                    <a:lstStyle/>
                    <a:p>
                      <a:r>
                        <a:rPr lang="en-GB" sz="1400" dirty="0"/>
                        <a:t>01125.01</a:t>
                      </a:r>
                      <a:endParaRPr lang="en-NA" sz="1400" dirty="0"/>
                    </a:p>
                  </a:txBody>
                  <a:tcPr/>
                </a:tc>
                <a:tc>
                  <a:txBody>
                    <a:bodyPr/>
                    <a:lstStyle/>
                    <a:p>
                      <a:r>
                        <a:rPr lang="en-GB" sz="1400" dirty="0"/>
                        <a:t>Bacon</a:t>
                      </a:r>
                      <a:endParaRPr lang="en-NA" sz="1400" dirty="0"/>
                    </a:p>
                  </a:txBody>
                  <a:tcPr/>
                </a:tc>
                <a:tc>
                  <a:txBody>
                    <a:bodyPr/>
                    <a:lstStyle/>
                    <a:p>
                      <a:r>
                        <a:rPr lang="en-NA" sz="1400" dirty="0"/>
                        <a:t>0.27</a:t>
                      </a:r>
                    </a:p>
                  </a:txBody>
                  <a:tcPr/>
                </a:tc>
                <a:tc>
                  <a:txBody>
                    <a:bodyPr/>
                    <a:lstStyle/>
                    <a:p>
                      <a:r>
                        <a:rPr lang="en-NA" sz="1400" dirty="0"/>
                        <a:t>3.99</a:t>
                      </a:r>
                    </a:p>
                  </a:txBody>
                  <a:tcPr/>
                </a:tc>
                <a:extLst>
                  <a:ext uri="{0D108BD9-81ED-4DB2-BD59-A6C34878D82A}">
                    <a16:rowId xmlns:a16="http://schemas.microsoft.com/office/drawing/2014/main" val="2685588862"/>
                  </a:ext>
                </a:extLst>
              </a:tr>
              <a:tr h="370840">
                <a:tc>
                  <a:txBody>
                    <a:bodyPr/>
                    <a:lstStyle/>
                    <a:p>
                      <a:r>
                        <a:rPr lang="en-GB" sz="1400" dirty="0"/>
                        <a:t>01125.02</a:t>
                      </a:r>
                      <a:endParaRPr lang="en-NA" sz="1400" dirty="0"/>
                    </a:p>
                  </a:txBody>
                  <a:tcPr/>
                </a:tc>
                <a:tc>
                  <a:txBody>
                    <a:bodyPr/>
                    <a:lstStyle/>
                    <a:p>
                      <a:r>
                        <a:rPr lang="en-GB" sz="1400" dirty="0"/>
                        <a:t>Ham</a:t>
                      </a:r>
                      <a:endParaRPr lang="en-NA" sz="1400" dirty="0"/>
                    </a:p>
                  </a:txBody>
                  <a:tcPr/>
                </a:tc>
                <a:tc>
                  <a:txBody>
                    <a:bodyPr/>
                    <a:lstStyle/>
                    <a:p>
                      <a:r>
                        <a:rPr lang="en-NA" sz="1400" dirty="0"/>
                        <a:t>0.12</a:t>
                      </a:r>
                    </a:p>
                  </a:txBody>
                  <a:tcPr/>
                </a:tc>
                <a:tc>
                  <a:txBody>
                    <a:bodyPr/>
                    <a:lstStyle/>
                    <a:p>
                      <a:r>
                        <a:rPr lang="en-NA" sz="1400" dirty="0"/>
                        <a:t>3.30</a:t>
                      </a:r>
                    </a:p>
                  </a:txBody>
                  <a:tcPr/>
                </a:tc>
                <a:extLst>
                  <a:ext uri="{0D108BD9-81ED-4DB2-BD59-A6C34878D82A}">
                    <a16:rowId xmlns:a16="http://schemas.microsoft.com/office/drawing/2014/main" val="3211939120"/>
                  </a:ext>
                </a:extLst>
              </a:tr>
              <a:tr h="370840">
                <a:tc>
                  <a:txBody>
                    <a:bodyPr/>
                    <a:lstStyle/>
                    <a:p>
                      <a:r>
                        <a:rPr lang="en-GB" sz="1400" dirty="0"/>
                        <a:t>01125.03 </a:t>
                      </a:r>
                      <a:endParaRPr lang="en-NA" sz="1400" dirty="0"/>
                    </a:p>
                  </a:txBody>
                  <a:tcPr/>
                </a:tc>
                <a:tc>
                  <a:txBody>
                    <a:bodyPr/>
                    <a:lstStyle/>
                    <a:p>
                      <a:r>
                        <a:rPr lang="en-NA" sz="1400" dirty="0"/>
                        <a:t>Biltong</a:t>
                      </a:r>
                    </a:p>
                  </a:txBody>
                  <a:tcPr/>
                </a:tc>
                <a:tc>
                  <a:txBody>
                    <a:bodyPr/>
                    <a:lstStyle/>
                    <a:p>
                      <a:r>
                        <a:rPr lang="en-NA" sz="1400" dirty="0"/>
                        <a:t>0.24</a:t>
                      </a:r>
                    </a:p>
                  </a:txBody>
                  <a:tcPr/>
                </a:tc>
                <a:tc>
                  <a:txBody>
                    <a:bodyPr/>
                    <a:lstStyle/>
                    <a:p>
                      <a:r>
                        <a:rPr lang="en-NA" sz="1400" dirty="0"/>
                        <a:t>5.53</a:t>
                      </a:r>
                    </a:p>
                  </a:txBody>
                  <a:tcPr/>
                </a:tc>
                <a:extLst>
                  <a:ext uri="{0D108BD9-81ED-4DB2-BD59-A6C34878D82A}">
                    <a16:rowId xmlns:a16="http://schemas.microsoft.com/office/drawing/2014/main" val="795335500"/>
                  </a:ext>
                </a:extLst>
              </a:tr>
              <a:tr h="370840">
                <a:tc>
                  <a:txBody>
                    <a:bodyPr/>
                    <a:lstStyle/>
                    <a:p>
                      <a:r>
                        <a:rPr lang="en-GB" sz="1400" dirty="0"/>
                        <a:t>01125.04</a:t>
                      </a:r>
                      <a:endParaRPr lang="en-NA" sz="1400" dirty="0"/>
                    </a:p>
                  </a:txBody>
                  <a:tcPr/>
                </a:tc>
                <a:tc>
                  <a:txBody>
                    <a:bodyPr/>
                    <a:lstStyle/>
                    <a:p>
                      <a:r>
                        <a:rPr lang="en-GB" sz="1400" dirty="0"/>
                        <a:t>Smoked meat, other than bacon &amp; ham</a:t>
                      </a:r>
                      <a:endParaRPr lang="en-NA" sz="1400" dirty="0"/>
                    </a:p>
                  </a:txBody>
                  <a:tcPr/>
                </a:tc>
                <a:tc>
                  <a:txBody>
                    <a:bodyPr/>
                    <a:lstStyle/>
                    <a:p>
                      <a:r>
                        <a:rPr lang="en-NA" sz="1400" dirty="0"/>
                        <a:t>0.41</a:t>
                      </a:r>
                    </a:p>
                  </a:txBody>
                  <a:tcPr/>
                </a:tc>
                <a:tc>
                  <a:txBody>
                    <a:bodyPr/>
                    <a:lstStyle/>
                    <a:p>
                      <a:r>
                        <a:rPr lang="en-NA" sz="1400" dirty="0"/>
                        <a:t>2.4</a:t>
                      </a:r>
                    </a:p>
                  </a:txBody>
                  <a:tcPr/>
                </a:tc>
                <a:extLst>
                  <a:ext uri="{0D108BD9-81ED-4DB2-BD59-A6C34878D82A}">
                    <a16:rowId xmlns:a16="http://schemas.microsoft.com/office/drawing/2014/main" val="2285070812"/>
                  </a:ext>
                </a:extLst>
              </a:tr>
            </a:tbl>
          </a:graphicData>
        </a:graphic>
      </p:graphicFrame>
      <p:sp>
        <p:nvSpPr>
          <p:cNvPr id="5" name="TextBox 4">
            <a:extLst>
              <a:ext uri="{FF2B5EF4-FFF2-40B4-BE49-F238E27FC236}">
                <a16:creationId xmlns:a16="http://schemas.microsoft.com/office/drawing/2014/main" id="{76CF4D06-6A09-954A-BB2A-03AE1689D3AC}"/>
              </a:ext>
            </a:extLst>
          </p:cNvPr>
          <p:cNvSpPr txBox="1"/>
          <p:nvPr/>
        </p:nvSpPr>
        <p:spPr>
          <a:xfrm>
            <a:off x="7282543" y="935535"/>
            <a:ext cx="4909457" cy="584775"/>
          </a:xfrm>
          <a:prstGeom prst="rect">
            <a:avLst/>
          </a:prstGeom>
          <a:noFill/>
        </p:spPr>
        <p:txBody>
          <a:bodyPr wrap="square" rtlCol="0">
            <a:spAutoFit/>
          </a:bodyPr>
          <a:lstStyle/>
          <a:p>
            <a:r>
              <a:rPr lang="en-NA" sz="1600" baseline="30000" dirty="0"/>
              <a:t>1</a:t>
            </a:r>
            <a:r>
              <a:rPr lang="en-NA" sz="1600" dirty="0"/>
              <a:t> Proportions obtained from sodium content in South African Food Composition Tables x 2.5 to convert to salt</a:t>
            </a:r>
          </a:p>
        </p:txBody>
      </p:sp>
      <p:graphicFrame>
        <p:nvGraphicFramePr>
          <p:cNvPr id="8" name="Table 4">
            <a:extLst>
              <a:ext uri="{FF2B5EF4-FFF2-40B4-BE49-F238E27FC236}">
                <a16:creationId xmlns:a16="http://schemas.microsoft.com/office/drawing/2014/main" id="{162B728F-8B08-4649-8327-6939A297A8AF}"/>
              </a:ext>
            </a:extLst>
          </p:cNvPr>
          <p:cNvGraphicFramePr>
            <a:graphicFrameLocks/>
          </p:cNvGraphicFramePr>
          <p:nvPr>
            <p:extLst>
              <p:ext uri="{D42A27DB-BD31-4B8C-83A1-F6EECF244321}">
                <p14:modId xmlns:p14="http://schemas.microsoft.com/office/powerpoint/2010/main" val="2780068291"/>
              </p:ext>
            </p:extLst>
          </p:nvPr>
        </p:nvGraphicFramePr>
        <p:xfrm>
          <a:off x="6199415" y="1690688"/>
          <a:ext cx="5992585" cy="5181600"/>
        </p:xfrm>
        <a:graphic>
          <a:graphicData uri="http://schemas.openxmlformats.org/drawingml/2006/table">
            <a:tbl>
              <a:tblPr firstRow="1" bandRow="1">
                <a:tableStyleId>{5C22544A-7EE6-4342-B048-85BDC9FD1C3A}</a:tableStyleId>
              </a:tblPr>
              <a:tblGrid>
                <a:gridCol w="898070">
                  <a:extLst>
                    <a:ext uri="{9D8B030D-6E8A-4147-A177-3AD203B41FA5}">
                      <a16:colId xmlns:a16="http://schemas.microsoft.com/office/drawing/2014/main" val="1938524739"/>
                    </a:ext>
                  </a:extLst>
                </a:gridCol>
                <a:gridCol w="2481943">
                  <a:extLst>
                    <a:ext uri="{9D8B030D-6E8A-4147-A177-3AD203B41FA5}">
                      <a16:colId xmlns:a16="http://schemas.microsoft.com/office/drawing/2014/main" val="1751083270"/>
                    </a:ext>
                  </a:extLst>
                </a:gridCol>
                <a:gridCol w="1600200">
                  <a:extLst>
                    <a:ext uri="{9D8B030D-6E8A-4147-A177-3AD203B41FA5}">
                      <a16:colId xmlns:a16="http://schemas.microsoft.com/office/drawing/2014/main" val="3373922058"/>
                    </a:ext>
                  </a:extLst>
                </a:gridCol>
                <a:gridCol w="1012372">
                  <a:extLst>
                    <a:ext uri="{9D8B030D-6E8A-4147-A177-3AD203B41FA5}">
                      <a16:colId xmlns:a16="http://schemas.microsoft.com/office/drawing/2014/main" val="4185816910"/>
                    </a:ext>
                  </a:extLst>
                </a:gridCol>
              </a:tblGrid>
              <a:tr h="370840">
                <a:tc>
                  <a:txBody>
                    <a:bodyPr/>
                    <a:lstStyle/>
                    <a:p>
                      <a:r>
                        <a:rPr lang="en-NA" sz="1400" dirty="0"/>
                        <a:t>Food Item Code</a:t>
                      </a:r>
                    </a:p>
                  </a:txBody>
                  <a:tcPr/>
                </a:tc>
                <a:tc>
                  <a:txBody>
                    <a:bodyPr/>
                    <a:lstStyle/>
                    <a:p>
                      <a:r>
                        <a:rPr lang="en-NA" sz="1400" dirty="0"/>
                        <a:t>Food item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A" sz="1400" dirty="0"/>
                        <a:t>Average quantity as purchased (g/c/d)</a:t>
                      </a:r>
                    </a:p>
                  </a:txBody>
                  <a:tcPr/>
                </a:tc>
                <a:tc>
                  <a:txBody>
                    <a:bodyPr/>
                    <a:lstStyle/>
                    <a:p>
                      <a:r>
                        <a:rPr lang="en-NA" sz="1400" dirty="0"/>
                        <a:t>Salt content (per %)</a:t>
                      </a:r>
                      <a:r>
                        <a:rPr lang="en-NA" sz="1400" baseline="30000" dirty="0"/>
                        <a:t>1</a:t>
                      </a:r>
                    </a:p>
                  </a:txBody>
                  <a:tcPr/>
                </a:tc>
                <a:extLst>
                  <a:ext uri="{0D108BD9-81ED-4DB2-BD59-A6C34878D82A}">
                    <a16:rowId xmlns:a16="http://schemas.microsoft.com/office/drawing/2014/main" val="565765799"/>
                  </a:ext>
                </a:extLst>
              </a:tr>
              <a:tr h="370840">
                <a:tc>
                  <a:txBody>
                    <a:bodyPr/>
                    <a:lstStyle/>
                    <a:p>
                      <a:r>
                        <a:rPr lang="en-GB" sz="1400" dirty="0"/>
                        <a:t>01125.05</a:t>
                      </a:r>
                      <a:endParaRPr lang="en-NA" sz="1400" dirty="0"/>
                    </a:p>
                  </a:txBody>
                  <a:tcPr/>
                </a:tc>
                <a:tc>
                  <a:txBody>
                    <a:bodyPr/>
                    <a:lstStyle/>
                    <a:p>
                      <a:r>
                        <a:rPr lang="en-GB" sz="1400" dirty="0" err="1"/>
                        <a:t>Polony</a:t>
                      </a:r>
                      <a:endParaRPr lang="en-NA" sz="1400" dirty="0"/>
                    </a:p>
                  </a:txBody>
                  <a:tcPr/>
                </a:tc>
                <a:tc>
                  <a:txBody>
                    <a:bodyPr/>
                    <a:lstStyle/>
                    <a:p>
                      <a:r>
                        <a:rPr lang="en-NA" sz="1400" dirty="0"/>
                        <a:t>1.13</a:t>
                      </a:r>
                    </a:p>
                  </a:txBody>
                  <a:tcPr/>
                </a:tc>
                <a:tc>
                  <a:txBody>
                    <a:bodyPr/>
                    <a:lstStyle/>
                    <a:p>
                      <a:r>
                        <a:rPr lang="en-NA" sz="1400" dirty="0"/>
                        <a:t>2.55</a:t>
                      </a:r>
                    </a:p>
                  </a:txBody>
                  <a:tcPr/>
                </a:tc>
                <a:extLst>
                  <a:ext uri="{0D108BD9-81ED-4DB2-BD59-A6C34878D82A}">
                    <a16:rowId xmlns:a16="http://schemas.microsoft.com/office/drawing/2014/main" val="4212224809"/>
                  </a:ext>
                </a:extLst>
              </a:tr>
              <a:tr h="370840">
                <a:tc>
                  <a:txBody>
                    <a:bodyPr/>
                    <a:lstStyle/>
                    <a:p>
                      <a:r>
                        <a:rPr lang="en-GB" sz="1400" dirty="0"/>
                        <a:t>01125.06</a:t>
                      </a:r>
                      <a:endParaRPr lang="en-NA" sz="1400" dirty="0"/>
                    </a:p>
                  </a:txBody>
                  <a:tcPr/>
                </a:tc>
                <a:tc>
                  <a:txBody>
                    <a:bodyPr/>
                    <a:lstStyle/>
                    <a:p>
                      <a:r>
                        <a:rPr lang="en-GB" sz="1400" dirty="0"/>
                        <a:t>Sausages, other than </a:t>
                      </a:r>
                      <a:r>
                        <a:rPr lang="en-GB" sz="1400" dirty="0" err="1"/>
                        <a:t>polony</a:t>
                      </a:r>
                      <a:endParaRPr lang="en-NA" sz="1400" dirty="0"/>
                    </a:p>
                  </a:txBody>
                  <a:tcPr/>
                </a:tc>
                <a:tc>
                  <a:txBody>
                    <a:bodyPr/>
                    <a:lstStyle/>
                    <a:p>
                      <a:r>
                        <a:rPr lang="en-NA" sz="1400" dirty="0"/>
                        <a:t>3.63</a:t>
                      </a:r>
                    </a:p>
                  </a:txBody>
                  <a:tcPr/>
                </a:tc>
                <a:tc>
                  <a:txBody>
                    <a:bodyPr/>
                    <a:lstStyle/>
                    <a:p>
                      <a:r>
                        <a:rPr lang="en-NA" sz="1400" dirty="0"/>
                        <a:t>3.24</a:t>
                      </a:r>
                    </a:p>
                  </a:txBody>
                  <a:tcPr/>
                </a:tc>
                <a:extLst>
                  <a:ext uri="{0D108BD9-81ED-4DB2-BD59-A6C34878D82A}">
                    <a16:rowId xmlns:a16="http://schemas.microsoft.com/office/drawing/2014/main" val="2188559651"/>
                  </a:ext>
                </a:extLst>
              </a:tr>
              <a:tr h="370840">
                <a:tc>
                  <a:txBody>
                    <a:bodyPr/>
                    <a:lstStyle/>
                    <a:p>
                      <a:r>
                        <a:rPr lang="en-GB" sz="1400" dirty="0"/>
                        <a:t>01126.02</a:t>
                      </a:r>
                      <a:endParaRPr lang="en-NA" sz="1400" dirty="0"/>
                    </a:p>
                  </a:txBody>
                  <a:tcPr/>
                </a:tc>
                <a:tc>
                  <a:txBody>
                    <a:bodyPr/>
                    <a:lstStyle/>
                    <a:p>
                      <a:r>
                        <a:rPr lang="en-GB" sz="1400" dirty="0"/>
                        <a:t>Canned meat</a:t>
                      </a:r>
                      <a:endParaRPr lang="en-NA" sz="1400" dirty="0"/>
                    </a:p>
                  </a:txBody>
                  <a:tcPr/>
                </a:tc>
                <a:tc>
                  <a:txBody>
                    <a:bodyPr/>
                    <a:lstStyle/>
                    <a:p>
                      <a:r>
                        <a:rPr lang="en-NA" sz="1400" dirty="0"/>
                        <a:t>0.99</a:t>
                      </a:r>
                    </a:p>
                  </a:txBody>
                  <a:tcPr/>
                </a:tc>
                <a:tc>
                  <a:txBody>
                    <a:bodyPr/>
                    <a:lstStyle/>
                    <a:p>
                      <a:r>
                        <a:rPr lang="en-NA" sz="1400" dirty="0"/>
                        <a:t>2.5</a:t>
                      </a:r>
                    </a:p>
                  </a:txBody>
                  <a:tcPr/>
                </a:tc>
                <a:extLst>
                  <a:ext uri="{0D108BD9-81ED-4DB2-BD59-A6C34878D82A}">
                    <a16:rowId xmlns:a16="http://schemas.microsoft.com/office/drawing/2014/main" val="24834474"/>
                  </a:ext>
                </a:extLst>
              </a:tr>
              <a:tr h="370840">
                <a:tc>
                  <a:txBody>
                    <a:bodyPr/>
                    <a:lstStyle/>
                    <a:p>
                      <a:r>
                        <a:rPr lang="en-GB" sz="1400" dirty="0"/>
                        <a:t>01133.01</a:t>
                      </a:r>
                      <a:endParaRPr lang="en-NA" sz="1400" dirty="0"/>
                    </a:p>
                  </a:txBody>
                  <a:tcPr/>
                </a:tc>
                <a:tc>
                  <a:txBody>
                    <a:bodyPr/>
                    <a:lstStyle/>
                    <a:p>
                      <a:r>
                        <a:rPr lang="en-GB" sz="1400" dirty="0"/>
                        <a:t>Smoked fish</a:t>
                      </a:r>
                      <a:endParaRPr lang="en-NA" sz="1400" dirty="0"/>
                    </a:p>
                  </a:txBody>
                  <a:tcPr/>
                </a:tc>
                <a:tc>
                  <a:txBody>
                    <a:bodyPr/>
                    <a:lstStyle/>
                    <a:p>
                      <a:r>
                        <a:rPr lang="en-NA" sz="1400" dirty="0"/>
                        <a:t>0.12</a:t>
                      </a:r>
                    </a:p>
                  </a:txBody>
                  <a:tcPr/>
                </a:tc>
                <a:tc>
                  <a:txBody>
                    <a:bodyPr/>
                    <a:lstStyle/>
                    <a:p>
                      <a:r>
                        <a:rPr lang="en-NA" sz="1400" dirty="0"/>
                        <a:t>1.7</a:t>
                      </a:r>
                    </a:p>
                  </a:txBody>
                  <a:tcPr/>
                </a:tc>
                <a:extLst>
                  <a:ext uri="{0D108BD9-81ED-4DB2-BD59-A6C34878D82A}">
                    <a16:rowId xmlns:a16="http://schemas.microsoft.com/office/drawing/2014/main" val="583130340"/>
                  </a:ext>
                </a:extLst>
              </a:tr>
              <a:tr h="370840">
                <a:tc>
                  <a:txBody>
                    <a:bodyPr/>
                    <a:lstStyle/>
                    <a:p>
                      <a:r>
                        <a:rPr lang="en-GB" sz="1400" dirty="0"/>
                        <a:t>01133.03</a:t>
                      </a:r>
                      <a:endParaRPr lang="en-NA" sz="1400" dirty="0"/>
                    </a:p>
                  </a:txBody>
                  <a:tcPr/>
                </a:tc>
                <a:tc>
                  <a:txBody>
                    <a:bodyPr/>
                    <a:lstStyle/>
                    <a:p>
                      <a:r>
                        <a:rPr lang="en-GB" sz="1400" dirty="0"/>
                        <a:t>Dried fish</a:t>
                      </a:r>
                      <a:endParaRPr lang="en-NA" sz="1400" dirty="0"/>
                    </a:p>
                  </a:txBody>
                  <a:tcPr/>
                </a:tc>
                <a:tc>
                  <a:txBody>
                    <a:bodyPr/>
                    <a:lstStyle/>
                    <a:p>
                      <a:r>
                        <a:rPr lang="en-NA" sz="1400" dirty="0"/>
                        <a:t>2.64</a:t>
                      </a:r>
                    </a:p>
                  </a:txBody>
                  <a:tcPr/>
                </a:tc>
                <a:tc>
                  <a:txBody>
                    <a:bodyPr/>
                    <a:lstStyle/>
                    <a:p>
                      <a:r>
                        <a:rPr lang="en-NA" sz="1400" dirty="0"/>
                        <a:t>13.9</a:t>
                      </a:r>
                    </a:p>
                  </a:txBody>
                  <a:tcPr/>
                </a:tc>
                <a:extLst>
                  <a:ext uri="{0D108BD9-81ED-4DB2-BD59-A6C34878D82A}">
                    <a16:rowId xmlns:a16="http://schemas.microsoft.com/office/drawing/2014/main" val="1134015058"/>
                  </a:ext>
                </a:extLst>
              </a:tr>
              <a:tr h="370840">
                <a:tc>
                  <a:txBody>
                    <a:bodyPr/>
                    <a:lstStyle/>
                    <a:p>
                      <a:r>
                        <a:rPr lang="en-GB" sz="1400" dirty="0"/>
                        <a:t>01134.01</a:t>
                      </a:r>
                      <a:endParaRPr lang="en-NA" sz="1400" dirty="0"/>
                    </a:p>
                  </a:txBody>
                  <a:tcPr/>
                </a:tc>
                <a:tc>
                  <a:txBody>
                    <a:bodyPr/>
                    <a:lstStyle/>
                    <a:p>
                      <a:r>
                        <a:rPr lang="en-GB" sz="1400" dirty="0"/>
                        <a:t>Bottled/ Tinned fish</a:t>
                      </a:r>
                      <a:endParaRPr lang="en-NA" sz="1400" dirty="0"/>
                    </a:p>
                  </a:txBody>
                  <a:tcPr/>
                </a:tc>
                <a:tc>
                  <a:txBody>
                    <a:bodyPr/>
                    <a:lstStyle/>
                    <a:p>
                      <a:r>
                        <a:rPr lang="en-NA" sz="1400" dirty="0"/>
                        <a:t>2.83</a:t>
                      </a:r>
                    </a:p>
                  </a:txBody>
                  <a:tcPr/>
                </a:tc>
                <a:tc>
                  <a:txBody>
                    <a:bodyPr/>
                    <a:lstStyle/>
                    <a:p>
                      <a:r>
                        <a:rPr lang="en-NA" sz="1400" dirty="0"/>
                        <a:t>0.7</a:t>
                      </a:r>
                    </a:p>
                  </a:txBody>
                  <a:tcPr/>
                </a:tc>
                <a:extLst>
                  <a:ext uri="{0D108BD9-81ED-4DB2-BD59-A6C34878D82A}">
                    <a16:rowId xmlns:a16="http://schemas.microsoft.com/office/drawing/2014/main" val="2382915920"/>
                  </a:ext>
                </a:extLst>
              </a:tr>
              <a:tr h="370840">
                <a:tc>
                  <a:txBody>
                    <a:bodyPr/>
                    <a:lstStyle/>
                    <a:p>
                      <a:r>
                        <a:rPr lang="en-GB" sz="1400" dirty="0"/>
                        <a:t>01145.01</a:t>
                      </a:r>
                      <a:endParaRPr lang="en-NA"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Cheese, all types</a:t>
                      </a:r>
                      <a:endParaRPr lang="en-NA" sz="1400" dirty="0"/>
                    </a:p>
                  </a:txBody>
                  <a:tcPr/>
                </a:tc>
                <a:tc>
                  <a:txBody>
                    <a:bodyPr/>
                    <a:lstStyle/>
                    <a:p>
                      <a:r>
                        <a:rPr lang="en-NA" sz="1400" dirty="0"/>
                        <a:t>0.87</a:t>
                      </a:r>
                    </a:p>
                  </a:txBody>
                  <a:tcPr/>
                </a:tc>
                <a:tc>
                  <a:txBody>
                    <a:bodyPr/>
                    <a:lstStyle/>
                    <a:p>
                      <a:r>
                        <a:rPr lang="en-NA" sz="1400" dirty="0"/>
                        <a:t>2</a:t>
                      </a:r>
                    </a:p>
                  </a:txBody>
                  <a:tcPr/>
                </a:tc>
                <a:extLst>
                  <a:ext uri="{0D108BD9-81ED-4DB2-BD59-A6C34878D82A}">
                    <a16:rowId xmlns:a16="http://schemas.microsoft.com/office/drawing/2014/main" val="3123856635"/>
                  </a:ext>
                </a:extLst>
              </a:tr>
              <a:tr h="370840">
                <a:tc>
                  <a:txBody>
                    <a:bodyPr/>
                    <a:lstStyle/>
                    <a:p>
                      <a:r>
                        <a:rPr lang="en-GB" sz="1400" dirty="0"/>
                        <a:t>01178.02</a:t>
                      </a:r>
                      <a:endParaRPr lang="en-NA"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Chips &amp; crisps</a:t>
                      </a:r>
                      <a:endParaRPr lang="en-NA" sz="1400" dirty="0"/>
                    </a:p>
                  </a:txBody>
                  <a:tcPr/>
                </a:tc>
                <a:tc>
                  <a:txBody>
                    <a:bodyPr/>
                    <a:lstStyle/>
                    <a:p>
                      <a:r>
                        <a:rPr lang="en-NA" sz="1400" dirty="0"/>
                        <a:t>2.2</a:t>
                      </a:r>
                    </a:p>
                  </a:txBody>
                  <a:tcPr/>
                </a:tc>
                <a:tc>
                  <a:txBody>
                    <a:bodyPr/>
                    <a:lstStyle/>
                    <a:p>
                      <a:r>
                        <a:rPr lang="en-NA" sz="1400" dirty="0"/>
                        <a:t>2.5</a:t>
                      </a:r>
                    </a:p>
                  </a:txBody>
                  <a:tcPr/>
                </a:tc>
                <a:extLst>
                  <a:ext uri="{0D108BD9-81ED-4DB2-BD59-A6C34878D82A}">
                    <a16:rowId xmlns:a16="http://schemas.microsoft.com/office/drawing/2014/main" val="3077959134"/>
                  </a:ext>
                </a:extLst>
              </a:tr>
              <a:tr h="370840">
                <a:tc>
                  <a:txBody>
                    <a:bodyPr/>
                    <a:lstStyle/>
                    <a:p>
                      <a:r>
                        <a:rPr lang="en-GB" sz="1400" dirty="0"/>
                        <a:t>01191.02</a:t>
                      </a:r>
                      <a:endParaRPr lang="en-NA"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Tomato Sauces</a:t>
                      </a:r>
                      <a:endParaRPr lang="en-NA" sz="1400" dirty="0"/>
                    </a:p>
                  </a:txBody>
                  <a:tcPr/>
                </a:tc>
                <a:tc>
                  <a:txBody>
                    <a:bodyPr/>
                    <a:lstStyle/>
                    <a:p>
                      <a:r>
                        <a:rPr lang="en-NA" sz="1400" dirty="0"/>
                        <a:t>0.53</a:t>
                      </a:r>
                    </a:p>
                  </a:txBody>
                  <a:tcPr/>
                </a:tc>
                <a:tc>
                  <a:txBody>
                    <a:bodyPr/>
                    <a:lstStyle/>
                    <a:p>
                      <a:r>
                        <a:rPr lang="en-NA" sz="1400" dirty="0"/>
                        <a:t>1.46</a:t>
                      </a:r>
                    </a:p>
                  </a:txBody>
                  <a:tcPr/>
                </a:tc>
                <a:extLst>
                  <a:ext uri="{0D108BD9-81ED-4DB2-BD59-A6C34878D82A}">
                    <a16:rowId xmlns:a16="http://schemas.microsoft.com/office/drawing/2014/main" val="3469430175"/>
                  </a:ext>
                </a:extLst>
              </a:tr>
              <a:tr h="370840">
                <a:tc>
                  <a:txBody>
                    <a:bodyPr/>
                    <a:lstStyle/>
                    <a:p>
                      <a:r>
                        <a:rPr lang="en-GB" sz="1400" dirty="0"/>
                        <a:t>01192.02</a:t>
                      </a:r>
                      <a:endParaRPr lang="en-NA"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Spices &amp; condiments</a:t>
                      </a:r>
                      <a:endParaRPr lang="en-NA" sz="1400" dirty="0"/>
                    </a:p>
                  </a:txBody>
                  <a:tcPr/>
                </a:tc>
                <a:tc>
                  <a:txBody>
                    <a:bodyPr/>
                    <a:lstStyle/>
                    <a:p>
                      <a:r>
                        <a:rPr lang="en-NA" sz="1400" dirty="0"/>
                        <a:t>0.19</a:t>
                      </a:r>
                    </a:p>
                  </a:txBody>
                  <a:tcPr/>
                </a:tc>
                <a:tc>
                  <a:txBody>
                    <a:bodyPr/>
                    <a:lstStyle/>
                    <a:p>
                      <a:r>
                        <a:rPr lang="en-NA" sz="1400" dirty="0"/>
                        <a:t>30</a:t>
                      </a:r>
                    </a:p>
                  </a:txBody>
                  <a:tcPr/>
                </a:tc>
                <a:extLst>
                  <a:ext uri="{0D108BD9-81ED-4DB2-BD59-A6C34878D82A}">
                    <a16:rowId xmlns:a16="http://schemas.microsoft.com/office/drawing/2014/main" val="2506962692"/>
                  </a:ext>
                </a:extLst>
              </a:tr>
              <a:tr h="370840">
                <a:tc>
                  <a:txBody>
                    <a:bodyPr/>
                    <a:lstStyle/>
                    <a:p>
                      <a:r>
                        <a:rPr lang="en-GB" sz="1400" dirty="0"/>
                        <a:t>01193.06</a:t>
                      </a:r>
                      <a:endParaRPr lang="en-NA"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Ready-made soup</a:t>
                      </a:r>
                      <a:endParaRPr lang="en-NA" sz="1400" dirty="0"/>
                    </a:p>
                  </a:txBody>
                  <a:tcPr/>
                </a:tc>
                <a:tc>
                  <a:txBody>
                    <a:bodyPr/>
                    <a:lstStyle/>
                    <a:p>
                      <a:r>
                        <a:rPr lang="en-NA" sz="1400" dirty="0"/>
                        <a:t>0.17</a:t>
                      </a:r>
                    </a:p>
                  </a:txBody>
                  <a:tcPr/>
                </a:tc>
                <a:tc>
                  <a:txBody>
                    <a:bodyPr/>
                    <a:lstStyle/>
                    <a:p>
                      <a:r>
                        <a:rPr lang="en-NA" sz="1400" dirty="0"/>
                        <a:t>0.85</a:t>
                      </a:r>
                    </a:p>
                  </a:txBody>
                  <a:tcPr/>
                </a:tc>
                <a:extLst>
                  <a:ext uri="{0D108BD9-81ED-4DB2-BD59-A6C34878D82A}">
                    <a16:rowId xmlns:a16="http://schemas.microsoft.com/office/drawing/2014/main" val="248624426"/>
                  </a:ext>
                </a:extLst>
              </a:tr>
              <a:tr h="370840">
                <a:tc>
                  <a:txBody>
                    <a:bodyPr/>
                    <a:lstStyle/>
                    <a:p>
                      <a:r>
                        <a:rPr lang="en-GB" sz="1400" dirty="0"/>
                        <a:t>01193.07</a:t>
                      </a:r>
                      <a:endParaRPr lang="en-NA"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Powdered soup</a:t>
                      </a:r>
                      <a:endParaRPr lang="en-NA" sz="1400" dirty="0"/>
                    </a:p>
                  </a:txBody>
                  <a:tcPr/>
                </a:tc>
                <a:tc>
                  <a:txBody>
                    <a:bodyPr/>
                    <a:lstStyle/>
                    <a:p>
                      <a:r>
                        <a:rPr lang="en-NA" sz="1400" dirty="0"/>
                        <a:t>1.09</a:t>
                      </a:r>
                    </a:p>
                  </a:txBody>
                  <a:tcPr/>
                </a:tc>
                <a:tc>
                  <a:txBody>
                    <a:bodyPr/>
                    <a:lstStyle/>
                    <a:p>
                      <a:r>
                        <a:rPr lang="en-NA" sz="1400" dirty="0"/>
                        <a:t>13.66</a:t>
                      </a:r>
                    </a:p>
                  </a:txBody>
                  <a:tcPr/>
                </a:tc>
                <a:extLst>
                  <a:ext uri="{0D108BD9-81ED-4DB2-BD59-A6C34878D82A}">
                    <a16:rowId xmlns:a16="http://schemas.microsoft.com/office/drawing/2014/main" val="1288641526"/>
                  </a:ext>
                </a:extLst>
              </a:tr>
            </a:tbl>
          </a:graphicData>
        </a:graphic>
      </p:graphicFrame>
    </p:spTree>
    <p:extLst>
      <p:ext uri="{BB962C8B-B14F-4D97-AF65-F5344CB8AC3E}">
        <p14:creationId xmlns:p14="http://schemas.microsoft.com/office/powerpoint/2010/main" val="2084387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8433-A179-F442-B952-63F12F1B35F3}"/>
              </a:ext>
            </a:extLst>
          </p:cNvPr>
          <p:cNvSpPr>
            <a:spLocks noGrp="1"/>
          </p:cNvSpPr>
          <p:nvPr>
            <p:ph type="title"/>
          </p:nvPr>
        </p:nvSpPr>
        <p:spPr/>
        <p:txBody>
          <a:bodyPr>
            <a:normAutofit fontScale="90000"/>
          </a:bodyPr>
          <a:lstStyle/>
          <a:p>
            <a:r>
              <a:rPr lang="en-NA" dirty="0"/>
              <a:t>Task 3: Foods included in the calculation and % fortifiable content for maize, mahangu and milk</a:t>
            </a:r>
          </a:p>
        </p:txBody>
      </p:sp>
      <p:graphicFrame>
        <p:nvGraphicFramePr>
          <p:cNvPr id="4" name="Table 4">
            <a:extLst>
              <a:ext uri="{FF2B5EF4-FFF2-40B4-BE49-F238E27FC236}">
                <a16:creationId xmlns:a16="http://schemas.microsoft.com/office/drawing/2014/main" id="{7E748BE4-DCEE-5648-A847-C1C39A3AA5D5}"/>
              </a:ext>
            </a:extLst>
          </p:cNvPr>
          <p:cNvGraphicFramePr>
            <a:graphicFrameLocks noGrp="1"/>
          </p:cNvGraphicFramePr>
          <p:nvPr>
            <p:ph idx="1"/>
            <p:extLst>
              <p:ext uri="{D42A27DB-BD31-4B8C-83A1-F6EECF244321}">
                <p14:modId xmlns:p14="http://schemas.microsoft.com/office/powerpoint/2010/main" val="2732732020"/>
              </p:ext>
            </p:extLst>
          </p:nvPr>
        </p:nvGraphicFramePr>
        <p:xfrm>
          <a:off x="838200" y="1690688"/>
          <a:ext cx="10379528" cy="4516120"/>
        </p:xfrm>
        <a:graphic>
          <a:graphicData uri="http://schemas.openxmlformats.org/drawingml/2006/table">
            <a:tbl>
              <a:tblPr firstRow="1" bandRow="1">
                <a:tableStyleId>{5C22544A-7EE6-4342-B048-85BDC9FD1C3A}</a:tableStyleId>
              </a:tblPr>
              <a:tblGrid>
                <a:gridCol w="1202871">
                  <a:extLst>
                    <a:ext uri="{9D8B030D-6E8A-4147-A177-3AD203B41FA5}">
                      <a16:colId xmlns:a16="http://schemas.microsoft.com/office/drawing/2014/main" val="1140293002"/>
                    </a:ext>
                  </a:extLst>
                </a:gridCol>
                <a:gridCol w="1143000">
                  <a:extLst>
                    <a:ext uri="{9D8B030D-6E8A-4147-A177-3AD203B41FA5}">
                      <a16:colId xmlns:a16="http://schemas.microsoft.com/office/drawing/2014/main" val="1938524739"/>
                    </a:ext>
                  </a:extLst>
                </a:gridCol>
                <a:gridCol w="4899480">
                  <a:extLst>
                    <a:ext uri="{9D8B030D-6E8A-4147-A177-3AD203B41FA5}">
                      <a16:colId xmlns:a16="http://schemas.microsoft.com/office/drawing/2014/main" val="1751083270"/>
                    </a:ext>
                  </a:extLst>
                </a:gridCol>
                <a:gridCol w="1825568">
                  <a:extLst>
                    <a:ext uri="{9D8B030D-6E8A-4147-A177-3AD203B41FA5}">
                      <a16:colId xmlns:a16="http://schemas.microsoft.com/office/drawing/2014/main" val="3373922058"/>
                    </a:ext>
                  </a:extLst>
                </a:gridCol>
                <a:gridCol w="1308609">
                  <a:extLst>
                    <a:ext uri="{9D8B030D-6E8A-4147-A177-3AD203B41FA5}">
                      <a16:colId xmlns:a16="http://schemas.microsoft.com/office/drawing/2014/main" val="2038246335"/>
                    </a:ext>
                  </a:extLst>
                </a:gridCol>
              </a:tblGrid>
              <a:tr h="370840">
                <a:tc>
                  <a:txBody>
                    <a:bodyPr/>
                    <a:lstStyle/>
                    <a:p>
                      <a:r>
                        <a:rPr lang="en-NA" dirty="0"/>
                        <a:t>Food type</a:t>
                      </a:r>
                    </a:p>
                  </a:txBody>
                  <a:tcPr/>
                </a:tc>
                <a:tc>
                  <a:txBody>
                    <a:bodyPr/>
                    <a:lstStyle/>
                    <a:p>
                      <a:r>
                        <a:rPr lang="en-NA" dirty="0"/>
                        <a:t>Food Item Code</a:t>
                      </a:r>
                    </a:p>
                  </a:txBody>
                  <a:tcPr/>
                </a:tc>
                <a:tc>
                  <a:txBody>
                    <a:bodyPr/>
                    <a:lstStyle/>
                    <a:p>
                      <a:r>
                        <a:rPr lang="en-NA" dirty="0"/>
                        <a:t>Food item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NA" dirty="0"/>
                        <a:t>Average quantity as purchased (g/c/d)</a:t>
                      </a:r>
                    </a:p>
                  </a:txBody>
                  <a:tcPr/>
                </a:tc>
                <a:tc>
                  <a:txBody>
                    <a:bodyPr/>
                    <a:lstStyle/>
                    <a:p>
                      <a:pPr algn="ctr"/>
                      <a:r>
                        <a:rPr lang="en-NA" dirty="0"/>
                        <a:t>Cereal flour content (%)</a:t>
                      </a:r>
                      <a:r>
                        <a:rPr lang="en-NA" baseline="30000" dirty="0"/>
                        <a:t>1</a:t>
                      </a:r>
                    </a:p>
                  </a:txBody>
                  <a:tcPr/>
                </a:tc>
                <a:extLst>
                  <a:ext uri="{0D108BD9-81ED-4DB2-BD59-A6C34878D82A}">
                    <a16:rowId xmlns:a16="http://schemas.microsoft.com/office/drawing/2014/main" val="565765799"/>
                  </a:ext>
                </a:extLst>
              </a:tr>
              <a:tr h="370840">
                <a:tc>
                  <a:txBody>
                    <a:bodyPr/>
                    <a:lstStyle/>
                    <a:p>
                      <a:r>
                        <a:rPr lang="en-NA" dirty="0"/>
                        <a:t>Maize</a:t>
                      </a:r>
                    </a:p>
                  </a:txBody>
                  <a:tcPr/>
                </a:tc>
                <a:tc>
                  <a:txBody>
                    <a:bodyPr/>
                    <a:lstStyle/>
                    <a:p>
                      <a:r>
                        <a:rPr lang="en-GB" dirty="0"/>
                        <a:t>01112.09</a:t>
                      </a:r>
                      <a:endParaRPr lang="en-NA" dirty="0"/>
                    </a:p>
                  </a:txBody>
                  <a:tcPr/>
                </a:tc>
                <a:tc>
                  <a:txBody>
                    <a:bodyPr/>
                    <a:lstStyle/>
                    <a:p>
                      <a:r>
                        <a:rPr lang="en-GB" dirty="0"/>
                        <a:t>Traditional bread, ash bread, </a:t>
                      </a:r>
                      <a:r>
                        <a:rPr lang="en-GB" dirty="0" err="1"/>
                        <a:t>oshikwiila</a:t>
                      </a:r>
                      <a:r>
                        <a:rPr lang="en-GB" dirty="0"/>
                        <a:t>, </a:t>
                      </a:r>
                      <a:r>
                        <a:rPr lang="en-GB" dirty="0" err="1"/>
                        <a:t>oshima</a:t>
                      </a:r>
                      <a:r>
                        <a:rPr lang="en-GB" dirty="0"/>
                        <a:t>, </a:t>
                      </a:r>
                      <a:r>
                        <a:rPr lang="en-GB" dirty="0" err="1"/>
                        <a:t>omungome</a:t>
                      </a:r>
                      <a:endParaRPr lang="en-NA" dirty="0"/>
                    </a:p>
                  </a:txBody>
                  <a:tcPr/>
                </a:tc>
                <a:tc>
                  <a:txBody>
                    <a:bodyPr/>
                    <a:lstStyle/>
                    <a:p>
                      <a:pPr algn="ctr"/>
                      <a:r>
                        <a:rPr lang="en-NA" dirty="0"/>
                        <a:t>4.09</a:t>
                      </a:r>
                    </a:p>
                  </a:txBody>
                  <a:tcPr/>
                </a:tc>
                <a:tc>
                  <a:txBody>
                    <a:bodyPr/>
                    <a:lstStyle/>
                    <a:p>
                      <a:pPr algn="ctr"/>
                      <a:r>
                        <a:rPr lang="en-NA" dirty="0"/>
                        <a:t>75</a:t>
                      </a:r>
                    </a:p>
                  </a:txBody>
                  <a:tcPr/>
                </a:tc>
                <a:extLst>
                  <a:ext uri="{0D108BD9-81ED-4DB2-BD59-A6C34878D82A}">
                    <a16:rowId xmlns:a16="http://schemas.microsoft.com/office/drawing/2014/main" val="250348788"/>
                  </a:ext>
                </a:extLst>
              </a:tr>
              <a:tr h="370840">
                <a:tc>
                  <a:txBody>
                    <a:bodyPr/>
                    <a:lstStyle/>
                    <a:p>
                      <a:r>
                        <a:rPr lang="en-NA" dirty="0"/>
                        <a:t>Maize</a:t>
                      </a:r>
                    </a:p>
                  </a:txBody>
                  <a:tcPr/>
                </a:tc>
                <a:tc>
                  <a:txBody>
                    <a:bodyPr/>
                    <a:lstStyle/>
                    <a:p>
                      <a:r>
                        <a:rPr lang="en-GB" dirty="0"/>
                        <a:t>01115.04</a:t>
                      </a:r>
                      <a:endParaRPr lang="en-NA" dirty="0"/>
                    </a:p>
                  </a:txBody>
                  <a:tcPr/>
                </a:tc>
                <a:tc>
                  <a:txBody>
                    <a:bodyPr/>
                    <a:lstStyle/>
                    <a:p>
                      <a:r>
                        <a:rPr lang="en-GB" dirty="0"/>
                        <a:t>Maize meal/ grain/ </a:t>
                      </a:r>
                      <a:r>
                        <a:rPr lang="en-GB" dirty="0" err="1"/>
                        <a:t>samp</a:t>
                      </a:r>
                      <a:endParaRPr lang="en-NA" dirty="0"/>
                    </a:p>
                  </a:txBody>
                  <a:tcPr/>
                </a:tc>
                <a:tc>
                  <a:txBody>
                    <a:bodyPr/>
                    <a:lstStyle/>
                    <a:p>
                      <a:pPr algn="ctr"/>
                      <a:r>
                        <a:rPr lang="en-NA" dirty="0"/>
                        <a:t>127.69</a:t>
                      </a:r>
                    </a:p>
                  </a:txBody>
                  <a:tcPr/>
                </a:tc>
                <a:tc>
                  <a:txBody>
                    <a:bodyPr/>
                    <a:lstStyle/>
                    <a:p>
                      <a:pPr algn="ctr"/>
                      <a:r>
                        <a:rPr lang="en-NA" dirty="0"/>
                        <a:t>100</a:t>
                      </a:r>
                    </a:p>
                  </a:txBody>
                  <a:tcPr/>
                </a:tc>
                <a:extLst>
                  <a:ext uri="{0D108BD9-81ED-4DB2-BD59-A6C34878D82A}">
                    <a16:rowId xmlns:a16="http://schemas.microsoft.com/office/drawing/2014/main" val="3457050677"/>
                  </a:ext>
                </a:extLst>
              </a:tr>
              <a:tr h="370840">
                <a:tc>
                  <a:txBody>
                    <a:bodyPr/>
                    <a:lstStyle/>
                    <a:p>
                      <a:r>
                        <a:rPr lang="en-NA" dirty="0"/>
                        <a:t>Mahangu</a:t>
                      </a:r>
                    </a:p>
                  </a:txBody>
                  <a:tcPr/>
                </a:tc>
                <a:tc>
                  <a:txBody>
                    <a:bodyPr/>
                    <a:lstStyle/>
                    <a:p>
                      <a:r>
                        <a:rPr lang="en-GB" dirty="0"/>
                        <a:t>01115.05</a:t>
                      </a:r>
                      <a:endParaRPr lang="en-NA" dirty="0"/>
                    </a:p>
                  </a:txBody>
                  <a:tcPr/>
                </a:tc>
                <a:tc>
                  <a:txBody>
                    <a:bodyPr/>
                    <a:lstStyle/>
                    <a:p>
                      <a:r>
                        <a:rPr lang="en-GB" dirty="0"/>
                        <a:t>Mahangu meal/ grain/ </a:t>
                      </a:r>
                      <a:r>
                        <a:rPr lang="en-GB" dirty="0" err="1"/>
                        <a:t>samp</a:t>
                      </a:r>
                      <a:endParaRPr lang="en-NA" dirty="0"/>
                    </a:p>
                  </a:txBody>
                  <a:tcPr/>
                </a:tc>
                <a:tc>
                  <a:txBody>
                    <a:bodyPr/>
                    <a:lstStyle/>
                    <a:p>
                      <a:pPr algn="ctr"/>
                      <a:r>
                        <a:rPr lang="en-NA" dirty="0"/>
                        <a:t>74.75</a:t>
                      </a:r>
                    </a:p>
                  </a:txBody>
                  <a:tcPr/>
                </a:tc>
                <a:tc>
                  <a:txBody>
                    <a:bodyPr/>
                    <a:lstStyle/>
                    <a:p>
                      <a:pPr algn="ctr"/>
                      <a:r>
                        <a:rPr lang="en-NA" dirty="0"/>
                        <a:t>100</a:t>
                      </a:r>
                    </a:p>
                  </a:txBody>
                  <a:tcPr/>
                </a:tc>
                <a:extLst>
                  <a:ext uri="{0D108BD9-81ED-4DB2-BD59-A6C34878D82A}">
                    <a16:rowId xmlns:a16="http://schemas.microsoft.com/office/drawing/2014/main" val="282765522"/>
                  </a:ext>
                </a:extLst>
              </a:tr>
              <a:tr h="370840">
                <a:tc>
                  <a:txBody>
                    <a:bodyPr/>
                    <a:lstStyle/>
                    <a:p>
                      <a:r>
                        <a:rPr lang="en-NA" dirty="0"/>
                        <a:t>Mahangu</a:t>
                      </a:r>
                    </a:p>
                  </a:txBody>
                  <a:tcPr/>
                </a:tc>
                <a:tc>
                  <a:txBody>
                    <a:bodyPr/>
                    <a:lstStyle/>
                    <a:p>
                      <a:r>
                        <a:rPr lang="en-GB" dirty="0"/>
                        <a:t>01223.02</a:t>
                      </a:r>
                      <a:endParaRPr lang="en-NA" dirty="0"/>
                    </a:p>
                  </a:txBody>
                  <a:tcPr/>
                </a:tc>
                <a:tc>
                  <a:txBody>
                    <a:bodyPr/>
                    <a:lstStyle/>
                    <a:p>
                      <a:r>
                        <a:rPr lang="en-GB" dirty="0" err="1"/>
                        <a:t>Mageu</a:t>
                      </a:r>
                      <a:r>
                        <a:rPr lang="en-GB" dirty="0"/>
                        <a:t>/</a:t>
                      </a:r>
                      <a:r>
                        <a:rPr lang="en-GB" dirty="0" err="1"/>
                        <a:t>Oshikundu</a:t>
                      </a:r>
                      <a:endParaRPr lang="en-NA" dirty="0"/>
                    </a:p>
                  </a:txBody>
                  <a:tcPr/>
                </a:tc>
                <a:tc>
                  <a:txBody>
                    <a:bodyPr/>
                    <a:lstStyle/>
                    <a:p>
                      <a:pPr algn="ctr"/>
                      <a:r>
                        <a:rPr lang="en-NA" dirty="0"/>
                        <a:t>103.97</a:t>
                      </a:r>
                    </a:p>
                  </a:txBody>
                  <a:tcPr/>
                </a:tc>
                <a:tc>
                  <a:txBody>
                    <a:bodyPr/>
                    <a:lstStyle/>
                    <a:p>
                      <a:pPr algn="ctr"/>
                      <a:r>
                        <a:rPr lang="en-NA" dirty="0"/>
                        <a:t>100</a:t>
                      </a:r>
                    </a:p>
                  </a:txBody>
                  <a:tcPr/>
                </a:tc>
                <a:extLst>
                  <a:ext uri="{0D108BD9-81ED-4DB2-BD59-A6C34878D82A}">
                    <a16:rowId xmlns:a16="http://schemas.microsoft.com/office/drawing/2014/main" val="2450185537"/>
                  </a:ext>
                </a:extLst>
              </a:tr>
              <a:tr h="370840">
                <a:tc>
                  <a:txBody>
                    <a:bodyPr/>
                    <a:lstStyle/>
                    <a:p>
                      <a:r>
                        <a:rPr lang="en-NA" dirty="0"/>
                        <a:t>Milk</a:t>
                      </a:r>
                    </a:p>
                  </a:txBody>
                  <a:tcPr/>
                </a:tc>
                <a:tc>
                  <a:txBody>
                    <a:bodyPr/>
                    <a:lstStyle/>
                    <a:p>
                      <a:r>
                        <a:rPr lang="en-GB" dirty="0"/>
                        <a:t>01141.01</a:t>
                      </a:r>
                      <a:endParaRPr lang="en-NA" dirty="0"/>
                    </a:p>
                  </a:txBody>
                  <a:tcPr/>
                </a:tc>
                <a:tc>
                  <a:txBody>
                    <a:bodyPr/>
                    <a:lstStyle/>
                    <a:p>
                      <a:r>
                        <a:rPr lang="en-GB" dirty="0"/>
                        <a:t>Fresh milk</a:t>
                      </a:r>
                      <a:endParaRPr lang="en-NA" dirty="0"/>
                    </a:p>
                  </a:txBody>
                  <a:tcPr/>
                </a:tc>
                <a:tc>
                  <a:txBody>
                    <a:bodyPr/>
                    <a:lstStyle/>
                    <a:p>
                      <a:pPr algn="ctr"/>
                      <a:r>
                        <a:rPr lang="en-NA" dirty="0"/>
                        <a:t>10.98</a:t>
                      </a:r>
                    </a:p>
                  </a:txBody>
                  <a:tcPr/>
                </a:tc>
                <a:tc>
                  <a:txBody>
                    <a:bodyPr/>
                    <a:lstStyle/>
                    <a:p>
                      <a:pPr algn="ctr"/>
                      <a:endParaRPr lang="en-NA" dirty="0"/>
                    </a:p>
                  </a:txBody>
                  <a:tcPr/>
                </a:tc>
                <a:extLst>
                  <a:ext uri="{0D108BD9-81ED-4DB2-BD59-A6C34878D82A}">
                    <a16:rowId xmlns:a16="http://schemas.microsoft.com/office/drawing/2014/main" val="895043140"/>
                  </a:ext>
                </a:extLst>
              </a:tr>
              <a:tr h="370840">
                <a:tc>
                  <a:txBody>
                    <a:bodyPr/>
                    <a:lstStyle/>
                    <a:p>
                      <a:r>
                        <a:rPr lang="en-NA" dirty="0"/>
                        <a:t>Milk</a:t>
                      </a:r>
                    </a:p>
                  </a:txBody>
                  <a:tcPr/>
                </a:tc>
                <a:tc>
                  <a:txBody>
                    <a:bodyPr/>
                    <a:lstStyle/>
                    <a:p>
                      <a:r>
                        <a:rPr lang="en-GB" dirty="0"/>
                        <a:t>01141.02</a:t>
                      </a:r>
                      <a:endParaRPr lang="en-NA" dirty="0"/>
                    </a:p>
                  </a:txBody>
                  <a:tcPr/>
                </a:tc>
                <a:tc>
                  <a:txBody>
                    <a:bodyPr/>
                    <a:lstStyle/>
                    <a:p>
                      <a:r>
                        <a:rPr lang="en-GB" dirty="0"/>
                        <a:t>Long life milk</a:t>
                      </a:r>
                      <a:endParaRPr lang="en-NA" dirty="0"/>
                    </a:p>
                  </a:txBody>
                  <a:tcPr/>
                </a:tc>
                <a:tc>
                  <a:txBody>
                    <a:bodyPr/>
                    <a:lstStyle/>
                    <a:p>
                      <a:pPr algn="ctr"/>
                      <a:r>
                        <a:rPr lang="en-NA" dirty="0"/>
                        <a:t>0.67</a:t>
                      </a:r>
                    </a:p>
                  </a:txBody>
                  <a:tcPr/>
                </a:tc>
                <a:tc>
                  <a:txBody>
                    <a:bodyPr/>
                    <a:lstStyle/>
                    <a:p>
                      <a:pPr algn="ctr"/>
                      <a:r>
                        <a:rPr lang="en-NA" dirty="0"/>
                        <a:t> </a:t>
                      </a:r>
                    </a:p>
                  </a:txBody>
                  <a:tcPr/>
                </a:tc>
                <a:extLst>
                  <a:ext uri="{0D108BD9-81ED-4DB2-BD59-A6C34878D82A}">
                    <a16:rowId xmlns:a16="http://schemas.microsoft.com/office/drawing/2014/main" val="477880169"/>
                  </a:ext>
                </a:extLst>
              </a:tr>
              <a:tr h="370840">
                <a:tc>
                  <a:txBody>
                    <a:bodyPr/>
                    <a:lstStyle/>
                    <a:p>
                      <a:r>
                        <a:rPr lang="en-NA" dirty="0"/>
                        <a:t>Milk</a:t>
                      </a:r>
                    </a:p>
                  </a:txBody>
                  <a:tcPr/>
                </a:tc>
                <a:tc>
                  <a:txBody>
                    <a:bodyPr/>
                    <a:lstStyle/>
                    <a:p>
                      <a:r>
                        <a:rPr lang="en-GB" dirty="0"/>
                        <a:t>01142.01</a:t>
                      </a:r>
                      <a:endParaRPr lang="en-NA" dirty="0"/>
                    </a:p>
                  </a:txBody>
                  <a:tcPr/>
                </a:tc>
                <a:tc>
                  <a:txBody>
                    <a:bodyPr/>
                    <a:lstStyle/>
                    <a:p>
                      <a:r>
                        <a:rPr lang="en-GB" dirty="0"/>
                        <a:t>Fresh milk - Low fat</a:t>
                      </a:r>
                      <a:endParaRPr lang="en-NA" dirty="0"/>
                    </a:p>
                  </a:txBody>
                  <a:tcPr/>
                </a:tc>
                <a:tc>
                  <a:txBody>
                    <a:bodyPr/>
                    <a:lstStyle/>
                    <a:p>
                      <a:pPr algn="ctr"/>
                      <a:r>
                        <a:rPr lang="en-NA" dirty="0"/>
                        <a:t>0.02</a:t>
                      </a:r>
                    </a:p>
                  </a:txBody>
                  <a:tcPr/>
                </a:tc>
                <a:tc>
                  <a:txBody>
                    <a:bodyPr/>
                    <a:lstStyle/>
                    <a:p>
                      <a:pPr algn="ctr"/>
                      <a:r>
                        <a:rPr lang="en-NA" dirty="0"/>
                        <a:t> </a:t>
                      </a:r>
                    </a:p>
                  </a:txBody>
                  <a:tcPr/>
                </a:tc>
                <a:extLst>
                  <a:ext uri="{0D108BD9-81ED-4DB2-BD59-A6C34878D82A}">
                    <a16:rowId xmlns:a16="http://schemas.microsoft.com/office/drawing/2014/main" val="1329201746"/>
                  </a:ext>
                </a:extLst>
              </a:tr>
              <a:tr h="0">
                <a:tc>
                  <a:txBody>
                    <a:bodyPr/>
                    <a:lstStyle/>
                    <a:p>
                      <a:r>
                        <a:rPr lang="en-NA" dirty="0"/>
                        <a:t>Milk</a:t>
                      </a:r>
                    </a:p>
                  </a:txBody>
                  <a:tcPr/>
                </a:tc>
                <a:tc>
                  <a:txBody>
                    <a:bodyPr/>
                    <a:lstStyle/>
                    <a:p>
                      <a:r>
                        <a:rPr lang="en-GB" dirty="0"/>
                        <a:t>01142.02 </a:t>
                      </a:r>
                      <a:endParaRPr lang="en-NA" dirty="0"/>
                    </a:p>
                  </a:txBody>
                  <a:tcPr/>
                </a:tc>
                <a:tc>
                  <a:txBody>
                    <a:bodyPr/>
                    <a:lstStyle/>
                    <a:p>
                      <a:r>
                        <a:rPr lang="en-GB" dirty="0"/>
                        <a:t>Long life - Low fat</a:t>
                      </a:r>
                      <a:endParaRPr lang="en-NA" dirty="0"/>
                    </a:p>
                  </a:txBody>
                  <a:tcPr/>
                </a:tc>
                <a:tc>
                  <a:txBody>
                    <a:bodyPr/>
                    <a:lstStyle/>
                    <a:p>
                      <a:pPr algn="ctr"/>
                      <a:r>
                        <a:rPr lang="en-NA" dirty="0"/>
                        <a:t>0.04</a:t>
                      </a:r>
                    </a:p>
                  </a:txBody>
                  <a:tcPr/>
                </a:tc>
                <a:tc>
                  <a:txBody>
                    <a:bodyPr/>
                    <a:lstStyle/>
                    <a:p>
                      <a:pPr algn="ctr"/>
                      <a:r>
                        <a:rPr lang="en-NA" dirty="0"/>
                        <a:t> </a:t>
                      </a:r>
                    </a:p>
                  </a:txBody>
                  <a:tcPr/>
                </a:tc>
                <a:extLst>
                  <a:ext uri="{0D108BD9-81ED-4DB2-BD59-A6C34878D82A}">
                    <a16:rowId xmlns:a16="http://schemas.microsoft.com/office/drawing/2014/main" val="179680972"/>
                  </a:ext>
                </a:extLst>
              </a:tr>
              <a:tr h="370840">
                <a:tc>
                  <a:txBody>
                    <a:bodyPr/>
                    <a:lstStyle/>
                    <a:p>
                      <a:r>
                        <a:rPr lang="en-NA" dirty="0"/>
                        <a:t>Milk</a:t>
                      </a:r>
                    </a:p>
                  </a:txBody>
                  <a:tcPr/>
                </a:tc>
                <a:tc>
                  <a:txBody>
                    <a:bodyPr/>
                    <a:lstStyle/>
                    <a:p>
                      <a:r>
                        <a:rPr lang="en-GB" dirty="0"/>
                        <a:t>01144.01</a:t>
                      </a:r>
                      <a:endParaRPr lang="en-NA" dirty="0"/>
                    </a:p>
                  </a:txBody>
                  <a:tcPr/>
                </a:tc>
                <a:tc>
                  <a:txBody>
                    <a:bodyPr/>
                    <a:lstStyle/>
                    <a:p>
                      <a:r>
                        <a:rPr lang="en-GB" dirty="0"/>
                        <a:t>Clotted/ Cultured milk</a:t>
                      </a:r>
                      <a:endParaRPr lang="en-NA" dirty="0"/>
                    </a:p>
                  </a:txBody>
                  <a:tcPr/>
                </a:tc>
                <a:tc>
                  <a:txBody>
                    <a:bodyPr/>
                    <a:lstStyle/>
                    <a:p>
                      <a:pPr algn="ctr"/>
                      <a:r>
                        <a:rPr lang="en-NA" dirty="0"/>
                        <a:t>3.36</a:t>
                      </a:r>
                    </a:p>
                  </a:txBody>
                  <a:tcPr/>
                </a:tc>
                <a:tc>
                  <a:txBody>
                    <a:bodyPr/>
                    <a:lstStyle/>
                    <a:p>
                      <a:pPr algn="ctr"/>
                      <a:r>
                        <a:rPr lang="en-NA" dirty="0"/>
                        <a:t> </a:t>
                      </a:r>
                    </a:p>
                  </a:txBody>
                  <a:tcPr/>
                </a:tc>
                <a:extLst>
                  <a:ext uri="{0D108BD9-81ED-4DB2-BD59-A6C34878D82A}">
                    <a16:rowId xmlns:a16="http://schemas.microsoft.com/office/drawing/2014/main" val="2685588862"/>
                  </a:ext>
                </a:extLst>
              </a:tr>
            </a:tbl>
          </a:graphicData>
        </a:graphic>
      </p:graphicFrame>
      <p:sp>
        <p:nvSpPr>
          <p:cNvPr id="5" name="TextBox 4">
            <a:extLst>
              <a:ext uri="{FF2B5EF4-FFF2-40B4-BE49-F238E27FC236}">
                <a16:creationId xmlns:a16="http://schemas.microsoft.com/office/drawing/2014/main" id="{76CF4D06-6A09-954A-BB2A-03AE1689D3AC}"/>
              </a:ext>
            </a:extLst>
          </p:cNvPr>
          <p:cNvSpPr txBox="1"/>
          <p:nvPr/>
        </p:nvSpPr>
        <p:spPr>
          <a:xfrm>
            <a:off x="838200" y="6308209"/>
            <a:ext cx="10515600" cy="369332"/>
          </a:xfrm>
          <a:prstGeom prst="rect">
            <a:avLst/>
          </a:prstGeom>
          <a:noFill/>
        </p:spPr>
        <p:txBody>
          <a:bodyPr wrap="square" rtlCol="0">
            <a:spAutoFit/>
          </a:bodyPr>
          <a:lstStyle/>
          <a:p>
            <a:r>
              <a:rPr lang="en-NA" baseline="30000" dirty="0"/>
              <a:t>1</a:t>
            </a:r>
            <a:r>
              <a:rPr lang="en-NA" dirty="0"/>
              <a:t> Proprortions provided by Jurgen Hanke, NamibMills, email 9 November 2020</a:t>
            </a:r>
          </a:p>
        </p:txBody>
      </p:sp>
    </p:spTree>
    <p:extLst>
      <p:ext uri="{BB962C8B-B14F-4D97-AF65-F5344CB8AC3E}">
        <p14:creationId xmlns:p14="http://schemas.microsoft.com/office/powerpoint/2010/main" val="3574039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0197A-D563-4040-8368-D0BA619BC52F}"/>
              </a:ext>
            </a:extLst>
          </p:cNvPr>
          <p:cNvSpPr>
            <a:spLocks noGrp="1"/>
          </p:cNvSpPr>
          <p:nvPr>
            <p:ph type="title"/>
          </p:nvPr>
        </p:nvSpPr>
        <p:spPr/>
        <p:txBody>
          <a:bodyPr/>
          <a:lstStyle/>
          <a:p>
            <a:r>
              <a:rPr lang="en-US" dirty="0">
                <a:latin typeface="Tw Cen MT" panose="020B0602020104020603" pitchFamily="34" charset="0"/>
              </a:rPr>
              <a:t>Task 3: Key Findings/Results</a:t>
            </a:r>
            <a:endParaRPr lang="en-NA" dirty="0"/>
          </a:p>
        </p:txBody>
      </p:sp>
      <p:graphicFrame>
        <p:nvGraphicFramePr>
          <p:cNvPr id="4" name="Table 3">
            <a:extLst>
              <a:ext uri="{FF2B5EF4-FFF2-40B4-BE49-F238E27FC236}">
                <a16:creationId xmlns:a16="http://schemas.microsoft.com/office/drawing/2014/main" id="{7D0561C7-0403-7D43-82FF-0239C7F64C1C}"/>
              </a:ext>
            </a:extLst>
          </p:cNvPr>
          <p:cNvGraphicFramePr>
            <a:graphicFrameLocks noGrp="1"/>
          </p:cNvGraphicFramePr>
          <p:nvPr>
            <p:extLst>
              <p:ext uri="{D42A27DB-BD31-4B8C-83A1-F6EECF244321}">
                <p14:modId xmlns:p14="http://schemas.microsoft.com/office/powerpoint/2010/main" val="2879511247"/>
              </p:ext>
            </p:extLst>
          </p:nvPr>
        </p:nvGraphicFramePr>
        <p:xfrm>
          <a:off x="669471" y="1393825"/>
          <a:ext cx="10684331" cy="4310380"/>
        </p:xfrm>
        <a:graphic>
          <a:graphicData uri="http://schemas.openxmlformats.org/drawingml/2006/table">
            <a:tbl>
              <a:tblPr>
                <a:tableStyleId>{5C22544A-7EE6-4342-B048-85BDC9FD1C3A}</a:tableStyleId>
              </a:tblPr>
              <a:tblGrid>
                <a:gridCol w="1224643">
                  <a:extLst>
                    <a:ext uri="{9D8B030D-6E8A-4147-A177-3AD203B41FA5}">
                      <a16:colId xmlns:a16="http://schemas.microsoft.com/office/drawing/2014/main" val="1934803563"/>
                    </a:ext>
                  </a:extLst>
                </a:gridCol>
                <a:gridCol w="1182461">
                  <a:extLst>
                    <a:ext uri="{9D8B030D-6E8A-4147-A177-3AD203B41FA5}">
                      <a16:colId xmlns:a16="http://schemas.microsoft.com/office/drawing/2014/main" val="523260131"/>
                    </a:ext>
                  </a:extLst>
                </a:gridCol>
                <a:gridCol w="1182461">
                  <a:extLst>
                    <a:ext uri="{9D8B030D-6E8A-4147-A177-3AD203B41FA5}">
                      <a16:colId xmlns:a16="http://schemas.microsoft.com/office/drawing/2014/main" val="352656883"/>
                    </a:ext>
                  </a:extLst>
                </a:gridCol>
                <a:gridCol w="1182461">
                  <a:extLst>
                    <a:ext uri="{9D8B030D-6E8A-4147-A177-3AD203B41FA5}">
                      <a16:colId xmlns:a16="http://schemas.microsoft.com/office/drawing/2014/main" val="815890804"/>
                    </a:ext>
                  </a:extLst>
                </a:gridCol>
                <a:gridCol w="1182461">
                  <a:extLst>
                    <a:ext uri="{9D8B030D-6E8A-4147-A177-3AD203B41FA5}">
                      <a16:colId xmlns:a16="http://schemas.microsoft.com/office/drawing/2014/main" val="2612488070"/>
                    </a:ext>
                  </a:extLst>
                </a:gridCol>
                <a:gridCol w="1182461">
                  <a:extLst>
                    <a:ext uri="{9D8B030D-6E8A-4147-A177-3AD203B41FA5}">
                      <a16:colId xmlns:a16="http://schemas.microsoft.com/office/drawing/2014/main" val="1514255661"/>
                    </a:ext>
                  </a:extLst>
                </a:gridCol>
                <a:gridCol w="1182461">
                  <a:extLst>
                    <a:ext uri="{9D8B030D-6E8A-4147-A177-3AD203B41FA5}">
                      <a16:colId xmlns:a16="http://schemas.microsoft.com/office/drawing/2014/main" val="3231334066"/>
                    </a:ext>
                  </a:extLst>
                </a:gridCol>
                <a:gridCol w="1182461">
                  <a:extLst>
                    <a:ext uri="{9D8B030D-6E8A-4147-A177-3AD203B41FA5}">
                      <a16:colId xmlns:a16="http://schemas.microsoft.com/office/drawing/2014/main" val="66298670"/>
                    </a:ext>
                  </a:extLst>
                </a:gridCol>
                <a:gridCol w="1182461">
                  <a:extLst>
                    <a:ext uri="{9D8B030D-6E8A-4147-A177-3AD203B41FA5}">
                      <a16:colId xmlns:a16="http://schemas.microsoft.com/office/drawing/2014/main" val="1851926903"/>
                    </a:ext>
                  </a:extLst>
                </a:gridCol>
              </a:tblGrid>
              <a:tr h="257175">
                <a:tc>
                  <a:txBody>
                    <a:bodyPr/>
                    <a:lstStyle/>
                    <a:p>
                      <a:pPr algn="l" fontAlgn="t"/>
                      <a:r>
                        <a:rPr lang="en-NA" sz="1600" b="1" u="none" strike="noStrike" dirty="0">
                          <a:effectLst/>
                        </a:rPr>
                        <a:t> </a:t>
                      </a:r>
                      <a:endParaRPr lang="en-NA" sz="1600" b="1"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GB" sz="1600" b="1" u="none" strike="noStrike" dirty="0" err="1">
                          <a:effectLst/>
                        </a:rPr>
                        <a:t>Wheat_gcd_sum</a:t>
                      </a:r>
                      <a:endParaRPr lang="en-GB" sz="1600" b="1"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GB" sz="1600" b="1" u="none" strike="noStrike" dirty="0" err="1">
                          <a:effectLst/>
                        </a:rPr>
                        <a:t>Maize_gcd_sum</a:t>
                      </a:r>
                      <a:endParaRPr lang="en-GB" sz="1600" b="1"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GB" sz="1600" b="1" u="none" strike="noStrike" dirty="0" err="1">
                          <a:effectLst/>
                        </a:rPr>
                        <a:t>Mahangu_gcd_sum</a:t>
                      </a:r>
                      <a:endParaRPr lang="en-GB" sz="1600" b="1"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GB" sz="1600" b="1" u="none" strike="noStrike" dirty="0" err="1">
                          <a:solidFill>
                            <a:schemeClr val="tx1"/>
                          </a:solidFill>
                          <a:effectLst/>
                        </a:rPr>
                        <a:t>Salt_gcd_sum</a:t>
                      </a:r>
                      <a:endParaRPr lang="en-GB" sz="1600" b="1"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GB" sz="1600" b="1" i="0" u="none" strike="noStrike" dirty="0" err="1">
                          <a:solidFill>
                            <a:schemeClr val="tx1"/>
                          </a:solidFill>
                          <a:effectLst/>
                          <a:latin typeface="+mn-lt"/>
                        </a:rPr>
                        <a:t>Salt_gcd_direct</a:t>
                      </a:r>
                      <a:r>
                        <a:rPr lang="en-GB" sz="1600" b="1" i="0" u="none" strike="noStrike" dirty="0">
                          <a:solidFill>
                            <a:schemeClr val="tx1"/>
                          </a:solidFill>
                          <a:effectLst/>
                          <a:latin typeface="+mn-lt"/>
                        </a:rPr>
                        <a:t> only</a:t>
                      </a:r>
                      <a:r>
                        <a:rPr lang="en-GB" sz="1600" b="1" i="0" u="none" strike="noStrike" baseline="30000" dirty="0">
                          <a:solidFill>
                            <a:schemeClr val="tx1"/>
                          </a:solidFill>
                          <a:effectLst/>
                          <a:latin typeface="+mn-lt"/>
                        </a:rPr>
                        <a:t>1</a:t>
                      </a:r>
                    </a:p>
                  </a:txBody>
                  <a:tcPr marL="9525" marR="9525" marT="9525" marB="0"/>
                </a:tc>
                <a:tc>
                  <a:txBody>
                    <a:bodyPr/>
                    <a:lstStyle/>
                    <a:p>
                      <a:pPr algn="ctr" fontAlgn="t"/>
                      <a:r>
                        <a:rPr lang="en-GB" sz="1600" b="1" u="none" strike="noStrike" dirty="0" err="1">
                          <a:effectLst/>
                        </a:rPr>
                        <a:t>Milk_gcd_sum</a:t>
                      </a:r>
                      <a:endParaRPr lang="en-GB" sz="1600" b="1"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GB" sz="1600" b="1" u="none" strike="noStrike" dirty="0" err="1">
                          <a:effectLst/>
                        </a:rPr>
                        <a:t>Oil_gcd_sum</a:t>
                      </a:r>
                      <a:endParaRPr lang="en-GB" sz="1600" b="1"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GB" sz="1600" b="1" u="none" strike="noStrike" dirty="0" err="1">
                          <a:effectLst/>
                        </a:rPr>
                        <a:t>Sugar_gcd_sum</a:t>
                      </a:r>
                      <a:endParaRPr lang="en-GB" sz="1600" b="1" i="0" u="none" strike="noStrike" dirty="0">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1122013189"/>
                  </a:ext>
                </a:extLst>
              </a:tr>
              <a:tr h="257175">
                <a:tc>
                  <a:txBody>
                    <a:bodyPr/>
                    <a:lstStyle/>
                    <a:p>
                      <a:pPr algn="l" fontAlgn="t"/>
                      <a:r>
                        <a:rPr lang="en-GB" sz="1600" u="none" strike="noStrike">
                          <a:effectLst/>
                        </a:rPr>
                        <a:t>!Karas</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227.37</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147.89</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30.48</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7.49</a:t>
                      </a:r>
                    </a:p>
                  </a:txBody>
                  <a:tcPr marL="9525" marR="9525" marT="9525" marB="0"/>
                </a:tc>
                <a:tc>
                  <a:txBody>
                    <a:bodyPr/>
                    <a:lstStyle/>
                    <a:p>
                      <a:pPr algn="ctr" fontAlgn="t"/>
                      <a:r>
                        <a:rPr lang="en-NA" sz="1600" u="none" strike="noStrike" dirty="0">
                          <a:effectLst/>
                        </a:rPr>
                        <a:t>29.7</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5.33</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12.6</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419066628"/>
                  </a:ext>
                </a:extLst>
              </a:tr>
              <a:tr h="254000">
                <a:tc>
                  <a:txBody>
                    <a:bodyPr/>
                    <a:lstStyle/>
                    <a:p>
                      <a:pPr algn="l" fontAlgn="t"/>
                      <a:r>
                        <a:rPr lang="en-GB" sz="1600" u="none" strike="noStrike">
                          <a:effectLst/>
                        </a:rPr>
                        <a:t>Erongo</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292.32</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75.20</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42.75</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5.53</a:t>
                      </a:r>
                    </a:p>
                  </a:txBody>
                  <a:tcPr marL="9525" marR="9525" marT="9525" marB="0"/>
                </a:tc>
                <a:tc>
                  <a:txBody>
                    <a:bodyPr/>
                    <a:lstStyle/>
                    <a:p>
                      <a:pPr algn="ctr" fontAlgn="t"/>
                      <a:r>
                        <a:rPr lang="en-NA" sz="1600" u="none" strike="noStrike" dirty="0">
                          <a:effectLst/>
                        </a:rPr>
                        <a:t>23.06</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7.43</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10.29</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1879595268"/>
                  </a:ext>
                </a:extLst>
              </a:tr>
              <a:tr h="254000">
                <a:tc>
                  <a:txBody>
                    <a:bodyPr/>
                    <a:lstStyle/>
                    <a:p>
                      <a:pPr algn="l" fontAlgn="t"/>
                      <a:r>
                        <a:rPr lang="en-GB" sz="1600" u="none" strike="noStrike">
                          <a:effectLst/>
                        </a:rPr>
                        <a:t>Hardap</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253.21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84.47</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4.36</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6.39</a:t>
                      </a:r>
                    </a:p>
                  </a:txBody>
                  <a:tcPr marL="9525" marR="9525" marT="9525" marB="0"/>
                </a:tc>
                <a:tc>
                  <a:txBody>
                    <a:bodyPr/>
                    <a:lstStyle/>
                    <a:p>
                      <a:pPr algn="ctr" fontAlgn="t"/>
                      <a:r>
                        <a:rPr lang="en-NA" sz="1600" u="none" strike="noStrike" dirty="0">
                          <a:effectLst/>
                        </a:rPr>
                        <a:t>32.7</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4.01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18.29</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1725369375"/>
                  </a:ext>
                </a:extLst>
              </a:tr>
              <a:tr h="254000">
                <a:tc>
                  <a:txBody>
                    <a:bodyPr/>
                    <a:lstStyle/>
                    <a:p>
                      <a:pPr algn="l" fontAlgn="t"/>
                      <a:r>
                        <a:rPr lang="en-GB" sz="1600" u="none" strike="noStrike">
                          <a:effectLst/>
                        </a:rPr>
                        <a:t>Kavango East</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58.31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179.28</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92.38</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2.79</a:t>
                      </a:r>
                    </a:p>
                  </a:txBody>
                  <a:tcPr marL="9525" marR="9525" marT="9525" marB="0"/>
                </a:tc>
                <a:tc>
                  <a:txBody>
                    <a:bodyPr/>
                    <a:lstStyle/>
                    <a:p>
                      <a:pPr algn="ctr" fontAlgn="t"/>
                      <a:r>
                        <a:rPr lang="en-NA" sz="1600" u="none" strike="noStrike">
                          <a:effectLst/>
                        </a:rPr>
                        <a:t>6.88</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5.45</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3.48</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800546525"/>
                  </a:ext>
                </a:extLst>
              </a:tr>
              <a:tr h="254000">
                <a:tc>
                  <a:txBody>
                    <a:bodyPr/>
                    <a:lstStyle/>
                    <a:p>
                      <a:pPr algn="l" fontAlgn="t"/>
                      <a:r>
                        <a:rPr lang="en-GB" sz="1600" u="none" strike="noStrike">
                          <a:effectLst/>
                        </a:rPr>
                        <a:t>Kavango West</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30.28</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220.54</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361.81</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3.04</a:t>
                      </a:r>
                    </a:p>
                  </a:txBody>
                  <a:tcPr marL="9525" marR="9525" marT="9525" marB="0"/>
                </a:tc>
                <a:tc>
                  <a:txBody>
                    <a:bodyPr/>
                    <a:lstStyle/>
                    <a:p>
                      <a:pPr algn="ctr" fontAlgn="t"/>
                      <a:r>
                        <a:rPr lang="en-NA" sz="1600" u="none" strike="noStrike">
                          <a:effectLst/>
                        </a:rPr>
                        <a:t>4.72</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4.43</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2.6</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504974205"/>
                  </a:ext>
                </a:extLst>
              </a:tr>
              <a:tr h="254000">
                <a:tc>
                  <a:txBody>
                    <a:bodyPr/>
                    <a:lstStyle/>
                    <a:p>
                      <a:pPr algn="l" fontAlgn="t"/>
                      <a:r>
                        <a:rPr lang="en-GB" sz="1600" u="none" strike="noStrike">
                          <a:effectLst/>
                        </a:rPr>
                        <a:t>Khomas</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208.67</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67.09</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46.24</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6.58</a:t>
                      </a:r>
                    </a:p>
                  </a:txBody>
                  <a:tcPr marL="9525" marR="9525" marT="9525" marB="0"/>
                </a:tc>
                <a:tc>
                  <a:txBody>
                    <a:bodyPr/>
                    <a:lstStyle/>
                    <a:p>
                      <a:pPr algn="ctr" fontAlgn="t"/>
                      <a:r>
                        <a:rPr lang="en-NA" sz="1600" u="none" strike="noStrike">
                          <a:effectLst/>
                        </a:rPr>
                        <a:t>22.25</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5.85</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6.92</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1676146302"/>
                  </a:ext>
                </a:extLst>
              </a:tr>
              <a:tr h="254000">
                <a:tc>
                  <a:txBody>
                    <a:bodyPr/>
                    <a:lstStyle/>
                    <a:p>
                      <a:pPr algn="l" fontAlgn="t"/>
                      <a:r>
                        <a:rPr lang="en-GB" sz="1600" u="none" strike="noStrike">
                          <a:effectLst/>
                        </a:rPr>
                        <a:t>Kunene</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76.10</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263.98</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16.21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7.13</a:t>
                      </a:r>
                    </a:p>
                  </a:txBody>
                  <a:tcPr marL="9525" marR="9525" marT="9525" marB="0"/>
                </a:tc>
                <a:tc>
                  <a:txBody>
                    <a:bodyPr/>
                    <a:lstStyle/>
                    <a:p>
                      <a:pPr algn="ctr" fontAlgn="t"/>
                      <a:r>
                        <a:rPr lang="en-NA" sz="1600" u="none" strike="noStrike">
                          <a:effectLst/>
                        </a:rPr>
                        <a:t>16.18</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6.65</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14.24</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329180092"/>
                  </a:ext>
                </a:extLst>
              </a:tr>
              <a:tr h="254000">
                <a:tc>
                  <a:txBody>
                    <a:bodyPr/>
                    <a:lstStyle/>
                    <a:p>
                      <a:pPr algn="l" fontAlgn="t"/>
                      <a:r>
                        <a:rPr lang="en-GB" sz="1600" u="none" strike="noStrike">
                          <a:effectLst/>
                        </a:rPr>
                        <a:t>Ohangwena</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57.31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145.20</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306.19</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4.37</a:t>
                      </a:r>
                    </a:p>
                  </a:txBody>
                  <a:tcPr marL="9525" marR="9525" marT="9525" marB="0"/>
                </a:tc>
                <a:tc>
                  <a:txBody>
                    <a:bodyPr/>
                    <a:lstStyle/>
                    <a:p>
                      <a:pPr algn="ctr" fontAlgn="t"/>
                      <a:r>
                        <a:rPr lang="en-NA" sz="1600" u="none" strike="noStrike">
                          <a:effectLst/>
                        </a:rPr>
                        <a:t>4.28</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9.14</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5.67</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572725533"/>
                  </a:ext>
                </a:extLst>
              </a:tr>
              <a:tr h="254000">
                <a:tc>
                  <a:txBody>
                    <a:bodyPr/>
                    <a:lstStyle/>
                    <a:p>
                      <a:pPr algn="l" fontAlgn="t"/>
                      <a:r>
                        <a:rPr lang="en-GB" sz="1600" u="none" strike="noStrike">
                          <a:effectLst/>
                        </a:rPr>
                        <a:t>Omaheke</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112.90</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124.59</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11.88</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5.92</a:t>
                      </a:r>
                    </a:p>
                  </a:txBody>
                  <a:tcPr marL="9525" marR="9525" marT="9525" marB="0"/>
                </a:tc>
                <a:tc>
                  <a:txBody>
                    <a:bodyPr/>
                    <a:lstStyle/>
                    <a:p>
                      <a:pPr algn="ctr" fontAlgn="t"/>
                      <a:r>
                        <a:rPr lang="en-NA" sz="1600" u="none" strike="noStrike" dirty="0">
                          <a:effectLst/>
                        </a:rPr>
                        <a:t>17.94</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4.32</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22.42</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743375264"/>
                  </a:ext>
                </a:extLst>
              </a:tr>
              <a:tr h="254000">
                <a:tc>
                  <a:txBody>
                    <a:bodyPr/>
                    <a:lstStyle/>
                    <a:p>
                      <a:pPr algn="l" fontAlgn="t"/>
                      <a:r>
                        <a:rPr lang="en-GB" sz="1600" u="none" strike="noStrike">
                          <a:effectLst/>
                        </a:rPr>
                        <a:t>Omusati</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88.06</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126.54</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357.04</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4.68</a:t>
                      </a:r>
                    </a:p>
                  </a:txBody>
                  <a:tcPr marL="9525" marR="9525" marT="9525" marB="0"/>
                </a:tc>
                <a:tc>
                  <a:txBody>
                    <a:bodyPr/>
                    <a:lstStyle/>
                    <a:p>
                      <a:pPr algn="ctr" fontAlgn="t"/>
                      <a:r>
                        <a:rPr lang="en-NA" sz="1600" u="none" strike="noStrike" dirty="0">
                          <a:effectLst/>
                        </a:rPr>
                        <a:t>5.13</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7.41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5.36</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817941817"/>
                  </a:ext>
                </a:extLst>
              </a:tr>
              <a:tr h="254000">
                <a:tc>
                  <a:txBody>
                    <a:bodyPr/>
                    <a:lstStyle/>
                    <a:p>
                      <a:pPr algn="l" fontAlgn="t"/>
                      <a:r>
                        <a:rPr lang="en-GB" sz="1600" u="none" strike="noStrike">
                          <a:effectLst/>
                        </a:rPr>
                        <a:t>Oshana</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153.10</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73.81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353.27</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6.00</a:t>
                      </a:r>
                    </a:p>
                  </a:txBody>
                  <a:tcPr marL="9525" marR="9525" marT="9525" marB="0"/>
                </a:tc>
                <a:tc>
                  <a:txBody>
                    <a:bodyPr/>
                    <a:lstStyle/>
                    <a:p>
                      <a:pPr algn="ctr" fontAlgn="t"/>
                      <a:r>
                        <a:rPr lang="en-NA" sz="1600" u="none" strike="noStrike" dirty="0">
                          <a:effectLst/>
                        </a:rPr>
                        <a:t>13.95</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7.65</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7.71</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4251991332"/>
                  </a:ext>
                </a:extLst>
              </a:tr>
              <a:tr h="254000">
                <a:tc>
                  <a:txBody>
                    <a:bodyPr/>
                    <a:lstStyle/>
                    <a:p>
                      <a:pPr algn="l" fontAlgn="t"/>
                      <a:r>
                        <a:rPr lang="en-GB" sz="1600" u="none" strike="noStrike">
                          <a:effectLst/>
                        </a:rPr>
                        <a:t>Oshikoto</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79.49</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111.51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452.76</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5.58</a:t>
                      </a:r>
                    </a:p>
                  </a:txBody>
                  <a:tcPr marL="9525" marR="9525" marT="9525" marB="0"/>
                </a:tc>
                <a:tc>
                  <a:txBody>
                    <a:bodyPr/>
                    <a:lstStyle/>
                    <a:p>
                      <a:pPr algn="ctr" fontAlgn="t"/>
                      <a:r>
                        <a:rPr lang="en-NA" sz="1600" u="none" strike="noStrike" dirty="0">
                          <a:effectLst/>
                        </a:rPr>
                        <a:t>6.85</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7.74</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7.42</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85625898"/>
                  </a:ext>
                </a:extLst>
              </a:tr>
              <a:tr h="254000">
                <a:tc>
                  <a:txBody>
                    <a:bodyPr/>
                    <a:lstStyle/>
                    <a:p>
                      <a:pPr algn="l" fontAlgn="t"/>
                      <a:r>
                        <a:rPr lang="en-GB" sz="1600" u="none" strike="noStrike">
                          <a:effectLst/>
                        </a:rPr>
                        <a:t>Otjozondjupa</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194.95</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134.31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39.42</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mn-lt"/>
                      </a:endParaRPr>
                    </a:p>
                  </a:txBody>
                  <a:tcPr marL="9525" marR="9525" marT="9525" marB="0"/>
                </a:tc>
                <a:tc>
                  <a:txBody>
                    <a:bodyPr/>
                    <a:lstStyle/>
                    <a:p>
                      <a:pPr algn="ctr" fontAlgn="t"/>
                      <a:r>
                        <a:rPr lang="en-NA" sz="1600" b="0" i="0" u="none" strike="noStrike" dirty="0">
                          <a:solidFill>
                            <a:schemeClr val="tx1"/>
                          </a:solidFill>
                          <a:effectLst/>
                          <a:latin typeface="+mn-lt"/>
                        </a:rPr>
                        <a:t>7.28</a:t>
                      </a:r>
                    </a:p>
                  </a:txBody>
                  <a:tcPr marL="9525" marR="9525" marT="9525" marB="0"/>
                </a:tc>
                <a:tc>
                  <a:txBody>
                    <a:bodyPr/>
                    <a:lstStyle/>
                    <a:p>
                      <a:pPr algn="ctr" fontAlgn="t"/>
                      <a:r>
                        <a:rPr lang="en-NA" sz="1600" u="none" strike="noStrike" dirty="0">
                          <a:effectLst/>
                        </a:rPr>
                        <a:t>24.73</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4.24</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18.41</a:t>
                      </a:r>
                      <a:endParaRPr lang="en-NA" sz="16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130686525"/>
                  </a:ext>
                </a:extLst>
              </a:tr>
              <a:tr h="254000">
                <a:tc>
                  <a:txBody>
                    <a:bodyPr/>
                    <a:lstStyle/>
                    <a:p>
                      <a:pPr algn="l" fontAlgn="t"/>
                      <a:r>
                        <a:rPr lang="en-GB" sz="1600" u="none" strike="noStrike">
                          <a:effectLst/>
                        </a:rPr>
                        <a:t>Zambezi</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59.73</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337.88</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13.50</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endParaRPr lang="en-NA" sz="1600" b="0" i="0" u="none" strike="noStrike" dirty="0">
                        <a:solidFill>
                          <a:schemeClr val="tx1"/>
                        </a:solidFill>
                        <a:effectLst/>
                        <a:latin typeface="+mn-lt"/>
                      </a:endParaRPr>
                    </a:p>
                  </a:txBody>
                  <a:tcPr marL="9525" marR="9525" marT="9525" marB="0"/>
                </a:tc>
                <a:tc>
                  <a:txBody>
                    <a:bodyPr/>
                    <a:lstStyle/>
                    <a:p>
                      <a:pPr algn="ctr" fontAlgn="t"/>
                      <a:r>
                        <a:rPr lang="en-NA" sz="1600" b="0" i="0" u="none" strike="noStrike" dirty="0">
                          <a:solidFill>
                            <a:schemeClr val="tx1"/>
                          </a:solidFill>
                          <a:effectLst/>
                          <a:latin typeface="+mn-lt"/>
                        </a:rPr>
                        <a:t>4.60</a:t>
                      </a:r>
                    </a:p>
                  </a:txBody>
                  <a:tcPr marL="9525" marR="9525" marT="9525" marB="0"/>
                </a:tc>
                <a:tc>
                  <a:txBody>
                    <a:bodyPr/>
                    <a:lstStyle/>
                    <a:p>
                      <a:pPr algn="ctr" fontAlgn="t"/>
                      <a:r>
                        <a:rPr lang="en-NA" sz="1600" u="none" strike="noStrike">
                          <a:effectLst/>
                        </a:rPr>
                        <a:t>20.46</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8.85</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7.71</a:t>
                      </a:r>
                      <a:endParaRPr lang="en-NA" sz="1600" b="0" i="0" u="none" strike="noStrike" dirty="0">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095561590"/>
                  </a:ext>
                </a:extLst>
              </a:tr>
              <a:tr h="254000">
                <a:tc>
                  <a:txBody>
                    <a:bodyPr/>
                    <a:lstStyle/>
                    <a:p>
                      <a:pPr algn="l" fontAlgn="t"/>
                      <a:r>
                        <a:rPr lang="en-GB" sz="1600" u="none" strike="noStrike">
                          <a:effectLst/>
                        </a:rPr>
                        <a:t>Total</a:t>
                      </a:r>
                      <a:endParaRPr lang="en-GB" sz="1600" b="1"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138.51</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130.76</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a:effectLst/>
                        </a:rPr>
                        <a:t>178.72</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b="0" i="0" u="none" strike="noStrike" dirty="0">
                          <a:solidFill>
                            <a:schemeClr val="tx1"/>
                          </a:solidFill>
                          <a:effectLst/>
                          <a:latin typeface="+mn-lt"/>
                        </a:rPr>
                        <a:t>9.0</a:t>
                      </a:r>
                    </a:p>
                  </a:txBody>
                  <a:tcPr marL="9525" marR="9525" marT="9525" marB="0"/>
                </a:tc>
                <a:tc>
                  <a:txBody>
                    <a:bodyPr/>
                    <a:lstStyle/>
                    <a:p>
                      <a:pPr algn="ctr" fontAlgn="t"/>
                      <a:r>
                        <a:rPr lang="en-NA" sz="1600" b="0" i="0" u="none" strike="noStrike" dirty="0">
                          <a:solidFill>
                            <a:schemeClr val="tx1"/>
                          </a:solidFill>
                          <a:effectLst/>
                          <a:latin typeface="+mn-lt"/>
                        </a:rPr>
                        <a:t>5.4</a:t>
                      </a:r>
                    </a:p>
                  </a:txBody>
                  <a:tcPr marL="9525" marR="9525" marT="9525" marB="0"/>
                </a:tc>
                <a:tc>
                  <a:txBody>
                    <a:bodyPr/>
                    <a:lstStyle/>
                    <a:p>
                      <a:pPr algn="ctr" fontAlgn="t"/>
                      <a:r>
                        <a:rPr lang="en-NA" sz="1600" u="none" strike="noStrike">
                          <a:effectLst/>
                        </a:rPr>
                        <a:t>15.07</a:t>
                      </a:r>
                      <a:endParaRPr lang="en-NA" sz="1600" b="0" i="0" u="none" strike="noStrike">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6.66</a:t>
                      </a:r>
                      <a:endParaRPr lang="en-NA" sz="1600" b="0" i="0" u="none" strike="noStrike" dirty="0">
                        <a:solidFill>
                          <a:srgbClr val="000000"/>
                        </a:solidFill>
                        <a:effectLst/>
                        <a:latin typeface="Helvetica Neue" panose="02000503000000020004" pitchFamily="2" charset="0"/>
                      </a:endParaRPr>
                    </a:p>
                  </a:txBody>
                  <a:tcPr marL="9525" marR="9525" marT="9525" marB="0"/>
                </a:tc>
                <a:tc>
                  <a:txBody>
                    <a:bodyPr/>
                    <a:lstStyle/>
                    <a:p>
                      <a:pPr algn="ctr" fontAlgn="t"/>
                      <a:r>
                        <a:rPr lang="en-NA" sz="1600" u="none" strike="noStrike" dirty="0">
                          <a:effectLst/>
                        </a:rPr>
                        <a:t>8.82</a:t>
                      </a:r>
                      <a:endParaRPr lang="en-NA" sz="1600" b="0" i="0" u="none" strike="noStrike" dirty="0">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161971516"/>
                  </a:ext>
                </a:extLst>
              </a:tr>
            </a:tbl>
          </a:graphicData>
        </a:graphic>
      </p:graphicFrame>
      <p:sp>
        <p:nvSpPr>
          <p:cNvPr id="6" name="TextBox 5">
            <a:extLst>
              <a:ext uri="{FF2B5EF4-FFF2-40B4-BE49-F238E27FC236}">
                <a16:creationId xmlns:a16="http://schemas.microsoft.com/office/drawing/2014/main" id="{0A4D3BBB-9910-DF4A-BB63-D0C12C4CDA29}"/>
              </a:ext>
            </a:extLst>
          </p:cNvPr>
          <p:cNvSpPr txBox="1"/>
          <p:nvPr/>
        </p:nvSpPr>
        <p:spPr>
          <a:xfrm>
            <a:off x="838200" y="6074229"/>
            <a:ext cx="10515600" cy="646331"/>
          </a:xfrm>
          <a:prstGeom prst="rect">
            <a:avLst/>
          </a:prstGeom>
          <a:noFill/>
        </p:spPr>
        <p:txBody>
          <a:bodyPr wrap="square" rtlCol="0">
            <a:spAutoFit/>
          </a:bodyPr>
          <a:lstStyle/>
          <a:p>
            <a:r>
              <a:rPr lang="en-NA" baseline="30000" dirty="0"/>
              <a:t>1</a:t>
            </a:r>
            <a:r>
              <a:rPr lang="en-NA" dirty="0"/>
              <a:t> See Task 7 for explaination of methodolgy to estimate consumption of household salt (direct/discretionary consumption)</a:t>
            </a:r>
          </a:p>
        </p:txBody>
      </p:sp>
    </p:spTree>
    <p:extLst>
      <p:ext uri="{BB962C8B-B14F-4D97-AF65-F5344CB8AC3E}">
        <p14:creationId xmlns:p14="http://schemas.microsoft.com/office/powerpoint/2010/main" val="377220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5144F-BBE1-4BFD-9417-852AD13B9FB1}"/>
              </a:ext>
            </a:extLst>
          </p:cNvPr>
          <p:cNvSpPr>
            <a:spLocks noGrp="1"/>
          </p:cNvSpPr>
          <p:nvPr>
            <p:ph type="title"/>
          </p:nvPr>
        </p:nvSpPr>
        <p:spPr/>
        <p:txBody>
          <a:bodyPr/>
          <a:lstStyle/>
          <a:p>
            <a:r>
              <a:rPr lang="en-US" dirty="0">
                <a:latin typeface="Tw Cen MT" panose="020B0602020104020603" pitchFamily="34" charset="0"/>
              </a:rPr>
              <a:t>Task 3: Key Findings/Results</a:t>
            </a:r>
          </a:p>
        </p:txBody>
      </p:sp>
      <p:sp>
        <p:nvSpPr>
          <p:cNvPr id="3" name="Content Placeholder 2">
            <a:extLst>
              <a:ext uri="{FF2B5EF4-FFF2-40B4-BE49-F238E27FC236}">
                <a16:creationId xmlns:a16="http://schemas.microsoft.com/office/drawing/2014/main" id="{C3B1CC37-9CF5-4D90-B347-DA54CC611B24}"/>
              </a:ext>
            </a:extLst>
          </p:cNvPr>
          <p:cNvSpPr>
            <a:spLocks noGrp="1"/>
          </p:cNvSpPr>
          <p:nvPr>
            <p:ph idx="1"/>
          </p:nvPr>
        </p:nvSpPr>
        <p:spPr>
          <a:xfrm>
            <a:off x="838200" y="1825625"/>
            <a:ext cx="3635829" cy="4667250"/>
          </a:xfrm>
        </p:spPr>
        <p:txBody>
          <a:bodyPr>
            <a:normAutofit/>
          </a:bodyPr>
          <a:lstStyle/>
          <a:p>
            <a:r>
              <a:rPr lang="en-US" sz="2400" dirty="0">
                <a:latin typeface="+mj-lt"/>
              </a:rPr>
              <a:t>Overall consumption (g/c/d) of the main cereals (maize, </a:t>
            </a:r>
            <a:r>
              <a:rPr lang="en-US" sz="2400" dirty="0" err="1">
                <a:latin typeface="+mj-lt"/>
              </a:rPr>
              <a:t>mahangu</a:t>
            </a:r>
            <a:r>
              <a:rPr lang="en-US" sz="2400" dirty="0">
                <a:latin typeface="+mj-lt"/>
              </a:rPr>
              <a:t> and wheat) was roughly consistent with the general production and consumption patterns observed from the DRB for Tasks 1 and 2.</a:t>
            </a:r>
          </a:p>
        </p:txBody>
      </p:sp>
      <p:pic>
        <p:nvPicPr>
          <p:cNvPr id="7" name="Picture 6" descr="Chart, bar chart&#10;&#10;Description automatically generated">
            <a:extLst>
              <a:ext uri="{FF2B5EF4-FFF2-40B4-BE49-F238E27FC236}">
                <a16:creationId xmlns:a16="http://schemas.microsoft.com/office/drawing/2014/main" id="{1EA37052-95C9-4E30-97B3-F094F6527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8516" y="1690688"/>
            <a:ext cx="7305901" cy="4383541"/>
          </a:xfrm>
          <a:prstGeom prst="rect">
            <a:avLst/>
          </a:prstGeom>
        </p:spPr>
      </p:pic>
    </p:spTree>
    <p:extLst>
      <p:ext uri="{BB962C8B-B14F-4D97-AF65-F5344CB8AC3E}">
        <p14:creationId xmlns:p14="http://schemas.microsoft.com/office/powerpoint/2010/main" val="2980625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4F119-313F-4DA3-8FBA-66D7DA17F026}"/>
              </a:ext>
            </a:extLst>
          </p:cNvPr>
          <p:cNvSpPr>
            <a:spLocks noGrp="1"/>
          </p:cNvSpPr>
          <p:nvPr>
            <p:ph type="title"/>
          </p:nvPr>
        </p:nvSpPr>
        <p:spPr/>
        <p:txBody>
          <a:bodyPr/>
          <a:lstStyle/>
          <a:p>
            <a:r>
              <a:rPr lang="en-US" dirty="0">
                <a:latin typeface="Tw Cen MT" panose="020B0602020104020603" pitchFamily="34" charset="0"/>
              </a:rPr>
              <a:t>Task 4</a:t>
            </a:r>
          </a:p>
        </p:txBody>
      </p:sp>
      <p:sp>
        <p:nvSpPr>
          <p:cNvPr id="3" name="Content Placeholder 2">
            <a:extLst>
              <a:ext uri="{FF2B5EF4-FFF2-40B4-BE49-F238E27FC236}">
                <a16:creationId xmlns:a16="http://schemas.microsoft.com/office/drawing/2014/main" id="{CD77F1B7-7F51-4C9F-8F09-BEF1E33FF7EA}"/>
              </a:ext>
            </a:extLst>
          </p:cNvPr>
          <p:cNvSpPr>
            <a:spLocks noGrp="1"/>
          </p:cNvSpPr>
          <p:nvPr>
            <p:ph idx="1"/>
          </p:nvPr>
        </p:nvSpPr>
        <p:spPr/>
        <p:txBody>
          <a:bodyPr>
            <a:normAutofit/>
          </a:bodyPr>
          <a:lstStyle/>
          <a:p>
            <a:pPr marL="0" indent="0">
              <a:buNone/>
            </a:pPr>
            <a:r>
              <a:rPr lang="en-US" i="1" dirty="0">
                <a:latin typeface="+mj-lt"/>
              </a:rPr>
              <a:t>Coordinate the integration of micronutrient values to enable FAO </a:t>
            </a:r>
            <a:r>
              <a:rPr lang="en-US" i="1" dirty="0" err="1">
                <a:latin typeface="+mj-lt"/>
              </a:rPr>
              <a:t>ADePT</a:t>
            </a:r>
            <a:r>
              <a:rPr lang="en-US" i="1" dirty="0">
                <a:latin typeface="+mj-lt"/>
              </a:rPr>
              <a:t> team to analyze micronutrient intake with breakdown by national, urban/rural, regions, ethno-linguistic group. This will involve reviewing the food matching, applying the most appropriate FCT for each food …</a:t>
            </a:r>
          </a:p>
        </p:txBody>
      </p:sp>
    </p:spTree>
    <p:extLst>
      <p:ext uri="{BB962C8B-B14F-4D97-AF65-F5344CB8AC3E}">
        <p14:creationId xmlns:p14="http://schemas.microsoft.com/office/powerpoint/2010/main" val="3037828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82CD6-DAFF-480B-A3DE-FAC4048C112C}"/>
              </a:ext>
            </a:extLst>
          </p:cNvPr>
          <p:cNvSpPr>
            <a:spLocks noGrp="1"/>
          </p:cNvSpPr>
          <p:nvPr>
            <p:ph type="title"/>
          </p:nvPr>
        </p:nvSpPr>
        <p:spPr/>
        <p:txBody>
          <a:bodyPr/>
          <a:lstStyle/>
          <a:p>
            <a:r>
              <a:rPr lang="en-US" dirty="0">
                <a:latin typeface="Tw Cen MT" panose="020B0602020104020603" pitchFamily="34" charset="0"/>
              </a:rPr>
              <a:t>Task 4: Methodology</a:t>
            </a:r>
          </a:p>
        </p:txBody>
      </p:sp>
      <p:sp>
        <p:nvSpPr>
          <p:cNvPr id="3" name="Content Placeholder 2">
            <a:extLst>
              <a:ext uri="{FF2B5EF4-FFF2-40B4-BE49-F238E27FC236}">
                <a16:creationId xmlns:a16="http://schemas.microsoft.com/office/drawing/2014/main" id="{D97FCDE7-22C3-4919-92BE-7117C52D6CB6}"/>
              </a:ext>
            </a:extLst>
          </p:cNvPr>
          <p:cNvSpPr>
            <a:spLocks noGrp="1"/>
          </p:cNvSpPr>
          <p:nvPr>
            <p:ph idx="1"/>
          </p:nvPr>
        </p:nvSpPr>
        <p:spPr/>
        <p:txBody>
          <a:bodyPr>
            <a:noAutofit/>
          </a:bodyPr>
          <a:lstStyle/>
          <a:p>
            <a:pPr marL="274320">
              <a:lnSpc>
                <a:spcPct val="100000"/>
              </a:lnSpc>
              <a:spcBef>
                <a:spcPts val="1200"/>
              </a:spcBef>
              <a:spcAft>
                <a:spcPts val="1200"/>
              </a:spcAft>
              <a:buFont typeface="Wingdings" panose="05000000000000000000" pitchFamily="2" charset="2"/>
              <a:buChar char="§"/>
            </a:pPr>
            <a:r>
              <a:rPr lang="en-US" sz="2000" b="1" dirty="0">
                <a:latin typeface="+mj-lt"/>
              </a:rPr>
              <a:t>Data Sources</a:t>
            </a:r>
            <a:r>
              <a:rPr lang="en-US" sz="2000" dirty="0">
                <a:latin typeface="+mj-lt"/>
              </a:rPr>
              <a:t>: </a:t>
            </a:r>
            <a:r>
              <a:rPr lang="en-US" sz="2000" b="0" kern="1200" dirty="0">
                <a:solidFill>
                  <a:schemeClr val="tx1"/>
                </a:solidFill>
                <a:latin typeface="+mj-lt"/>
                <a:ea typeface="+mn-ea"/>
                <a:cs typeface="+mn-cs"/>
              </a:rPr>
              <a:t>FAO </a:t>
            </a:r>
            <a:r>
              <a:rPr lang="en-US" sz="2000" b="0" kern="1200" dirty="0" err="1">
                <a:solidFill>
                  <a:schemeClr val="tx1"/>
                </a:solidFill>
                <a:latin typeface="+mj-lt"/>
                <a:ea typeface="+mn-ea"/>
                <a:cs typeface="+mn-cs"/>
              </a:rPr>
              <a:t>ADePT</a:t>
            </a:r>
            <a:r>
              <a:rPr lang="en-US" sz="2000" b="0" kern="1200" dirty="0">
                <a:solidFill>
                  <a:schemeClr val="tx1"/>
                </a:solidFill>
                <a:latin typeface="+mj-lt"/>
                <a:ea typeface="+mn-ea"/>
                <a:cs typeface="+mn-cs"/>
              </a:rPr>
              <a:t> matching file; West Africa FCT; Kenya FCT; USDA FCT; South Africa FCT</a:t>
            </a:r>
          </a:p>
          <a:p>
            <a:pPr marL="274320">
              <a:lnSpc>
                <a:spcPct val="100000"/>
              </a:lnSpc>
              <a:spcBef>
                <a:spcPts val="1200"/>
              </a:spcBef>
              <a:spcAft>
                <a:spcPts val="1200"/>
              </a:spcAft>
              <a:buFont typeface="Wingdings" panose="05000000000000000000" pitchFamily="2" charset="2"/>
              <a:buChar char="§"/>
            </a:pPr>
            <a:r>
              <a:rPr lang="en-US" sz="2000" b="1" dirty="0">
                <a:latin typeface="+mj-lt"/>
              </a:rPr>
              <a:t>Software</a:t>
            </a:r>
            <a:r>
              <a:rPr lang="en-US" sz="2000" dirty="0">
                <a:latin typeface="+mj-lt"/>
              </a:rPr>
              <a:t>: Python 3.8</a:t>
            </a:r>
          </a:p>
          <a:p>
            <a:pPr marL="274320">
              <a:lnSpc>
                <a:spcPct val="100000"/>
              </a:lnSpc>
              <a:spcBef>
                <a:spcPts val="1200"/>
              </a:spcBef>
              <a:spcAft>
                <a:spcPts val="1200"/>
              </a:spcAft>
              <a:buFont typeface="Wingdings" panose="05000000000000000000" pitchFamily="2" charset="2"/>
              <a:buChar char="§"/>
            </a:pPr>
            <a:r>
              <a:rPr lang="en-US" sz="2000" b="1" dirty="0">
                <a:latin typeface="+mj-lt"/>
              </a:rPr>
              <a:t>Analysis</a:t>
            </a:r>
            <a:r>
              <a:rPr lang="en-US" sz="2000" dirty="0">
                <a:latin typeface="+mj-lt"/>
              </a:rPr>
              <a:t> </a:t>
            </a:r>
            <a:r>
              <a:rPr lang="en-US" sz="2000" b="1" dirty="0">
                <a:latin typeface="+mj-lt"/>
              </a:rPr>
              <a:t>Process</a:t>
            </a:r>
            <a:r>
              <a:rPr lang="en-US" sz="2000" dirty="0">
                <a:latin typeface="+mj-lt"/>
              </a:rPr>
              <a:t>: The 2019 FAO </a:t>
            </a:r>
            <a:r>
              <a:rPr lang="en-US" sz="2000" dirty="0" err="1">
                <a:latin typeface="+mj-lt"/>
              </a:rPr>
              <a:t>ADePT</a:t>
            </a:r>
            <a:r>
              <a:rPr lang="en-US" sz="2000" dirty="0">
                <a:latin typeface="+mj-lt"/>
              </a:rPr>
              <a:t> food matching file for NHIES was updated through an iterative process to ensure optimal results. Using the FCT name and FCT codes in the matching file, micronutrient data from the corresponding FCTs was imported and matched. The resulting file was comprehensively verified and cleaned. Since the SA FCT was available only in pdf format, a separate extraction script was developed to facilitate the programmatic access/incorporation of this data. An updated matching file was prepared and shared with FAO who subsequently performed a new, clean </a:t>
            </a:r>
            <a:r>
              <a:rPr lang="en-US" sz="2000" dirty="0" err="1">
                <a:latin typeface="+mj-lt"/>
              </a:rPr>
              <a:t>ADePT</a:t>
            </a:r>
            <a:r>
              <a:rPr lang="en-US" sz="2000" dirty="0">
                <a:latin typeface="+mj-lt"/>
              </a:rPr>
              <a:t> analysis.</a:t>
            </a:r>
          </a:p>
          <a:p>
            <a:pPr marL="274320">
              <a:lnSpc>
                <a:spcPct val="100000"/>
              </a:lnSpc>
              <a:spcBef>
                <a:spcPts val="1200"/>
              </a:spcBef>
              <a:spcAft>
                <a:spcPts val="1200"/>
              </a:spcAft>
              <a:buFont typeface="Wingdings" panose="05000000000000000000" pitchFamily="2" charset="2"/>
              <a:buChar char="§"/>
            </a:pPr>
            <a:r>
              <a:rPr lang="en-US" sz="2000" b="1" dirty="0">
                <a:latin typeface="+mj-lt"/>
              </a:rPr>
              <a:t>Limitations</a:t>
            </a:r>
            <a:r>
              <a:rPr lang="en-US" sz="2000" dirty="0">
                <a:latin typeface="+mj-lt"/>
              </a:rPr>
              <a:t>: The food item matchings (i.e. between NHIES and FCTs) can also be further refined. Incorrect matchings (e.g., a cooked food with an uncooked food; an unfortified food with a fortified food) can have material impacts on the overall results.</a:t>
            </a:r>
          </a:p>
        </p:txBody>
      </p:sp>
    </p:spTree>
    <p:extLst>
      <p:ext uri="{BB962C8B-B14F-4D97-AF65-F5344CB8AC3E}">
        <p14:creationId xmlns:p14="http://schemas.microsoft.com/office/powerpoint/2010/main" val="1147246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801E3-134C-44B2-8E30-1EF9ECF135AD}"/>
              </a:ext>
            </a:extLst>
          </p:cNvPr>
          <p:cNvSpPr>
            <a:spLocks noGrp="1"/>
          </p:cNvSpPr>
          <p:nvPr>
            <p:ph type="title"/>
          </p:nvPr>
        </p:nvSpPr>
        <p:spPr/>
        <p:txBody>
          <a:bodyPr/>
          <a:lstStyle/>
          <a:p>
            <a:r>
              <a:rPr lang="en-US" dirty="0">
                <a:latin typeface="Tw Cen MT" panose="020B0602020104020603" pitchFamily="34" charset="0"/>
              </a:rPr>
              <a:t>Task 4: Key Findings/Results</a:t>
            </a:r>
          </a:p>
        </p:txBody>
      </p:sp>
      <p:graphicFrame>
        <p:nvGraphicFramePr>
          <p:cNvPr id="6" name="Table 6">
            <a:extLst>
              <a:ext uri="{FF2B5EF4-FFF2-40B4-BE49-F238E27FC236}">
                <a16:creationId xmlns:a16="http://schemas.microsoft.com/office/drawing/2014/main" id="{7EB436FD-D022-224C-9713-E72952C72042}"/>
              </a:ext>
            </a:extLst>
          </p:cNvPr>
          <p:cNvGraphicFramePr>
            <a:graphicFrameLocks noGrp="1"/>
          </p:cNvGraphicFramePr>
          <p:nvPr>
            <p:ph idx="1"/>
            <p:extLst>
              <p:ext uri="{D42A27DB-BD31-4B8C-83A1-F6EECF244321}">
                <p14:modId xmlns:p14="http://schemas.microsoft.com/office/powerpoint/2010/main" val="2980020883"/>
              </p:ext>
            </p:extLst>
          </p:nvPr>
        </p:nvGraphicFramePr>
        <p:xfrm>
          <a:off x="838200" y="1968999"/>
          <a:ext cx="10515600" cy="471424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4072665306"/>
                    </a:ext>
                  </a:extLst>
                </a:gridCol>
                <a:gridCol w="876300">
                  <a:extLst>
                    <a:ext uri="{9D8B030D-6E8A-4147-A177-3AD203B41FA5}">
                      <a16:colId xmlns:a16="http://schemas.microsoft.com/office/drawing/2014/main" val="3928558499"/>
                    </a:ext>
                  </a:extLst>
                </a:gridCol>
                <a:gridCol w="876300">
                  <a:extLst>
                    <a:ext uri="{9D8B030D-6E8A-4147-A177-3AD203B41FA5}">
                      <a16:colId xmlns:a16="http://schemas.microsoft.com/office/drawing/2014/main" val="1562623018"/>
                    </a:ext>
                  </a:extLst>
                </a:gridCol>
                <a:gridCol w="876300">
                  <a:extLst>
                    <a:ext uri="{9D8B030D-6E8A-4147-A177-3AD203B41FA5}">
                      <a16:colId xmlns:a16="http://schemas.microsoft.com/office/drawing/2014/main" val="302349003"/>
                    </a:ext>
                  </a:extLst>
                </a:gridCol>
                <a:gridCol w="876300">
                  <a:extLst>
                    <a:ext uri="{9D8B030D-6E8A-4147-A177-3AD203B41FA5}">
                      <a16:colId xmlns:a16="http://schemas.microsoft.com/office/drawing/2014/main" val="1505217058"/>
                    </a:ext>
                  </a:extLst>
                </a:gridCol>
                <a:gridCol w="876300">
                  <a:extLst>
                    <a:ext uri="{9D8B030D-6E8A-4147-A177-3AD203B41FA5}">
                      <a16:colId xmlns:a16="http://schemas.microsoft.com/office/drawing/2014/main" val="2362451309"/>
                    </a:ext>
                  </a:extLst>
                </a:gridCol>
                <a:gridCol w="876300">
                  <a:extLst>
                    <a:ext uri="{9D8B030D-6E8A-4147-A177-3AD203B41FA5}">
                      <a16:colId xmlns:a16="http://schemas.microsoft.com/office/drawing/2014/main" val="2997381831"/>
                    </a:ext>
                  </a:extLst>
                </a:gridCol>
                <a:gridCol w="876300">
                  <a:extLst>
                    <a:ext uri="{9D8B030D-6E8A-4147-A177-3AD203B41FA5}">
                      <a16:colId xmlns:a16="http://schemas.microsoft.com/office/drawing/2014/main" val="2410161675"/>
                    </a:ext>
                  </a:extLst>
                </a:gridCol>
                <a:gridCol w="876300">
                  <a:extLst>
                    <a:ext uri="{9D8B030D-6E8A-4147-A177-3AD203B41FA5}">
                      <a16:colId xmlns:a16="http://schemas.microsoft.com/office/drawing/2014/main" val="2166254253"/>
                    </a:ext>
                  </a:extLst>
                </a:gridCol>
                <a:gridCol w="876300">
                  <a:extLst>
                    <a:ext uri="{9D8B030D-6E8A-4147-A177-3AD203B41FA5}">
                      <a16:colId xmlns:a16="http://schemas.microsoft.com/office/drawing/2014/main" val="3270313303"/>
                    </a:ext>
                  </a:extLst>
                </a:gridCol>
                <a:gridCol w="876300">
                  <a:extLst>
                    <a:ext uri="{9D8B030D-6E8A-4147-A177-3AD203B41FA5}">
                      <a16:colId xmlns:a16="http://schemas.microsoft.com/office/drawing/2014/main" val="1825558956"/>
                    </a:ext>
                  </a:extLst>
                </a:gridCol>
                <a:gridCol w="876300">
                  <a:extLst>
                    <a:ext uri="{9D8B030D-6E8A-4147-A177-3AD203B41FA5}">
                      <a16:colId xmlns:a16="http://schemas.microsoft.com/office/drawing/2014/main" val="3896149255"/>
                    </a:ext>
                  </a:extLst>
                </a:gridCol>
              </a:tblGrid>
              <a:tr h="370840">
                <a:tc>
                  <a:txBody>
                    <a:bodyPr/>
                    <a:lstStyle/>
                    <a:p>
                      <a:endParaRPr lang="en-NA" sz="2400" dirty="0">
                        <a:latin typeface="+mn-lt"/>
                      </a:endParaRPr>
                    </a:p>
                  </a:txBody>
                  <a:tcPr/>
                </a:tc>
                <a:tc>
                  <a:txBody>
                    <a:bodyPr/>
                    <a:lstStyle/>
                    <a:p>
                      <a:pPr algn="ctr" fontAlgn="ctr"/>
                      <a:r>
                        <a:rPr lang="en-GB" sz="1100" b="1" i="0" u="none" strike="noStrike" dirty="0">
                          <a:solidFill>
                            <a:schemeClr val="bg1"/>
                          </a:solidFill>
                          <a:effectLst/>
                          <a:latin typeface="+mn-lt"/>
                        </a:rPr>
                        <a:t>Vitamin B1, ratio consumed to required (%)</a:t>
                      </a:r>
                    </a:p>
                  </a:txBody>
                  <a:tcPr marL="0" marR="0" marT="0" marB="0" anchor="ctr"/>
                </a:tc>
                <a:tc>
                  <a:txBody>
                    <a:bodyPr/>
                    <a:lstStyle/>
                    <a:p>
                      <a:pPr algn="ctr" fontAlgn="ctr"/>
                      <a:r>
                        <a:rPr lang="en-GB" sz="1100" b="1" i="0" u="none" strike="noStrike" dirty="0">
                          <a:solidFill>
                            <a:schemeClr val="bg1"/>
                          </a:solidFill>
                          <a:effectLst/>
                          <a:latin typeface="+mn-lt"/>
                        </a:rPr>
                        <a:t>Vitamin B2, ratio consumed to required (%)</a:t>
                      </a:r>
                    </a:p>
                  </a:txBody>
                  <a:tcPr marL="0" marR="0" marT="0" marB="0" anchor="ctr"/>
                </a:tc>
                <a:tc>
                  <a:txBody>
                    <a:bodyPr/>
                    <a:lstStyle/>
                    <a:p>
                      <a:pPr algn="ctr" fontAlgn="ctr"/>
                      <a:r>
                        <a:rPr lang="en-GB" sz="1100" b="1" i="0" u="none" strike="noStrike" dirty="0">
                          <a:solidFill>
                            <a:schemeClr val="bg1"/>
                          </a:solidFill>
                          <a:effectLst/>
                          <a:latin typeface="+mn-lt"/>
                        </a:rPr>
                        <a:t>Vitamin B6, ratio consumed to required (%)</a:t>
                      </a:r>
                    </a:p>
                  </a:txBody>
                  <a:tcPr marL="0" marR="0" marT="0" marB="0" anchor="ctr"/>
                </a:tc>
                <a:tc>
                  <a:txBody>
                    <a:bodyPr/>
                    <a:lstStyle/>
                    <a:p>
                      <a:pPr algn="ctr" fontAlgn="ctr"/>
                      <a:r>
                        <a:rPr lang="en-GB" sz="1100" b="1" i="0" u="none" strike="noStrike" dirty="0">
                          <a:solidFill>
                            <a:schemeClr val="bg1"/>
                          </a:solidFill>
                          <a:effectLst/>
                          <a:latin typeface="+mn-lt"/>
                        </a:rPr>
                        <a:t>Vitamin B12, ratio consumed to required (%)</a:t>
                      </a:r>
                    </a:p>
                  </a:txBody>
                  <a:tcPr marL="0" marR="0" marT="0" marB="0" anchor="ctr"/>
                </a:tc>
                <a:tc>
                  <a:txBody>
                    <a:bodyPr/>
                    <a:lstStyle/>
                    <a:p>
                      <a:pPr algn="ctr" fontAlgn="ctr"/>
                      <a:r>
                        <a:rPr lang="en-GB" sz="1100" b="1" i="0" u="none" strike="noStrike" dirty="0">
                          <a:solidFill>
                            <a:schemeClr val="bg1"/>
                          </a:solidFill>
                          <a:effectLst/>
                          <a:latin typeface="+mn-lt"/>
                        </a:rPr>
                        <a:t>Folate, average consumption (mcg/capita/day)</a:t>
                      </a:r>
                    </a:p>
                  </a:txBody>
                  <a:tcPr marL="0" marR="0" marT="0" marB="0" anchor="ctr"/>
                </a:tc>
                <a:tc>
                  <a:txBody>
                    <a:bodyPr/>
                    <a:lstStyle/>
                    <a:p>
                      <a:pPr algn="ctr" fontAlgn="ctr"/>
                      <a:r>
                        <a:rPr lang="en-GB" sz="1100" b="1" i="0" u="none" strike="noStrike" dirty="0">
                          <a:solidFill>
                            <a:schemeClr val="bg1"/>
                          </a:solidFill>
                          <a:effectLst/>
                          <a:latin typeface="+mn-lt"/>
                        </a:rPr>
                        <a:t>Vitamin C, ratio consumed to required (%)</a:t>
                      </a:r>
                    </a:p>
                  </a:txBody>
                  <a:tcPr marL="0" marR="0" marT="0" marB="0" anchor="ctr"/>
                </a:tc>
                <a:tc>
                  <a:txBody>
                    <a:bodyPr/>
                    <a:lstStyle/>
                    <a:p>
                      <a:pPr algn="ctr" fontAlgn="ctr"/>
                      <a:r>
                        <a:rPr lang="en-GB" sz="1100" b="1" i="0" u="none" strike="noStrike" dirty="0">
                          <a:solidFill>
                            <a:schemeClr val="bg1"/>
                          </a:solidFill>
                          <a:effectLst/>
                          <a:latin typeface="+mn-lt"/>
                        </a:rPr>
                        <a:t>Calcium, ratio consumed to required (%)</a:t>
                      </a:r>
                    </a:p>
                  </a:txBody>
                  <a:tcPr marL="0" marR="0" marT="0" marB="0" anchor="ctr"/>
                </a:tc>
                <a:tc>
                  <a:txBody>
                    <a:bodyPr/>
                    <a:lstStyle/>
                    <a:p>
                      <a:pPr algn="ctr" fontAlgn="ctr"/>
                      <a:r>
                        <a:rPr lang="en-GB" sz="1100" b="1" i="0" u="none" strike="noStrike" dirty="0">
                          <a:solidFill>
                            <a:schemeClr val="bg1"/>
                          </a:solidFill>
                          <a:effectLst/>
                          <a:latin typeface="+mn-lt"/>
                        </a:rPr>
                        <a:t>Iron, average consumption from animal sources (mg/capita/day)</a:t>
                      </a:r>
                    </a:p>
                  </a:txBody>
                  <a:tcPr marL="0" marR="0" marT="0" marB="0" anchor="ctr"/>
                </a:tc>
                <a:tc>
                  <a:txBody>
                    <a:bodyPr/>
                    <a:lstStyle/>
                    <a:p>
                      <a:pPr algn="ctr" fontAlgn="ctr"/>
                      <a:r>
                        <a:rPr lang="en-GB" sz="1100" b="1" i="0" u="none" strike="noStrike">
                          <a:solidFill>
                            <a:schemeClr val="bg1"/>
                          </a:solidFill>
                          <a:effectLst/>
                          <a:latin typeface="+mn-lt"/>
                        </a:rPr>
                        <a:t>Iron, average consumption from non-animal sources (mg/capita/day)</a:t>
                      </a:r>
                    </a:p>
                  </a:txBody>
                  <a:tcPr marL="0" marR="0" marT="0" marB="0" anchor="ctr"/>
                </a:tc>
                <a:tc>
                  <a:txBody>
                    <a:bodyPr/>
                    <a:lstStyle/>
                    <a:p>
                      <a:pPr algn="ctr" fontAlgn="ctr"/>
                      <a:r>
                        <a:rPr lang="en-GB" sz="1100" b="1" i="0" u="none" strike="noStrike" dirty="0">
                          <a:solidFill>
                            <a:schemeClr val="bg1"/>
                          </a:solidFill>
                          <a:effectLst/>
                          <a:latin typeface="+mn-lt"/>
                        </a:rPr>
                        <a:t>Zinc, ratio consumed to required for an unrefined diet (%)</a:t>
                      </a:r>
                    </a:p>
                  </a:txBody>
                  <a:tcPr marL="0" marR="0" marT="0" marB="0" anchor="ctr"/>
                </a:tc>
                <a:tc>
                  <a:txBody>
                    <a:bodyPr/>
                    <a:lstStyle/>
                    <a:p>
                      <a:pPr algn="ctr" fontAlgn="ctr"/>
                      <a:r>
                        <a:rPr lang="en-GB" sz="1100" b="1" i="0" u="none" strike="noStrike" dirty="0">
                          <a:solidFill>
                            <a:schemeClr val="bg1"/>
                          </a:solidFill>
                          <a:effectLst/>
                          <a:latin typeface="+mn-lt"/>
                        </a:rPr>
                        <a:t>Zinc, ratio consumed to required for a refined diet (%)</a:t>
                      </a:r>
                    </a:p>
                  </a:txBody>
                  <a:tcPr marL="0" marR="0" marT="0" marB="0" anchor="ctr"/>
                </a:tc>
                <a:extLst>
                  <a:ext uri="{0D108BD9-81ED-4DB2-BD59-A6C34878D82A}">
                    <a16:rowId xmlns:a16="http://schemas.microsoft.com/office/drawing/2014/main" val="1288015845"/>
                  </a:ext>
                </a:extLst>
              </a:tr>
              <a:tr h="370840">
                <a:tc>
                  <a:txBody>
                    <a:bodyPr/>
                    <a:lstStyle/>
                    <a:p>
                      <a:pPr algn="l" fontAlgn="ctr"/>
                      <a:r>
                        <a:rPr lang="en-GB" sz="1100" b="0" i="0" u="none" strike="noStrike" dirty="0">
                          <a:solidFill>
                            <a:srgbClr val="000000"/>
                          </a:solidFill>
                          <a:effectLst/>
                          <a:latin typeface="+mn-lt"/>
                        </a:rPr>
                        <a:t>Total</a:t>
                      </a:r>
                    </a:p>
                  </a:txBody>
                  <a:tcPr marL="0" marR="0" marT="0" marB="0" anchor="ctr"/>
                </a:tc>
                <a:tc>
                  <a:txBody>
                    <a:bodyPr/>
                    <a:lstStyle/>
                    <a:p>
                      <a:pPr algn="ctr" fontAlgn="ctr"/>
                      <a:r>
                        <a:rPr lang="en-NA" sz="1100" b="0" i="0" u="none" strike="noStrike">
                          <a:solidFill>
                            <a:srgbClr val="000000"/>
                          </a:solidFill>
                          <a:effectLst/>
                          <a:latin typeface="+mn-lt"/>
                        </a:rPr>
                        <a:t>371</a:t>
                      </a:r>
                    </a:p>
                  </a:txBody>
                  <a:tcPr marL="0" marR="0" marT="0" marB="0" anchor="ctr"/>
                </a:tc>
                <a:tc>
                  <a:txBody>
                    <a:bodyPr/>
                    <a:lstStyle/>
                    <a:p>
                      <a:pPr algn="ctr" fontAlgn="ctr"/>
                      <a:r>
                        <a:rPr lang="en-NA" sz="1100" b="0" i="0" u="none" strike="noStrike">
                          <a:solidFill>
                            <a:srgbClr val="000000"/>
                          </a:solidFill>
                          <a:effectLst/>
                          <a:latin typeface="+mn-lt"/>
                        </a:rPr>
                        <a:t>197</a:t>
                      </a:r>
                    </a:p>
                  </a:txBody>
                  <a:tcPr marL="0" marR="0" marT="0" marB="0" anchor="ctr"/>
                </a:tc>
                <a:tc>
                  <a:txBody>
                    <a:bodyPr/>
                    <a:lstStyle/>
                    <a:p>
                      <a:pPr algn="ctr" fontAlgn="ctr"/>
                      <a:r>
                        <a:rPr lang="en-NA" sz="1100" b="0" i="0" u="none" strike="noStrike">
                          <a:solidFill>
                            <a:srgbClr val="000000"/>
                          </a:solidFill>
                          <a:effectLst/>
                          <a:latin typeface="+mn-lt"/>
                        </a:rPr>
                        <a:t>705</a:t>
                      </a:r>
                    </a:p>
                  </a:txBody>
                  <a:tcPr marL="0" marR="0" marT="0" marB="0" anchor="ctr"/>
                </a:tc>
                <a:tc>
                  <a:txBody>
                    <a:bodyPr/>
                    <a:lstStyle/>
                    <a:p>
                      <a:pPr algn="ctr" fontAlgn="ctr"/>
                      <a:r>
                        <a:rPr lang="en-NA" sz="1100" b="0" i="0" u="none" strike="noStrike">
                          <a:solidFill>
                            <a:srgbClr val="000000"/>
                          </a:solidFill>
                          <a:effectLst/>
                          <a:latin typeface="+mn-lt"/>
                        </a:rPr>
                        <a:t>233</a:t>
                      </a:r>
                    </a:p>
                  </a:txBody>
                  <a:tcPr marL="0" marR="0" marT="0" marB="0" anchor="ctr"/>
                </a:tc>
                <a:tc>
                  <a:txBody>
                    <a:bodyPr/>
                    <a:lstStyle/>
                    <a:p>
                      <a:pPr algn="ctr" fontAlgn="ctr"/>
                      <a:r>
                        <a:rPr lang="en-NA" sz="1100" b="0" i="0" u="none" strike="noStrike">
                          <a:solidFill>
                            <a:srgbClr val="000000"/>
                          </a:solidFill>
                          <a:effectLst/>
                          <a:latin typeface="+mn-lt"/>
                        </a:rPr>
                        <a:t>649.02</a:t>
                      </a:r>
                    </a:p>
                  </a:txBody>
                  <a:tcPr marL="0" marR="0" marT="0" marB="0" anchor="ctr"/>
                </a:tc>
                <a:tc>
                  <a:txBody>
                    <a:bodyPr/>
                    <a:lstStyle/>
                    <a:p>
                      <a:pPr algn="ctr" fontAlgn="ctr"/>
                      <a:r>
                        <a:rPr lang="en-NA" sz="1100" b="0" i="0" u="none" strike="noStrike">
                          <a:solidFill>
                            <a:srgbClr val="000000"/>
                          </a:solidFill>
                          <a:effectLst/>
                          <a:latin typeface="+mn-lt"/>
                        </a:rPr>
                        <a:t>110.43</a:t>
                      </a:r>
                    </a:p>
                  </a:txBody>
                  <a:tcPr marL="0" marR="0" marT="0" marB="0" anchor="ctr"/>
                </a:tc>
                <a:tc>
                  <a:txBody>
                    <a:bodyPr/>
                    <a:lstStyle/>
                    <a:p>
                      <a:pPr algn="ctr" fontAlgn="ctr"/>
                      <a:r>
                        <a:rPr lang="en-NA" sz="1100" b="0" i="0" u="none" strike="noStrike">
                          <a:solidFill>
                            <a:srgbClr val="000000"/>
                          </a:solidFill>
                          <a:effectLst/>
                          <a:latin typeface="+mn-lt"/>
                        </a:rPr>
                        <a:t>30.31</a:t>
                      </a:r>
                    </a:p>
                  </a:txBody>
                  <a:tcPr marL="0" marR="0" marT="0" marB="0" anchor="ctr"/>
                </a:tc>
                <a:tc>
                  <a:txBody>
                    <a:bodyPr/>
                    <a:lstStyle/>
                    <a:p>
                      <a:pPr algn="ctr" fontAlgn="ctr"/>
                      <a:r>
                        <a:rPr lang="en-NA" sz="1100" b="0" i="0" u="none" strike="noStrike">
                          <a:solidFill>
                            <a:srgbClr val="000000"/>
                          </a:solidFill>
                          <a:effectLst/>
                          <a:latin typeface="+mn-lt"/>
                        </a:rPr>
                        <a:t>33.28</a:t>
                      </a:r>
                    </a:p>
                  </a:txBody>
                  <a:tcPr marL="0" marR="0" marT="0" marB="0" anchor="ctr"/>
                </a:tc>
                <a:tc>
                  <a:txBody>
                    <a:bodyPr/>
                    <a:lstStyle/>
                    <a:p>
                      <a:pPr algn="ctr" fontAlgn="ctr"/>
                      <a:r>
                        <a:rPr lang="en-NA" sz="1100" b="0" i="0" u="none" strike="noStrike">
                          <a:solidFill>
                            <a:srgbClr val="000000"/>
                          </a:solidFill>
                          <a:effectLst/>
                          <a:latin typeface="+mn-lt"/>
                        </a:rPr>
                        <a:t>33.28</a:t>
                      </a:r>
                    </a:p>
                  </a:txBody>
                  <a:tcPr marL="0" marR="0" marT="0" marB="0" anchor="ctr"/>
                </a:tc>
                <a:tc>
                  <a:txBody>
                    <a:bodyPr/>
                    <a:lstStyle/>
                    <a:p>
                      <a:pPr algn="ctr" fontAlgn="ctr"/>
                      <a:r>
                        <a:rPr lang="en-NA" sz="1100" b="0" i="0" u="none" strike="noStrike">
                          <a:solidFill>
                            <a:srgbClr val="000000"/>
                          </a:solidFill>
                          <a:effectLst/>
                          <a:latin typeface="+mn-lt"/>
                        </a:rPr>
                        <a:t>246</a:t>
                      </a:r>
                    </a:p>
                  </a:txBody>
                  <a:tcPr marL="0" marR="0" marT="0" marB="0" anchor="ctr"/>
                </a:tc>
                <a:tc>
                  <a:txBody>
                    <a:bodyPr/>
                    <a:lstStyle/>
                    <a:p>
                      <a:pPr algn="ctr" fontAlgn="ctr"/>
                      <a:r>
                        <a:rPr lang="en-NA" sz="1100" b="0" i="0" u="none" strike="noStrike">
                          <a:solidFill>
                            <a:srgbClr val="000000"/>
                          </a:solidFill>
                          <a:effectLst/>
                          <a:latin typeface="+mn-lt"/>
                        </a:rPr>
                        <a:t>333</a:t>
                      </a:r>
                    </a:p>
                  </a:txBody>
                  <a:tcPr marL="0" marR="0" marT="0" marB="0" anchor="ctr"/>
                </a:tc>
                <a:extLst>
                  <a:ext uri="{0D108BD9-81ED-4DB2-BD59-A6C34878D82A}">
                    <a16:rowId xmlns:a16="http://schemas.microsoft.com/office/drawing/2014/main" val="3742799017"/>
                  </a:ext>
                </a:extLst>
              </a:tr>
              <a:tr h="370840">
                <a:tc gridSpan="12">
                  <a:txBody>
                    <a:bodyPr/>
                    <a:lstStyle/>
                    <a:p>
                      <a:pPr algn="l" fontAlgn="ctr"/>
                      <a:r>
                        <a:rPr lang="en-GB" sz="1100" b="1" i="0" u="none" strike="noStrike" dirty="0">
                          <a:solidFill>
                            <a:srgbClr val="000000"/>
                          </a:solidFill>
                          <a:effectLst/>
                          <a:latin typeface="+mn-lt"/>
                        </a:rPr>
                        <a:t>Quintiles of income</a:t>
                      </a:r>
                    </a:p>
                  </a:txBody>
                  <a:tcPr marL="0" marR="0" marT="0" marB="0" anchor="ctr"/>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extLst>
                  <a:ext uri="{0D108BD9-81ED-4DB2-BD59-A6C34878D82A}">
                    <a16:rowId xmlns:a16="http://schemas.microsoft.com/office/drawing/2014/main" val="1996101269"/>
                  </a:ext>
                </a:extLst>
              </a:tr>
              <a:tr h="370840">
                <a:tc>
                  <a:txBody>
                    <a:bodyPr/>
                    <a:lstStyle/>
                    <a:p>
                      <a:pPr algn="l" fontAlgn="ctr"/>
                      <a:r>
                        <a:rPr lang="en-GB" sz="1100" b="0" i="0" u="none" strike="noStrike">
                          <a:solidFill>
                            <a:srgbClr val="000000"/>
                          </a:solidFill>
                          <a:effectLst/>
                          <a:latin typeface="+mn-lt"/>
                        </a:rPr>
                        <a:t>Lowest quintile</a:t>
                      </a:r>
                    </a:p>
                  </a:txBody>
                  <a:tcPr marL="0" marR="0" marT="0" marB="0" anchor="ctr"/>
                </a:tc>
                <a:tc>
                  <a:txBody>
                    <a:bodyPr/>
                    <a:lstStyle/>
                    <a:p>
                      <a:pPr algn="ctr" fontAlgn="ctr"/>
                      <a:r>
                        <a:rPr lang="en-NA" sz="1100" b="0" i="0" u="none" strike="noStrike">
                          <a:solidFill>
                            <a:srgbClr val="000000"/>
                          </a:solidFill>
                          <a:effectLst/>
                          <a:latin typeface="+mn-lt"/>
                        </a:rPr>
                        <a:t>282</a:t>
                      </a:r>
                    </a:p>
                  </a:txBody>
                  <a:tcPr marL="0" marR="0" marT="0" marB="0" anchor="ctr"/>
                </a:tc>
                <a:tc>
                  <a:txBody>
                    <a:bodyPr/>
                    <a:lstStyle/>
                    <a:p>
                      <a:pPr algn="ctr" fontAlgn="ctr"/>
                      <a:r>
                        <a:rPr lang="en-NA" sz="1100" b="0" i="0" u="none" strike="noStrike">
                          <a:solidFill>
                            <a:srgbClr val="000000"/>
                          </a:solidFill>
                          <a:effectLst/>
                          <a:latin typeface="+mn-lt"/>
                        </a:rPr>
                        <a:t>143</a:t>
                      </a:r>
                    </a:p>
                  </a:txBody>
                  <a:tcPr marL="0" marR="0" marT="0" marB="0" anchor="ctr"/>
                </a:tc>
                <a:tc>
                  <a:txBody>
                    <a:bodyPr/>
                    <a:lstStyle/>
                    <a:p>
                      <a:pPr algn="ctr" fontAlgn="ctr"/>
                      <a:r>
                        <a:rPr lang="en-NA" sz="1100" b="0" i="0" u="none" strike="noStrike">
                          <a:solidFill>
                            <a:srgbClr val="000000"/>
                          </a:solidFill>
                          <a:effectLst/>
                          <a:latin typeface="+mn-lt"/>
                        </a:rPr>
                        <a:t>418</a:t>
                      </a:r>
                    </a:p>
                  </a:txBody>
                  <a:tcPr marL="0" marR="0" marT="0" marB="0" anchor="ctr"/>
                </a:tc>
                <a:tc>
                  <a:txBody>
                    <a:bodyPr/>
                    <a:lstStyle/>
                    <a:p>
                      <a:pPr algn="ctr" fontAlgn="ctr"/>
                      <a:r>
                        <a:rPr lang="en-NA" sz="1100" b="0" i="0" u="none" strike="noStrike">
                          <a:solidFill>
                            <a:srgbClr val="000000"/>
                          </a:solidFill>
                          <a:effectLst/>
                          <a:latin typeface="+mn-lt"/>
                        </a:rPr>
                        <a:t>132</a:t>
                      </a:r>
                    </a:p>
                  </a:txBody>
                  <a:tcPr marL="0" marR="0" marT="0" marB="0" anchor="ctr"/>
                </a:tc>
                <a:tc>
                  <a:txBody>
                    <a:bodyPr/>
                    <a:lstStyle/>
                    <a:p>
                      <a:pPr algn="ctr" fontAlgn="ctr"/>
                      <a:r>
                        <a:rPr lang="en-NA" sz="1100" b="0" i="0" u="none" strike="noStrike">
                          <a:solidFill>
                            <a:srgbClr val="000000"/>
                          </a:solidFill>
                          <a:effectLst/>
                          <a:latin typeface="+mn-lt"/>
                        </a:rPr>
                        <a:t>548.36</a:t>
                      </a:r>
                    </a:p>
                  </a:txBody>
                  <a:tcPr marL="0" marR="0" marT="0" marB="0" anchor="ctr"/>
                </a:tc>
                <a:tc>
                  <a:txBody>
                    <a:bodyPr/>
                    <a:lstStyle/>
                    <a:p>
                      <a:pPr algn="ctr" fontAlgn="ctr"/>
                      <a:r>
                        <a:rPr lang="en-NA" sz="1100" b="0" i="0" u="none" strike="noStrike">
                          <a:solidFill>
                            <a:srgbClr val="000000"/>
                          </a:solidFill>
                          <a:effectLst/>
                          <a:latin typeface="+mn-lt"/>
                        </a:rPr>
                        <a:t>54.69</a:t>
                      </a:r>
                    </a:p>
                  </a:txBody>
                  <a:tcPr marL="0" marR="0" marT="0" marB="0" anchor="ctr"/>
                </a:tc>
                <a:tc>
                  <a:txBody>
                    <a:bodyPr/>
                    <a:lstStyle/>
                    <a:p>
                      <a:pPr algn="ctr" fontAlgn="ctr"/>
                      <a:r>
                        <a:rPr lang="en-NA" sz="1100" b="0" i="0" u="none" strike="noStrike">
                          <a:solidFill>
                            <a:srgbClr val="000000"/>
                          </a:solidFill>
                          <a:effectLst/>
                          <a:latin typeface="+mn-lt"/>
                        </a:rPr>
                        <a:t>20.22</a:t>
                      </a:r>
                    </a:p>
                  </a:txBody>
                  <a:tcPr marL="0" marR="0" marT="0" marB="0" anchor="ctr"/>
                </a:tc>
                <a:tc>
                  <a:txBody>
                    <a:bodyPr/>
                    <a:lstStyle/>
                    <a:p>
                      <a:pPr algn="ctr" fontAlgn="ctr"/>
                      <a:r>
                        <a:rPr lang="en-NA" sz="1100" b="0" i="0" u="none" strike="noStrike">
                          <a:solidFill>
                            <a:srgbClr val="000000"/>
                          </a:solidFill>
                          <a:effectLst/>
                          <a:latin typeface="+mn-lt"/>
                        </a:rPr>
                        <a:t>23.08</a:t>
                      </a:r>
                    </a:p>
                  </a:txBody>
                  <a:tcPr marL="0" marR="0" marT="0" marB="0" anchor="ctr"/>
                </a:tc>
                <a:tc>
                  <a:txBody>
                    <a:bodyPr/>
                    <a:lstStyle/>
                    <a:p>
                      <a:pPr algn="ctr" fontAlgn="ctr"/>
                      <a:r>
                        <a:rPr lang="en-NA" sz="1100" b="0" i="0" u="none" strike="noStrike">
                          <a:solidFill>
                            <a:srgbClr val="000000"/>
                          </a:solidFill>
                          <a:effectLst/>
                          <a:latin typeface="+mn-lt"/>
                        </a:rPr>
                        <a:t>23.08</a:t>
                      </a:r>
                    </a:p>
                  </a:txBody>
                  <a:tcPr marL="0" marR="0" marT="0" marB="0" anchor="ctr"/>
                </a:tc>
                <a:tc>
                  <a:txBody>
                    <a:bodyPr/>
                    <a:lstStyle/>
                    <a:p>
                      <a:pPr algn="ctr" fontAlgn="ctr"/>
                      <a:r>
                        <a:rPr lang="en-NA" sz="1100" b="0" i="0" u="none" strike="noStrike">
                          <a:solidFill>
                            <a:srgbClr val="000000"/>
                          </a:solidFill>
                          <a:effectLst/>
                          <a:latin typeface="+mn-lt"/>
                        </a:rPr>
                        <a:t>182</a:t>
                      </a:r>
                    </a:p>
                  </a:txBody>
                  <a:tcPr marL="0" marR="0" marT="0" marB="0" anchor="ctr"/>
                </a:tc>
                <a:tc>
                  <a:txBody>
                    <a:bodyPr/>
                    <a:lstStyle/>
                    <a:p>
                      <a:pPr algn="ctr" fontAlgn="ctr"/>
                      <a:r>
                        <a:rPr lang="en-NA" sz="1100" b="0" i="0" u="none" strike="noStrike">
                          <a:solidFill>
                            <a:srgbClr val="000000"/>
                          </a:solidFill>
                          <a:effectLst/>
                          <a:latin typeface="+mn-lt"/>
                        </a:rPr>
                        <a:t>244</a:t>
                      </a:r>
                    </a:p>
                  </a:txBody>
                  <a:tcPr marL="0" marR="0" marT="0" marB="0" anchor="ctr"/>
                </a:tc>
                <a:extLst>
                  <a:ext uri="{0D108BD9-81ED-4DB2-BD59-A6C34878D82A}">
                    <a16:rowId xmlns:a16="http://schemas.microsoft.com/office/drawing/2014/main" val="232566928"/>
                  </a:ext>
                </a:extLst>
              </a:tr>
              <a:tr h="370840">
                <a:tc>
                  <a:txBody>
                    <a:bodyPr/>
                    <a:lstStyle/>
                    <a:p>
                      <a:pPr algn="l" fontAlgn="ctr"/>
                      <a:r>
                        <a:rPr lang="en-NA" sz="1100" b="0" i="0" u="none" strike="noStrike">
                          <a:solidFill>
                            <a:srgbClr val="000000"/>
                          </a:solidFill>
                          <a:effectLst/>
                          <a:latin typeface="+mn-lt"/>
                        </a:rPr>
                        <a:t>2</a:t>
                      </a:r>
                    </a:p>
                  </a:txBody>
                  <a:tcPr marL="0" marR="0" marT="0" marB="0" anchor="ctr"/>
                </a:tc>
                <a:tc>
                  <a:txBody>
                    <a:bodyPr/>
                    <a:lstStyle/>
                    <a:p>
                      <a:pPr algn="ctr" fontAlgn="ctr"/>
                      <a:r>
                        <a:rPr lang="en-NA" sz="1100" b="0" i="0" u="none" strike="noStrike">
                          <a:solidFill>
                            <a:srgbClr val="000000"/>
                          </a:solidFill>
                          <a:effectLst/>
                          <a:latin typeface="+mn-lt"/>
                        </a:rPr>
                        <a:t>367</a:t>
                      </a:r>
                    </a:p>
                  </a:txBody>
                  <a:tcPr marL="0" marR="0" marT="0" marB="0" anchor="ctr"/>
                </a:tc>
                <a:tc>
                  <a:txBody>
                    <a:bodyPr/>
                    <a:lstStyle/>
                    <a:p>
                      <a:pPr algn="ctr" fontAlgn="ctr"/>
                      <a:r>
                        <a:rPr lang="en-NA" sz="1100" b="0" i="0" u="none" strike="noStrike">
                          <a:solidFill>
                            <a:srgbClr val="000000"/>
                          </a:solidFill>
                          <a:effectLst/>
                          <a:latin typeface="+mn-lt"/>
                        </a:rPr>
                        <a:t>197</a:t>
                      </a:r>
                    </a:p>
                  </a:txBody>
                  <a:tcPr marL="0" marR="0" marT="0" marB="0" anchor="ctr"/>
                </a:tc>
                <a:tc>
                  <a:txBody>
                    <a:bodyPr/>
                    <a:lstStyle/>
                    <a:p>
                      <a:pPr algn="ctr" fontAlgn="ctr"/>
                      <a:r>
                        <a:rPr lang="en-NA" sz="1100" b="0" i="0" u="none" strike="noStrike">
                          <a:solidFill>
                            <a:srgbClr val="000000"/>
                          </a:solidFill>
                          <a:effectLst/>
                          <a:latin typeface="+mn-lt"/>
                        </a:rPr>
                        <a:t>658</a:t>
                      </a:r>
                    </a:p>
                  </a:txBody>
                  <a:tcPr marL="0" marR="0" marT="0" marB="0" anchor="ctr"/>
                </a:tc>
                <a:tc>
                  <a:txBody>
                    <a:bodyPr/>
                    <a:lstStyle/>
                    <a:p>
                      <a:pPr algn="ctr" fontAlgn="ctr"/>
                      <a:r>
                        <a:rPr lang="en-NA" sz="1100" b="0" i="0" u="none" strike="noStrike">
                          <a:solidFill>
                            <a:srgbClr val="000000"/>
                          </a:solidFill>
                          <a:effectLst/>
                          <a:latin typeface="+mn-lt"/>
                        </a:rPr>
                        <a:t>186</a:t>
                      </a:r>
                    </a:p>
                  </a:txBody>
                  <a:tcPr marL="0" marR="0" marT="0" marB="0" anchor="ctr"/>
                </a:tc>
                <a:tc>
                  <a:txBody>
                    <a:bodyPr/>
                    <a:lstStyle/>
                    <a:p>
                      <a:pPr algn="ctr" fontAlgn="ctr"/>
                      <a:r>
                        <a:rPr lang="en-NA" sz="1100" b="0" i="0" u="none" strike="noStrike">
                          <a:solidFill>
                            <a:srgbClr val="000000"/>
                          </a:solidFill>
                          <a:effectLst/>
                          <a:latin typeface="+mn-lt"/>
                        </a:rPr>
                        <a:t>615.84</a:t>
                      </a:r>
                    </a:p>
                  </a:txBody>
                  <a:tcPr marL="0" marR="0" marT="0" marB="0" anchor="ctr"/>
                </a:tc>
                <a:tc>
                  <a:txBody>
                    <a:bodyPr/>
                    <a:lstStyle/>
                    <a:p>
                      <a:pPr algn="ctr" fontAlgn="ctr"/>
                      <a:r>
                        <a:rPr lang="en-NA" sz="1100" b="0" i="0" u="none" strike="noStrike">
                          <a:solidFill>
                            <a:srgbClr val="000000"/>
                          </a:solidFill>
                          <a:effectLst/>
                          <a:latin typeface="+mn-lt"/>
                        </a:rPr>
                        <a:t>80.55</a:t>
                      </a:r>
                    </a:p>
                  </a:txBody>
                  <a:tcPr marL="0" marR="0" marT="0" marB="0" anchor="ctr"/>
                </a:tc>
                <a:tc>
                  <a:txBody>
                    <a:bodyPr/>
                    <a:lstStyle/>
                    <a:p>
                      <a:pPr algn="ctr" fontAlgn="ctr"/>
                      <a:r>
                        <a:rPr lang="en-NA" sz="1100" b="0" i="0" u="none" strike="noStrike">
                          <a:solidFill>
                            <a:srgbClr val="000000"/>
                          </a:solidFill>
                          <a:effectLst/>
                          <a:latin typeface="+mn-lt"/>
                        </a:rPr>
                        <a:t>26.90</a:t>
                      </a:r>
                    </a:p>
                  </a:txBody>
                  <a:tcPr marL="0" marR="0" marT="0" marB="0" anchor="ctr"/>
                </a:tc>
                <a:tc>
                  <a:txBody>
                    <a:bodyPr/>
                    <a:lstStyle/>
                    <a:p>
                      <a:pPr algn="ctr" fontAlgn="ctr"/>
                      <a:r>
                        <a:rPr lang="en-NA" sz="1100" b="0" i="0" u="none" strike="noStrike">
                          <a:solidFill>
                            <a:srgbClr val="000000"/>
                          </a:solidFill>
                          <a:effectLst/>
                          <a:latin typeface="+mn-lt"/>
                        </a:rPr>
                        <a:t>36.01</a:t>
                      </a:r>
                    </a:p>
                  </a:txBody>
                  <a:tcPr marL="0" marR="0" marT="0" marB="0" anchor="ctr"/>
                </a:tc>
                <a:tc>
                  <a:txBody>
                    <a:bodyPr/>
                    <a:lstStyle/>
                    <a:p>
                      <a:pPr algn="ctr" fontAlgn="ctr"/>
                      <a:r>
                        <a:rPr lang="en-NA" sz="1100" b="0" i="0" u="none" strike="noStrike">
                          <a:solidFill>
                            <a:srgbClr val="000000"/>
                          </a:solidFill>
                          <a:effectLst/>
                          <a:latin typeface="+mn-lt"/>
                        </a:rPr>
                        <a:t>36.01</a:t>
                      </a:r>
                    </a:p>
                  </a:txBody>
                  <a:tcPr marL="0" marR="0" marT="0" marB="0" anchor="ctr"/>
                </a:tc>
                <a:tc>
                  <a:txBody>
                    <a:bodyPr/>
                    <a:lstStyle/>
                    <a:p>
                      <a:pPr algn="ctr" fontAlgn="ctr"/>
                      <a:r>
                        <a:rPr lang="en-NA" sz="1100" b="0" i="0" u="none" strike="noStrike">
                          <a:solidFill>
                            <a:srgbClr val="000000"/>
                          </a:solidFill>
                          <a:effectLst/>
                          <a:latin typeface="+mn-lt"/>
                        </a:rPr>
                        <a:t>252</a:t>
                      </a:r>
                    </a:p>
                  </a:txBody>
                  <a:tcPr marL="0" marR="0" marT="0" marB="0" anchor="ctr"/>
                </a:tc>
                <a:tc>
                  <a:txBody>
                    <a:bodyPr/>
                    <a:lstStyle/>
                    <a:p>
                      <a:pPr algn="ctr" fontAlgn="ctr"/>
                      <a:r>
                        <a:rPr lang="en-NA" sz="1100" b="0" i="0" u="none" strike="noStrike">
                          <a:solidFill>
                            <a:srgbClr val="000000"/>
                          </a:solidFill>
                          <a:effectLst/>
                          <a:latin typeface="+mn-lt"/>
                        </a:rPr>
                        <a:t>339</a:t>
                      </a:r>
                    </a:p>
                  </a:txBody>
                  <a:tcPr marL="0" marR="0" marT="0" marB="0" anchor="ctr"/>
                </a:tc>
                <a:extLst>
                  <a:ext uri="{0D108BD9-81ED-4DB2-BD59-A6C34878D82A}">
                    <a16:rowId xmlns:a16="http://schemas.microsoft.com/office/drawing/2014/main" val="1274896004"/>
                  </a:ext>
                </a:extLst>
              </a:tr>
              <a:tr h="370840">
                <a:tc>
                  <a:txBody>
                    <a:bodyPr/>
                    <a:lstStyle/>
                    <a:p>
                      <a:pPr algn="l" fontAlgn="ctr"/>
                      <a:r>
                        <a:rPr lang="en-NA" sz="1100" b="0" i="0" u="none" strike="noStrike">
                          <a:solidFill>
                            <a:srgbClr val="000000"/>
                          </a:solidFill>
                          <a:effectLst/>
                          <a:latin typeface="+mn-lt"/>
                        </a:rPr>
                        <a:t>3</a:t>
                      </a:r>
                    </a:p>
                  </a:txBody>
                  <a:tcPr marL="0" marR="0" marT="0" marB="0" anchor="ctr"/>
                </a:tc>
                <a:tc>
                  <a:txBody>
                    <a:bodyPr/>
                    <a:lstStyle/>
                    <a:p>
                      <a:pPr algn="ctr" fontAlgn="ctr"/>
                      <a:r>
                        <a:rPr lang="en-NA" sz="1100" b="0" i="0" u="none" strike="noStrike">
                          <a:solidFill>
                            <a:srgbClr val="000000"/>
                          </a:solidFill>
                          <a:effectLst/>
                          <a:latin typeface="+mn-lt"/>
                        </a:rPr>
                        <a:t>404</a:t>
                      </a:r>
                    </a:p>
                  </a:txBody>
                  <a:tcPr marL="0" marR="0" marT="0" marB="0" anchor="ctr"/>
                </a:tc>
                <a:tc>
                  <a:txBody>
                    <a:bodyPr/>
                    <a:lstStyle/>
                    <a:p>
                      <a:pPr algn="ctr" fontAlgn="ctr"/>
                      <a:r>
                        <a:rPr lang="en-NA" sz="1100" b="0" i="0" u="none" strike="noStrike">
                          <a:solidFill>
                            <a:srgbClr val="000000"/>
                          </a:solidFill>
                          <a:effectLst/>
                          <a:latin typeface="+mn-lt"/>
                        </a:rPr>
                        <a:t>210</a:t>
                      </a:r>
                    </a:p>
                  </a:txBody>
                  <a:tcPr marL="0" marR="0" marT="0" marB="0" anchor="ctr"/>
                </a:tc>
                <a:tc>
                  <a:txBody>
                    <a:bodyPr/>
                    <a:lstStyle/>
                    <a:p>
                      <a:pPr algn="ctr" fontAlgn="ctr"/>
                      <a:r>
                        <a:rPr lang="en-NA" sz="1100" b="0" i="0" u="none" strike="noStrike">
                          <a:solidFill>
                            <a:srgbClr val="000000"/>
                          </a:solidFill>
                          <a:effectLst/>
                          <a:latin typeface="+mn-lt"/>
                        </a:rPr>
                        <a:t>810</a:t>
                      </a:r>
                    </a:p>
                  </a:txBody>
                  <a:tcPr marL="0" marR="0" marT="0" marB="0" anchor="ctr"/>
                </a:tc>
                <a:tc>
                  <a:txBody>
                    <a:bodyPr/>
                    <a:lstStyle/>
                    <a:p>
                      <a:pPr algn="ctr" fontAlgn="ctr"/>
                      <a:r>
                        <a:rPr lang="en-NA" sz="1100" b="0" i="0" u="none" strike="noStrike">
                          <a:solidFill>
                            <a:srgbClr val="000000"/>
                          </a:solidFill>
                          <a:effectLst/>
                          <a:latin typeface="+mn-lt"/>
                        </a:rPr>
                        <a:t>253</a:t>
                      </a:r>
                    </a:p>
                  </a:txBody>
                  <a:tcPr marL="0" marR="0" marT="0" marB="0" anchor="ctr"/>
                </a:tc>
                <a:tc>
                  <a:txBody>
                    <a:bodyPr/>
                    <a:lstStyle/>
                    <a:p>
                      <a:pPr algn="ctr" fontAlgn="ctr"/>
                      <a:r>
                        <a:rPr lang="en-NA" sz="1100" b="0" i="0" u="none" strike="noStrike">
                          <a:solidFill>
                            <a:srgbClr val="000000"/>
                          </a:solidFill>
                          <a:effectLst/>
                          <a:latin typeface="+mn-lt"/>
                        </a:rPr>
                        <a:t>688.19</a:t>
                      </a:r>
                    </a:p>
                  </a:txBody>
                  <a:tcPr marL="0" marR="0" marT="0" marB="0" anchor="ctr"/>
                </a:tc>
                <a:tc>
                  <a:txBody>
                    <a:bodyPr/>
                    <a:lstStyle/>
                    <a:p>
                      <a:pPr algn="ctr" fontAlgn="ctr"/>
                      <a:r>
                        <a:rPr lang="en-NA" sz="1100" b="0" i="0" u="none" strike="noStrike">
                          <a:solidFill>
                            <a:srgbClr val="000000"/>
                          </a:solidFill>
                          <a:effectLst/>
                          <a:latin typeface="+mn-lt"/>
                        </a:rPr>
                        <a:t>128.35</a:t>
                      </a:r>
                    </a:p>
                  </a:txBody>
                  <a:tcPr marL="0" marR="0" marT="0" marB="0" anchor="ctr"/>
                </a:tc>
                <a:tc>
                  <a:txBody>
                    <a:bodyPr/>
                    <a:lstStyle/>
                    <a:p>
                      <a:pPr algn="ctr" fontAlgn="ctr"/>
                      <a:r>
                        <a:rPr lang="en-NA" sz="1100" b="0" i="0" u="none" strike="noStrike" dirty="0">
                          <a:solidFill>
                            <a:srgbClr val="000000"/>
                          </a:solidFill>
                          <a:effectLst/>
                          <a:latin typeface="+mn-lt"/>
                        </a:rPr>
                        <a:t>32.48</a:t>
                      </a:r>
                    </a:p>
                  </a:txBody>
                  <a:tcPr marL="0" marR="0" marT="0" marB="0" anchor="ctr"/>
                </a:tc>
                <a:tc>
                  <a:txBody>
                    <a:bodyPr/>
                    <a:lstStyle/>
                    <a:p>
                      <a:pPr algn="ctr" fontAlgn="ctr"/>
                      <a:r>
                        <a:rPr lang="en-NA" sz="1100" b="0" i="0" u="none" strike="noStrike">
                          <a:solidFill>
                            <a:srgbClr val="000000"/>
                          </a:solidFill>
                          <a:effectLst/>
                          <a:latin typeface="+mn-lt"/>
                        </a:rPr>
                        <a:t>37.03</a:t>
                      </a:r>
                    </a:p>
                  </a:txBody>
                  <a:tcPr marL="0" marR="0" marT="0" marB="0" anchor="ctr"/>
                </a:tc>
                <a:tc>
                  <a:txBody>
                    <a:bodyPr/>
                    <a:lstStyle/>
                    <a:p>
                      <a:pPr algn="ctr" fontAlgn="ctr"/>
                      <a:r>
                        <a:rPr lang="en-NA" sz="1100" b="0" i="0" u="none" strike="noStrike">
                          <a:solidFill>
                            <a:srgbClr val="000000"/>
                          </a:solidFill>
                          <a:effectLst/>
                          <a:latin typeface="+mn-lt"/>
                        </a:rPr>
                        <a:t>37.03</a:t>
                      </a:r>
                    </a:p>
                  </a:txBody>
                  <a:tcPr marL="0" marR="0" marT="0" marB="0" anchor="ctr"/>
                </a:tc>
                <a:tc>
                  <a:txBody>
                    <a:bodyPr/>
                    <a:lstStyle/>
                    <a:p>
                      <a:pPr algn="ctr" fontAlgn="ctr"/>
                      <a:r>
                        <a:rPr lang="en-NA" sz="1100" b="0" i="0" u="none" strike="noStrike">
                          <a:solidFill>
                            <a:srgbClr val="000000"/>
                          </a:solidFill>
                          <a:effectLst/>
                          <a:latin typeface="+mn-lt"/>
                        </a:rPr>
                        <a:t>266</a:t>
                      </a:r>
                    </a:p>
                  </a:txBody>
                  <a:tcPr marL="0" marR="0" marT="0" marB="0" anchor="ctr"/>
                </a:tc>
                <a:tc>
                  <a:txBody>
                    <a:bodyPr/>
                    <a:lstStyle/>
                    <a:p>
                      <a:pPr algn="ctr" fontAlgn="ctr"/>
                      <a:r>
                        <a:rPr lang="en-NA" sz="1100" b="0" i="0" u="none" strike="noStrike">
                          <a:solidFill>
                            <a:srgbClr val="000000"/>
                          </a:solidFill>
                          <a:effectLst/>
                          <a:latin typeface="+mn-lt"/>
                        </a:rPr>
                        <a:t>362</a:t>
                      </a:r>
                    </a:p>
                  </a:txBody>
                  <a:tcPr marL="0" marR="0" marT="0" marB="0" anchor="ctr"/>
                </a:tc>
                <a:extLst>
                  <a:ext uri="{0D108BD9-81ED-4DB2-BD59-A6C34878D82A}">
                    <a16:rowId xmlns:a16="http://schemas.microsoft.com/office/drawing/2014/main" val="182100883"/>
                  </a:ext>
                </a:extLst>
              </a:tr>
              <a:tr h="370840">
                <a:tc>
                  <a:txBody>
                    <a:bodyPr/>
                    <a:lstStyle/>
                    <a:p>
                      <a:pPr algn="l" fontAlgn="ctr"/>
                      <a:r>
                        <a:rPr lang="en-NA" sz="1100" b="0" i="0" u="none" strike="noStrike">
                          <a:solidFill>
                            <a:srgbClr val="000000"/>
                          </a:solidFill>
                          <a:effectLst/>
                          <a:latin typeface="+mn-lt"/>
                        </a:rPr>
                        <a:t>4</a:t>
                      </a:r>
                    </a:p>
                  </a:txBody>
                  <a:tcPr marL="0" marR="0" marT="0" marB="0" anchor="ctr"/>
                </a:tc>
                <a:tc>
                  <a:txBody>
                    <a:bodyPr/>
                    <a:lstStyle/>
                    <a:p>
                      <a:pPr algn="ctr" fontAlgn="ctr"/>
                      <a:r>
                        <a:rPr lang="en-NA" sz="1100" b="0" i="0" u="none" strike="noStrike">
                          <a:solidFill>
                            <a:srgbClr val="000000"/>
                          </a:solidFill>
                          <a:effectLst/>
                          <a:latin typeface="+mn-lt"/>
                        </a:rPr>
                        <a:t>431</a:t>
                      </a:r>
                    </a:p>
                  </a:txBody>
                  <a:tcPr marL="0" marR="0" marT="0" marB="0" anchor="ctr"/>
                </a:tc>
                <a:tc>
                  <a:txBody>
                    <a:bodyPr/>
                    <a:lstStyle/>
                    <a:p>
                      <a:pPr algn="ctr" fontAlgn="ctr"/>
                      <a:r>
                        <a:rPr lang="en-NA" sz="1100" b="0" i="0" u="none" strike="noStrike">
                          <a:solidFill>
                            <a:srgbClr val="000000"/>
                          </a:solidFill>
                          <a:effectLst/>
                          <a:latin typeface="+mn-lt"/>
                        </a:rPr>
                        <a:t>224</a:t>
                      </a:r>
                    </a:p>
                  </a:txBody>
                  <a:tcPr marL="0" marR="0" marT="0" marB="0" anchor="ctr"/>
                </a:tc>
                <a:tc>
                  <a:txBody>
                    <a:bodyPr/>
                    <a:lstStyle/>
                    <a:p>
                      <a:pPr algn="ctr" fontAlgn="ctr"/>
                      <a:r>
                        <a:rPr lang="en-NA" sz="1100" b="0" i="0" u="none" strike="noStrike">
                          <a:solidFill>
                            <a:srgbClr val="000000"/>
                          </a:solidFill>
                          <a:effectLst/>
                          <a:latin typeface="+mn-lt"/>
                        </a:rPr>
                        <a:t>906</a:t>
                      </a:r>
                    </a:p>
                  </a:txBody>
                  <a:tcPr marL="0" marR="0" marT="0" marB="0" anchor="ctr"/>
                </a:tc>
                <a:tc>
                  <a:txBody>
                    <a:bodyPr/>
                    <a:lstStyle/>
                    <a:p>
                      <a:pPr algn="ctr" fontAlgn="ctr"/>
                      <a:r>
                        <a:rPr lang="en-NA" sz="1100" b="0" i="0" u="none" strike="noStrike">
                          <a:solidFill>
                            <a:srgbClr val="000000"/>
                          </a:solidFill>
                          <a:effectLst/>
                          <a:latin typeface="+mn-lt"/>
                        </a:rPr>
                        <a:t>294</a:t>
                      </a:r>
                    </a:p>
                  </a:txBody>
                  <a:tcPr marL="0" marR="0" marT="0" marB="0" anchor="ctr"/>
                </a:tc>
                <a:tc>
                  <a:txBody>
                    <a:bodyPr/>
                    <a:lstStyle/>
                    <a:p>
                      <a:pPr algn="ctr" fontAlgn="ctr"/>
                      <a:r>
                        <a:rPr lang="en-NA" sz="1100" b="0" i="0" u="none" strike="noStrike">
                          <a:solidFill>
                            <a:srgbClr val="000000"/>
                          </a:solidFill>
                          <a:effectLst/>
                          <a:latin typeface="+mn-lt"/>
                        </a:rPr>
                        <a:t>722.78</a:t>
                      </a:r>
                    </a:p>
                  </a:txBody>
                  <a:tcPr marL="0" marR="0" marT="0" marB="0" anchor="ctr"/>
                </a:tc>
                <a:tc>
                  <a:txBody>
                    <a:bodyPr/>
                    <a:lstStyle/>
                    <a:p>
                      <a:pPr algn="ctr" fontAlgn="ctr"/>
                      <a:r>
                        <a:rPr lang="en-NA" sz="1100" b="0" i="0" u="none" strike="noStrike">
                          <a:solidFill>
                            <a:srgbClr val="000000"/>
                          </a:solidFill>
                          <a:effectLst/>
                          <a:latin typeface="+mn-lt"/>
                        </a:rPr>
                        <a:t>153.48</a:t>
                      </a:r>
                    </a:p>
                  </a:txBody>
                  <a:tcPr marL="0" marR="0" marT="0" marB="0" anchor="ctr"/>
                </a:tc>
                <a:tc>
                  <a:txBody>
                    <a:bodyPr/>
                    <a:lstStyle/>
                    <a:p>
                      <a:pPr algn="ctr" fontAlgn="ctr"/>
                      <a:r>
                        <a:rPr lang="en-NA" sz="1100" b="0" i="0" u="none" strike="noStrike">
                          <a:solidFill>
                            <a:srgbClr val="000000"/>
                          </a:solidFill>
                          <a:effectLst/>
                          <a:latin typeface="+mn-lt"/>
                        </a:rPr>
                        <a:t>36.65</a:t>
                      </a:r>
                    </a:p>
                  </a:txBody>
                  <a:tcPr marL="0" marR="0" marT="0" marB="0" anchor="ctr"/>
                </a:tc>
                <a:tc>
                  <a:txBody>
                    <a:bodyPr/>
                    <a:lstStyle/>
                    <a:p>
                      <a:pPr algn="ctr" fontAlgn="ctr"/>
                      <a:r>
                        <a:rPr lang="en-NA" sz="1100" b="0" i="0" u="none" strike="noStrike">
                          <a:solidFill>
                            <a:srgbClr val="000000"/>
                          </a:solidFill>
                          <a:effectLst/>
                          <a:latin typeface="+mn-lt"/>
                        </a:rPr>
                        <a:t>38.52</a:t>
                      </a:r>
                    </a:p>
                  </a:txBody>
                  <a:tcPr marL="0" marR="0" marT="0" marB="0" anchor="ctr"/>
                </a:tc>
                <a:tc>
                  <a:txBody>
                    <a:bodyPr/>
                    <a:lstStyle/>
                    <a:p>
                      <a:pPr algn="ctr" fontAlgn="ctr"/>
                      <a:r>
                        <a:rPr lang="en-NA" sz="1100" b="0" i="0" u="none" strike="noStrike">
                          <a:solidFill>
                            <a:srgbClr val="000000"/>
                          </a:solidFill>
                          <a:effectLst/>
                          <a:latin typeface="+mn-lt"/>
                        </a:rPr>
                        <a:t>38.52</a:t>
                      </a:r>
                    </a:p>
                  </a:txBody>
                  <a:tcPr marL="0" marR="0" marT="0" marB="0" anchor="ctr"/>
                </a:tc>
                <a:tc>
                  <a:txBody>
                    <a:bodyPr/>
                    <a:lstStyle/>
                    <a:p>
                      <a:pPr algn="ctr" fontAlgn="ctr"/>
                      <a:r>
                        <a:rPr lang="en-NA" sz="1100" b="0" i="0" u="none" strike="noStrike">
                          <a:solidFill>
                            <a:srgbClr val="000000"/>
                          </a:solidFill>
                          <a:effectLst/>
                          <a:latin typeface="+mn-lt"/>
                        </a:rPr>
                        <a:t>281</a:t>
                      </a:r>
                    </a:p>
                  </a:txBody>
                  <a:tcPr marL="0" marR="0" marT="0" marB="0" anchor="ctr"/>
                </a:tc>
                <a:tc>
                  <a:txBody>
                    <a:bodyPr/>
                    <a:lstStyle/>
                    <a:p>
                      <a:pPr algn="ctr" fontAlgn="ctr"/>
                      <a:r>
                        <a:rPr lang="en-NA" sz="1100" b="0" i="0" u="none" strike="noStrike">
                          <a:solidFill>
                            <a:srgbClr val="000000"/>
                          </a:solidFill>
                          <a:effectLst/>
                          <a:latin typeface="+mn-lt"/>
                        </a:rPr>
                        <a:t>382</a:t>
                      </a:r>
                    </a:p>
                  </a:txBody>
                  <a:tcPr marL="0" marR="0" marT="0" marB="0" anchor="ctr"/>
                </a:tc>
                <a:extLst>
                  <a:ext uri="{0D108BD9-81ED-4DB2-BD59-A6C34878D82A}">
                    <a16:rowId xmlns:a16="http://schemas.microsoft.com/office/drawing/2014/main" val="448068047"/>
                  </a:ext>
                </a:extLst>
              </a:tr>
              <a:tr h="370840">
                <a:tc>
                  <a:txBody>
                    <a:bodyPr/>
                    <a:lstStyle/>
                    <a:p>
                      <a:pPr algn="l" fontAlgn="ctr"/>
                      <a:r>
                        <a:rPr lang="en-GB" sz="1100" b="0" i="0" u="none" strike="noStrike">
                          <a:solidFill>
                            <a:srgbClr val="000000"/>
                          </a:solidFill>
                          <a:effectLst/>
                          <a:latin typeface="+mn-lt"/>
                        </a:rPr>
                        <a:t>Highest quintile</a:t>
                      </a:r>
                    </a:p>
                  </a:txBody>
                  <a:tcPr marL="0" marR="0" marT="0" marB="0" anchor="ctr"/>
                </a:tc>
                <a:tc>
                  <a:txBody>
                    <a:bodyPr/>
                    <a:lstStyle/>
                    <a:p>
                      <a:pPr algn="ctr" fontAlgn="ctr"/>
                      <a:r>
                        <a:rPr lang="en-NA" sz="1100" b="0" i="0" u="none" strike="noStrike">
                          <a:solidFill>
                            <a:srgbClr val="000000"/>
                          </a:solidFill>
                          <a:effectLst/>
                          <a:latin typeface="+mn-lt"/>
                        </a:rPr>
                        <a:t>462</a:t>
                      </a:r>
                    </a:p>
                  </a:txBody>
                  <a:tcPr marL="0" marR="0" marT="0" marB="0" anchor="ctr"/>
                </a:tc>
                <a:tc>
                  <a:txBody>
                    <a:bodyPr/>
                    <a:lstStyle/>
                    <a:p>
                      <a:pPr algn="ctr" fontAlgn="ctr"/>
                      <a:r>
                        <a:rPr lang="en-NA" sz="1100" b="0" i="0" u="none" strike="noStrike">
                          <a:solidFill>
                            <a:srgbClr val="000000"/>
                          </a:solidFill>
                          <a:effectLst/>
                          <a:latin typeface="+mn-lt"/>
                        </a:rPr>
                        <a:t>269</a:t>
                      </a:r>
                    </a:p>
                  </a:txBody>
                  <a:tcPr marL="0" marR="0" marT="0" marB="0" anchor="ctr"/>
                </a:tc>
                <a:tc>
                  <a:txBody>
                    <a:bodyPr/>
                    <a:lstStyle/>
                    <a:p>
                      <a:pPr algn="ctr" fontAlgn="ctr"/>
                      <a:r>
                        <a:rPr lang="en-NA" sz="1100" b="0" i="0" u="none" strike="noStrike">
                          <a:solidFill>
                            <a:srgbClr val="000000"/>
                          </a:solidFill>
                          <a:effectLst/>
                          <a:latin typeface="+mn-lt"/>
                        </a:rPr>
                        <a:t>1052</a:t>
                      </a:r>
                    </a:p>
                  </a:txBody>
                  <a:tcPr marL="0" marR="0" marT="0" marB="0" anchor="ctr"/>
                </a:tc>
                <a:tc>
                  <a:txBody>
                    <a:bodyPr/>
                    <a:lstStyle/>
                    <a:p>
                      <a:pPr algn="ctr" fontAlgn="ctr"/>
                      <a:r>
                        <a:rPr lang="en-NA" sz="1100" b="0" i="0" u="none" strike="noStrike">
                          <a:solidFill>
                            <a:srgbClr val="000000"/>
                          </a:solidFill>
                          <a:effectLst/>
                          <a:latin typeface="+mn-lt"/>
                        </a:rPr>
                        <a:t>453</a:t>
                      </a:r>
                    </a:p>
                  </a:txBody>
                  <a:tcPr marL="0" marR="0" marT="0" marB="0" anchor="ctr"/>
                </a:tc>
                <a:tc>
                  <a:txBody>
                    <a:bodyPr/>
                    <a:lstStyle/>
                    <a:p>
                      <a:pPr algn="ctr" fontAlgn="ctr"/>
                      <a:r>
                        <a:rPr lang="en-NA" sz="1100" b="0" i="0" u="none" strike="noStrike">
                          <a:solidFill>
                            <a:srgbClr val="000000"/>
                          </a:solidFill>
                          <a:effectLst/>
                          <a:latin typeface="+mn-lt"/>
                        </a:rPr>
                        <a:t>818.19</a:t>
                      </a:r>
                    </a:p>
                  </a:txBody>
                  <a:tcPr marL="0" marR="0" marT="0" marB="0" anchor="ctr"/>
                </a:tc>
                <a:tc>
                  <a:txBody>
                    <a:bodyPr/>
                    <a:lstStyle/>
                    <a:p>
                      <a:pPr algn="ctr" fontAlgn="ctr"/>
                      <a:r>
                        <a:rPr lang="en-NA" sz="1100" b="0" i="0" u="none" strike="noStrike">
                          <a:solidFill>
                            <a:srgbClr val="000000"/>
                          </a:solidFill>
                          <a:effectLst/>
                          <a:latin typeface="+mn-lt"/>
                        </a:rPr>
                        <a:t>219.62</a:t>
                      </a:r>
                    </a:p>
                  </a:txBody>
                  <a:tcPr marL="0" marR="0" marT="0" marB="0" anchor="ctr"/>
                </a:tc>
                <a:tc>
                  <a:txBody>
                    <a:bodyPr/>
                    <a:lstStyle/>
                    <a:p>
                      <a:pPr algn="ctr" fontAlgn="ctr"/>
                      <a:r>
                        <a:rPr lang="en-NA" sz="1100" b="0" i="0" u="none" strike="noStrike">
                          <a:solidFill>
                            <a:srgbClr val="000000"/>
                          </a:solidFill>
                          <a:effectLst/>
                          <a:latin typeface="+mn-lt"/>
                        </a:rPr>
                        <a:t>52.11</a:t>
                      </a:r>
                    </a:p>
                  </a:txBody>
                  <a:tcPr marL="0" marR="0" marT="0" marB="0" anchor="ctr"/>
                </a:tc>
                <a:tc>
                  <a:txBody>
                    <a:bodyPr/>
                    <a:lstStyle/>
                    <a:p>
                      <a:pPr algn="ctr" fontAlgn="ctr"/>
                      <a:r>
                        <a:rPr lang="en-NA" sz="1100" b="0" i="0" u="none" strike="noStrike">
                          <a:solidFill>
                            <a:srgbClr val="000000"/>
                          </a:solidFill>
                          <a:effectLst/>
                          <a:latin typeface="+mn-lt"/>
                        </a:rPr>
                        <a:t>41.37</a:t>
                      </a:r>
                    </a:p>
                  </a:txBody>
                  <a:tcPr marL="0" marR="0" marT="0" marB="0" anchor="ctr"/>
                </a:tc>
                <a:tc>
                  <a:txBody>
                    <a:bodyPr/>
                    <a:lstStyle/>
                    <a:p>
                      <a:pPr algn="ctr" fontAlgn="ctr"/>
                      <a:r>
                        <a:rPr lang="en-NA" sz="1100" b="0" i="0" u="none" strike="noStrike">
                          <a:solidFill>
                            <a:srgbClr val="000000"/>
                          </a:solidFill>
                          <a:effectLst/>
                          <a:latin typeface="+mn-lt"/>
                        </a:rPr>
                        <a:t>41.37</a:t>
                      </a:r>
                    </a:p>
                  </a:txBody>
                  <a:tcPr marL="0" marR="0" marT="0" marB="0" anchor="ctr"/>
                </a:tc>
                <a:tc>
                  <a:txBody>
                    <a:bodyPr/>
                    <a:lstStyle/>
                    <a:p>
                      <a:pPr algn="ctr" fontAlgn="ctr"/>
                      <a:r>
                        <a:rPr lang="en-NA" sz="1100" b="0" i="0" u="none" strike="noStrike">
                          <a:solidFill>
                            <a:srgbClr val="000000"/>
                          </a:solidFill>
                          <a:effectLst/>
                          <a:latin typeface="+mn-lt"/>
                        </a:rPr>
                        <a:t>300</a:t>
                      </a:r>
                    </a:p>
                  </a:txBody>
                  <a:tcPr marL="0" marR="0" marT="0" marB="0" anchor="ctr"/>
                </a:tc>
                <a:tc>
                  <a:txBody>
                    <a:bodyPr/>
                    <a:lstStyle/>
                    <a:p>
                      <a:pPr algn="ctr" fontAlgn="ctr"/>
                      <a:r>
                        <a:rPr lang="en-NA" sz="1100" b="0" i="0" u="none" strike="noStrike">
                          <a:solidFill>
                            <a:srgbClr val="000000"/>
                          </a:solidFill>
                          <a:effectLst/>
                          <a:latin typeface="+mn-lt"/>
                        </a:rPr>
                        <a:t>411</a:t>
                      </a:r>
                    </a:p>
                  </a:txBody>
                  <a:tcPr marL="0" marR="0" marT="0" marB="0" anchor="ctr"/>
                </a:tc>
                <a:extLst>
                  <a:ext uri="{0D108BD9-81ED-4DB2-BD59-A6C34878D82A}">
                    <a16:rowId xmlns:a16="http://schemas.microsoft.com/office/drawing/2014/main" val="1212388401"/>
                  </a:ext>
                </a:extLst>
              </a:tr>
              <a:tr h="370840">
                <a:tc gridSpan="8">
                  <a:txBody>
                    <a:bodyPr/>
                    <a:lstStyle/>
                    <a:p>
                      <a:pPr algn="l" fontAlgn="ctr"/>
                      <a:r>
                        <a:rPr lang="en-GB" sz="1100" b="1" i="0" u="none" strike="noStrike" dirty="0">
                          <a:solidFill>
                            <a:srgbClr val="000000"/>
                          </a:solidFill>
                          <a:effectLst/>
                          <a:latin typeface="+mn-lt"/>
                        </a:rPr>
                        <a:t>urban/rural (2 categories)</a:t>
                      </a:r>
                    </a:p>
                  </a:txBody>
                  <a:tcPr marL="0" marR="0" marT="0" marB="0" anchor="ctr"/>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hMerge="1">
                  <a:txBody>
                    <a:bodyPr/>
                    <a:lstStyle/>
                    <a:p>
                      <a:pPr algn="l" fontAlgn="b"/>
                      <a:endParaRPr lang="en-NA" sz="1400" b="0" i="0" u="none" strike="noStrike" dirty="0">
                        <a:solidFill>
                          <a:srgbClr val="000000"/>
                        </a:solidFill>
                        <a:effectLst/>
                        <a:latin typeface="+mn-lt"/>
                      </a:endParaRPr>
                    </a:p>
                  </a:txBody>
                  <a:tcPr marL="0" marR="0" marT="0" marB="0" anchor="b"/>
                </a:tc>
                <a:tc>
                  <a:txBody>
                    <a:bodyPr/>
                    <a:lstStyle/>
                    <a:p>
                      <a:pPr algn="l" fontAlgn="b"/>
                      <a:endParaRPr lang="en-NA" sz="1400" b="0" i="0" u="none" strike="noStrike" dirty="0">
                        <a:solidFill>
                          <a:srgbClr val="000000"/>
                        </a:solidFill>
                        <a:effectLst/>
                        <a:latin typeface="+mn-lt"/>
                      </a:endParaRPr>
                    </a:p>
                  </a:txBody>
                  <a:tcPr marL="0" marR="0" marT="0" marB="0" anchor="b"/>
                </a:tc>
                <a:tc>
                  <a:txBody>
                    <a:bodyPr/>
                    <a:lstStyle/>
                    <a:p>
                      <a:pPr algn="l" fontAlgn="b"/>
                      <a:endParaRPr lang="en-NA" sz="1400" b="0" i="0" u="none" strike="noStrike" dirty="0">
                        <a:solidFill>
                          <a:srgbClr val="000000"/>
                        </a:solidFill>
                        <a:effectLst/>
                        <a:latin typeface="+mn-lt"/>
                      </a:endParaRPr>
                    </a:p>
                  </a:txBody>
                  <a:tcPr marL="0" marR="0" marT="0" marB="0" anchor="b"/>
                </a:tc>
                <a:tc>
                  <a:txBody>
                    <a:bodyPr/>
                    <a:lstStyle/>
                    <a:p>
                      <a:pPr algn="l" fontAlgn="b"/>
                      <a:endParaRPr lang="en-NA" sz="1400" b="0" i="0" u="none" strike="noStrike">
                        <a:solidFill>
                          <a:srgbClr val="000000"/>
                        </a:solidFill>
                        <a:effectLst/>
                        <a:latin typeface="+mn-lt"/>
                      </a:endParaRPr>
                    </a:p>
                  </a:txBody>
                  <a:tcPr marL="0" marR="0" marT="0" marB="0" anchor="b"/>
                </a:tc>
                <a:tc>
                  <a:txBody>
                    <a:bodyPr/>
                    <a:lstStyle/>
                    <a:p>
                      <a:pPr algn="l" fontAlgn="b"/>
                      <a:endParaRPr lang="en-NA" sz="1400" b="0" i="0" u="none" strike="noStrike" dirty="0">
                        <a:solidFill>
                          <a:srgbClr val="000000"/>
                        </a:solidFill>
                        <a:effectLst/>
                        <a:latin typeface="+mn-lt"/>
                      </a:endParaRPr>
                    </a:p>
                  </a:txBody>
                  <a:tcPr marL="0" marR="0" marT="0" marB="0" anchor="b"/>
                </a:tc>
                <a:extLst>
                  <a:ext uri="{0D108BD9-81ED-4DB2-BD59-A6C34878D82A}">
                    <a16:rowId xmlns:a16="http://schemas.microsoft.com/office/drawing/2014/main" val="1765586478"/>
                  </a:ext>
                </a:extLst>
              </a:tr>
              <a:tr h="370840">
                <a:tc>
                  <a:txBody>
                    <a:bodyPr/>
                    <a:lstStyle/>
                    <a:p>
                      <a:pPr algn="l" fontAlgn="ctr"/>
                      <a:r>
                        <a:rPr lang="en-GB" sz="1100" b="0" i="0" u="none" strike="noStrike">
                          <a:solidFill>
                            <a:srgbClr val="000000"/>
                          </a:solidFill>
                          <a:effectLst/>
                          <a:latin typeface="+mn-lt"/>
                        </a:rPr>
                        <a:t>Urban</a:t>
                      </a:r>
                    </a:p>
                  </a:txBody>
                  <a:tcPr marL="0" marR="0" marT="0" marB="0" anchor="ctr"/>
                </a:tc>
                <a:tc>
                  <a:txBody>
                    <a:bodyPr/>
                    <a:lstStyle/>
                    <a:p>
                      <a:pPr algn="ctr" fontAlgn="ctr"/>
                      <a:r>
                        <a:rPr lang="en-NA" sz="1100" b="0" i="0" u="none" strike="noStrike">
                          <a:solidFill>
                            <a:srgbClr val="000000"/>
                          </a:solidFill>
                          <a:effectLst/>
                          <a:latin typeface="+mn-lt"/>
                        </a:rPr>
                        <a:t>353</a:t>
                      </a:r>
                    </a:p>
                  </a:txBody>
                  <a:tcPr marL="0" marR="0" marT="0" marB="0" anchor="ctr"/>
                </a:tc>
                <a:tc>
                  <a:txBody>
                    <a:bodyPr/>
                    <a:lstStyle/>
                    <a:p>
                      <a:pPr algn="ctr" fontAlgn="ctr"/>
                      <a:r>
                        <a:rPr lang="en-NA" sz="1100" b="0" i="0" u="none" strike="noStrike">
                          <a:solidFill>
                            <a:srgbClr val="000000"/>
                          </a:solidFill>
                          <a:effectLst/>
                          <a:latin typeface="+mn-lt"/>
                        </a:rPr>
                        <a:t>181</a:t>
                      </a:r>
                    </a:p>
                  </a:txBody>
                  <a:tcPr marL="0" marR="0" marT="0" marB="0" anchor="ctr"/>
                </a:tc>
                <a:tc>
                  <a:txBody>
                    <a:bodyPr/>
                    <a:lstStyle/>
                    <a:p>
                      <a:pPr algn="ctr" fontAlgn="ctr"/>
                      <a:r>
                        <a:rPr lang="en-NA" sz="1100" b="0" i="0" u="none" strike="noStrike">
                          <a:solidFill>
                            <a:srgbClr val="000000"/>
                          </a:solidFill>
                          <a:effectLst/>
                          <a:latin typeface="+mn-lt"/>
                        </a:rPr>
                        <a:t>829</a:t>
                      </a:r>
                    </a:p>
                  </a:txBody>
                  <a:tcPr marL="0" marR="0" marT="0" marB="0" anchor="ctr"/>
                </a:tc>
                <a:tc>
                  <a:txBody>
                    <a:bodyPr/>
                    <a:lstStyle/>
                    <a:p>
                      <a:pPr algn="ctr" fontAlgn="ctr"/>
                      <a:r>
                        <a:rPr lang="en-NA" sz="1100" b="0" i="0" u="none" strike="noStrike">
                          <a:solidFill>
                            <a:srgbClr val="000000"/>
                          </a:solidFill>
                          <a:effectLst/>
                          <a:latin typeface="+mn-lt"/>
                        </a:rPr>
                        <a:t>292</a:t>
                      </a:r>
                    </a:p>
                  </a:txBody>
                  <a:tcPr marL="0" marR="0" marT="0" marB="0" anchor="ctr"/>
                </a:tc>
                <a:tc>
                  <a:txBody>
                    <a:bodyPr/>
                    <a:lstStyle/>
                    <a:p>
                      <a:pPr algn="ctr" fontAlgn="ctr"/>
                      <a:r>
                        <a:rPr lang="en-NA" sz="1100" b="0" i="0" u="none" strike="noStrike">
                          <a:solidFill>
                            <a:srgbClr val="000000"/>
                          </a:solidFill>
                          <a:effectLst/>
                          <a:latin typeface="+mn-lt"/>
                        </a:rPr>
                        <a:t>634.13</a:t>
                      </a:r>
                    </a:p>
                  </a:txBody>
                  <a:tcPr marL="0" marR="0" marT="0" marB="0" anchor="ctr"/>
                </a:tc>
                <a:tc>
                  <a:txBody>
                    <a:bodyPr/>
                    <a:lstStyle/>
                    <a:p>
                      <a:pPr algn="ctr" fontAlgn="ctr"/>
                      <a:r>
                        <a:rPr lang="en-NA" sz="1100" b="0" i="0" u="none" strike="noStrike">
                          <a:solidFill>
                            <a:srgbClr val="000000"/>
                          </a:solidFill>
                          <a:effectLst/>
                          <a:latin typeface="+mn-lt"/>
                        </a:rPr>
                        <a:t>146.57</a:t>
                      </a:r>
                    </a:p>
                  </a:txBody>
                  <a:tcPr marL="0" marR="0" marT="0" marB="0" anchor="ctr"/>
                </a:tc>
                <a:tc>
                  <a:txBody>
                    <a:bodyPr/>
                    <a:lstStyle/>
                    <a:p>
                      <a:pPr algn="ctr" fontAlgn="ctr"/>
                      <a:r>
                        <a:rPr lang="en-NA" sz="1100" b="0" i="0" u="none" strike="noStrike">
                          <a:solidFill>
                            <a:srgbClr val="000000"/>
                          </a:solidFill>
                          <a:effectLst/>
                          <a:latin typeface="+mn-lt"/>
                        </a:rPr>
                        <a:t>32.11</a:t>
                      </a:r>
                    </a:p>
                  </a:txBody>
                  <a:tcPr marL="0" marR="0" marT="0" marB="0" anchor="ctr"/>
                </a:tc>
                <a:tc>
                  <a:txBody>
                    <a:bodyPr/>
                    <a:lstStyle/>
                    <a:p>
                      <a:pPr algn="ctr" fontAlgn="ctr"/>
                      <a:r>
                        <a:rPr lang="en-NA" sz="1100" b="0" i="0" u="none" strike="noStrike">
                          <a:solidFill>
                            <a:srgbClr val="000000"/>
                          </a:solidFill>
                          <a:effectLst/>
                          <a:latin typeface="+mn-lt"/>
                        </a:rPr>
                        <a:t>28.48</a:t>
                      </a:r>
                    </a:p>
                  </a:txBody>
                  <a:tcPr marL="0" marR="0" marT="0" marB="0" anchor="ctr"/>
                </a:tc>
                <a:tc>
                  <a:txBody>
                    <a:bodyPr/>
                    <a:lstStyle/>
                    <a:p>
                      <a:pPr algn="ctr" fontAlgn="ctr"/>
                      <a:r>
                        <a:rPr lang="en-NA" sz="1100" b="0" i="0" u="none" strike="noStrike">
                          <a:solidFill>
                            <a:srgbClr val="000000"/>
                          </a:solidFill>
                          <a:effectLst/>
                          <a:latin typeface="+mn-lt"/>
                        </a:rPr>
                        <a:t>28.48</a:t>
                      </a:r>
                    </a:p>
                  </a:txBody>
                  <a:tcPr marL="0" marR="0" marT="0" marB="0" anchor="ctr"/>
                </a:tc>
                <a:tc>
                  <a:txBody>
                    <a:bodyPr/>
                    <a:lstStyle/>
                    <a:p>
                      <a:pPr algn="ctr" fontAlgn="ctr"/>
                      <a:r>
                        <a:rPr lang="en-NA" sz="1100" b="0" i="0" u="none" strike="noStrike">
                          <a:solidFill>
                            <a:srgbClr val="000000"/>
                          </a:solidFill>
                          <a:effectLst/>
                          <a:latin typeface="+mn-lt"/>
                        </a:rPr>
                        <a:t>230</a:t>
                      </a:r>
                    </a:p>
                  </a:txBody>
                  <a:tcPr marL="0" marR="0" marT="0" marB="0" anchor="ctr"/>
                </a:tc>
                <a:tc>
                  <a:txBody>
                    <a:bodyPr/>
                    <a:lstStyle/>
                    <a:p>
                      <a:pPr algn="ctr" fontAlgn="ctr"/>
                      <a:r>
                        <a:rPr lang="en-NA" sz="1100" b="0" i="0" u="none" strike="noStrike">
                          <a:solidFill>
                            <a:srgbClr val="000000"/>
                          </a:solidFill>
                          <a:effectLst/>
                          <a:latin typeface="+mn-lt"/>
                        </a:rPr>
                        <a:t>312</a:t>
                      </a:r>
                    </a:p>
                  </a:txBody>
                  <a:tcPr marL="0" marR="0" marT="0" marB="0" anchor="ctr"/>
                </a:tc>
                <a:extLst>
                  <a:ext uri="{0D108BD9-81ED-4DB2-BD59-A6C34878D82A}">
                    <a16:rowId xmlns:a16="http://schemas.microsoft.com/office/drawing/2014/main" val="1153721200"/>
                  </a:ext>
                </a:extLst>
              </a:tr>
              <a:tr h="370840">
                <a:tc>
                  <a:txBody>
                    <a:bodyPr/>
                    <a:lstStyle/>
                    <a:p>
                      <a:pPr algn="l" fontAlgn="ctr"/>
                      <a:r>
                        <a:rPr lang="en-GB" sz="1100" b="0" i="0" u="none" strike="noStrike" dirty="0">
                          <a:solidFill>
                            <a:srgbClr val="000000"/>
                          </a:solidFill>
                          <a:effectLst/>
                          <a:latin typeface="+mn-lt"/>
                        </a:rPr>
                        <a:t>Rural</a:t>
                      </a:r>
                    </a:p>
                  </a:txBody>
                  <a:tcPr marL="0" marR="0" marT="0" marB="0" anchor="ctr"/>
                </a:tc>
                <a:tc>
                  <a:txBody>
                    <a:bodyPr/>
                    <a:lstStyle/>
                    <a:p>
                      <a:pPr algn="ctr" fontAlgn="ctr"/>
                      <a:r>
                        <a:rPr lang="en-NA" sz="1100" b="0" i="0" u="none" strike="noStrike">
                          <a:solidFill>
                            <a:srgbClr val="000000"/>
                          </a:solidFill>
                          <a:effectLst/>
                          <a:latin typeface="+mn-lt"/>
                        </a:rPr>
                        <a:t>386</a:t>
                      </a:r>
                    </a:p>
                  </a:txBody>
                  <a:tcPr marL="0" marR="0" marT="0" marB="0" anchor="ctr"/>
                </a:tc>
                <a:tc>
                  <a:txBody>
                    <a:bodyPr/>
                    <a:lstStyle/>
                    <a:p>
                      <a:pPr algn="ctr" fontAlgn="ctr"/>
                      <a:r>
                        <a:rPr lang="en-NA" sz="1100" b="0" i="0" u="none" strike="noStrike" dirty="0">
                          <a:solidFill>
                            <a:srgbClr val="000000"/>
                          </a:solidFill>
                          <a:effectLst/>
                          <a:latin typeface="+mn-lt"/>
                        </a:rPr>
                        <a:t>211</a:t>
                      </a:r>
                    </a:p>
                  </a:txBody>
                  <a:tcPr marL="0" marR="0" marT="0" marB="0" anchor="ctr"/>
                </a:tc>
                <a:tc>
                  <a:txBody>
                    <a:bodyPr/>
                    <a:lstStyle/>
                    <a:p>
                      <a:pPr algn="ctr" fontAlgn="ctr"/>
                      <a:r>
                        <a:rPr lang="en-NA" sz="1100" b="0" i="0" u="none" strike="noStrike" dirty="0">
                          <a:solidFill>
                            <a:srgbClr val="000000"/>
                          </a:solidFill>
                          <a:effectLst/>
                          <a:latin typeface="+mn-lt"/>
                        </a:rPr>
                        <a:t>596</a:t>
                      </a:r>
                    </a:p>
                  </a:txBody>
                  <a:tcPr marL="0" marR="0" marT="0" marB="0" anchor="ctr"/>
                </a:tc>
                <a:tc>
                  <a:txBody>
                    <a:bodyPr/>
                    <a:lstStyle/>
                    <a:p>
                      <a:pPr algn="ctr" fontAlgn="ctr"/>
                      <a:r>
                        <a:rPr lang="en-NA" sz="1100" b="0" i="0" u="none" strike="noStrike">
                          <a:solidFill>
                            <a:srgbClr val="000000"/>
                          </a:solidFill>
                          <a:effectLst/>
                          <a:latin typeface="+mn-lt"/>
                        </a:rPr>
                        <a:t>181</a:t>
                      </a:r>
                    </a:p>
                  </a:txBody>
                  <a:tcPr marL="0" marR="0" marT="0" marB="0" anchor="ctr"/>
                </a:tc>
                <a:tc>
                  <a:txBody>
                    <a:bodyPr/>
                    <a:lstStyle/>
                    <a:p>
                      <a:pPr algn="ctr" fontAlgn="ctr"/>
                      <a:r>
                        <a:rPr lang="en-NA" sz="1100" b="0" i="0" u="none" strike="noStrike" dirty="0">
                          <a:solidFill>
                            <a:srgbClr val="000000"/>
                          </a:solidFill>
                          <a:effectLst/>
                          <a:latin typeface="+mn-lt"/>
                        </a:rPr>
                        <a:t>661.85</a:t>
                      </a:r>
                    </a:p>
                  </a:txBody>
                  <a:tcPr marL="0" marR="0" marT="0" marB="0" anchor="ctr"/>
                </a:tc>
                <a:tc>
                  <a:txBody>
                    <a:bodyPr/>
                    <a:lstStyle/>
                    <a:p>
                      <a:pPr algn="ctr" fontAlgn="ctr"/>
                      <a:r>
                        <a:rPr lang="en-NA" sz="1100" b="0" i="0" u="none" strike="noStrike" dirty="0">
                          <a:solidFill>
                            <a:srgbClr val="000000"/>
                          </a:solidFill>
                          <a:effectLst/>
                          <a:latin typeface="+mn-lt"/>
                        </a:rPr>
                        <a:t>78.38</a:t>
                      </a:r>
                    </a:p>
                  </a:txBody>
                  <a:tcPr marL="0" marR="0" marT="0" marB="0" anchor="ctr"/>
                </a:tc>
                <a:tc>
                  <a:txBody>
                    <a:bodyPr/>
                    <a:lstStyle/>
                    <a:p>
                      <a:pPr algn="ctr" fontAlgn="ctr"/>
                      <a:r>
                        <a:rPr lang="en-NA" sz="1100" b="0" i="0" u="none" strike="noStrike" dirty="0">
                          <a:solidFill>
                            <a:srgbClr val="000000"/>
                          </a:solidFill>
                          <a:effectLst/>
                          <a:latin typeface="+mn-lt"/>
                        </a:rPr>
                        <a:t>28.83</a:t>
                      </a:r>
                    </a:p>
                  </a:txBody>
                  <a:tcPr marL="0" marR="0" marT="0" marB="0" anchor="ctr"/>
                </a:tc>
                <a:tc>
                  <a:txBody>
                    <a:bodyPr/>
                    <a:lstStyle/>
                    <a:p>
                      <a:pPr algn="ctr" fontAlgn="ctr"/>
                      <a:r>
                        <a:rPr lang="en-NA" sz="1100" b="0" i="0" u="none" strike="noStrike">
                          <a:solidFill>
                            <a:srgbClr val="000000"/>
                          </a:solidFill>
                          <a:effectLst/>
                          <a:latin typeface="+mn-lt"/>
                        </a:rPr>
                        <a:t>37.41</a:t>
                      </a:r>
                    </a:p>
                  </a:txBody>
                  <a:tcPr marL="0" marR="0" marT="0" marB="0" anchor="ctr"/>
                </a:tc>
                <a:tc>
                  <a:txBody>
                    <a:bodyPr/>
                    <a:lstStyle/>
                    <a:p>
                      <a:pPr algn="ctr" fontAlgn="ctr"/>
                      <a:r>
                        <a:rPr lang="en-NA" sz="1100" b="0" i="0" u="none" strike="noStrike" dirty="0">
                          <a:solidFill>
                            <a:srgbClr val="000000"/>
                          </a:solidFill>
                          <a:effectLst/>
                          <a:latin typeface="+mn-lt"/>
                        </a:rPr>
                        <a:t>37.41</a:t>
                      </a:r>
                    </a:p>
                  </a:txBody>
                  <a:tcPr marL="0" marR="0" marT="0" marB="0" anchor="ctr"/>
                </a:tc>
                <a:tc>
                  <a:txBody>
                    <a:bodyPr/>
                    <a:lstStyle/>
                    <a:p>
                      <a:pPr algn="ctr" fontAlgn="ctr"/>
                      <a:r>
                        <a:rPr lang="en-NA" sz="1100" b="0" i="0" u="none" strike="noStrike" dirty="0">
                          <a:solidFill>
                            <a:srgbClr val="000000"/>
                          </a:solidFill>
                          <a:effectLst/>
                          <a:latin typeface="+mn-lt"/>
                        </a:rPr>
                        <a:t>261</a:t>
                      </a:r>
                    </a:p>
                  </a:txBody>
                  <a:tcPr marL="0" marR="0" marT="0" marB="0" anchor="ctr"/>
                </a:tc>
                <a:tc>
                  <a:txBody>
                    <a:bodyPr/>
                    <a:lstStyle/>
                    <a:p>
                      <a:pPr algn="ctr" fontAlgn="ctr"/>
                      <a:r>
                        <a:rPr lang="en-NA" sz="1100" b="0" i="0" u="none" strike="noStrike" dirty="0">
                          <a:solidFill>
                            <a:srgbClr val="000000"/>
                          </a:solidFill>
                          <a:effectLst/>
                          <a:latin typeface="+mn-lt"/>
                        </a:rPr>
                        <a:t>353</a:t>
                      </a:r>
                    </a:p>
                  </a:txBody>
                  <a:tcPr marL="0" marR="0" marT="0" marB="0" anchor="ctr"/>
                </a:tc>
                <a:extLst>
                  <a:ext uri="{0D108BD9-81ED-4DB2-BD59-A6C34878D82A}">
                    <a16:rowId xmlns:a16="http://schemas.microsoft.com/office/drawing/2014/main" val="3347083931"/>
                  </a:ext>
                </a:extLst>
              </a:tr>
            </a:tbl>
          </a:graphicData>
        </a:graphic>
      </p:graphicFrame>
      <p:sp>
        <p:nvSpPr>
          <p:cNvPr id="7" name="TextBox 6">
            <a:extLst>
              <a:ext uri="{FF2B5EF4-FFF2-40B4-BE49-F238E27FC236}">
                <a16:creationId xmlns:a16="http://schemas.microsoft.com/office/drawing/2014/main" id="{8ADA4EAF-D9B6-4F44-9A88-616AEC307AFA}"/>
              </a:ext>
            </a:extLst>
          </p:cNvPr>
          <p:cNvSpPr txBox="1"/>
          <p:nvPr/>
        </p:nvSpPr>
        <p:spPr>
          <a:xfrm>
            <a:off x="838200" y="1404257"/>
            <a:ext cx="10346871" cy="369332"/>
          </a:xfrm>
          <a:prstGeom prst="rect">
            <a:avLst/>
          </a:prstGeom>
          <a:noFill/>
        </p:spPr>
        <p:txBody>
          <a:bodyPr wrap="square" rtlCol="0">
            <a:spAutoFit/>
          </a:bodyPr>
          <a:lstStyle/>
          <a:p>
            <a:r>
              <a:rPr lang="en-NA" dirty="0"/>
              <a:t>The Namibian diet is providing adequte micronutrients on average, with the exception of calcium</a:t>
            </a:r>
          </a:p>
        </p:txBody>
      </p:sp>
    </p:spTree>
    <p:extLst>
      <p:ext uri="{BB962C8B-B14F-4D97-AF65-F5344CB8AC3E}">
        <p14:creationId xmlns:p14="http://schemas.microsoft.com/office/powerpoint/2010/main" val="4038317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DED4-5020-8745-A3C7-5F3C017627F1}"/>
              </a:ext>
            </a:extLst>
          </p:cNvPr>
          <p:cNvSpPr>
            <a:spLocks noGrp="1"/>
          </p:cNvSpPr>
          <p:nvPr>
            <p:ph type="title"/>
          </p:nvPr>
        </p:nvSpPr>
        <p:spPr/>
        <p:txBody>
          <a:bodyPr/>
          <a:lstStyle/>
          <a:p>
            <a:r>
              <a:rPr lang="en-US" dirty="0">
                <a:latin typeface="Tw Cen MT" panose="020B0602020104020603" pitchFamily="34" charset="0"/>
              </a:rPr>
              <a:t>Task 4: Key Findings/Results</a:t>
            </a:r>
            <a:endParaRPr lang="en-NA" dirty="0"/>
          </a:p>
        </p:txBody>
      </p:sp>
      <p:pic>
        <p:nvPicPr>
          <p:cNvPr id="4" name="Picture 3">
            <a:extLst>
              <a:ext uri="{FF2B5EF4-FFF2-40B4-BE49-F238E27FC236}">
                <a16:creationId xmlns:a16="http://schemas.microsoft.com/office/drawing/2014/main" id="{D905F042-B84C-F646-8AE4-2AE883388AF9}"/>
              </a:ext>
            </a:extLst>
          </p:cNvPr>
          <p:cNvPicPr>
            <a:picLocks noChangeAspect="1"/>
          </p:cNvPicPr>
          <p:nvPr/>
        </p:nvPicPr>
        <p:blipFill>
          <a:blip r:embed="rId2"/>
          <a:stretch>
            <a:fillRect/>
          </a:stretch>
        </p:blipFill>
        <p:spPr>
          <a:xfrm>
            <a:off x="0" y="2221592"/>
            <a:ext cx="12192000" cy="3492500"/>
          </a:xfrm>
          <a:prstGeom prst="rect">
            <a:avLst/>
          </a:prstGeom>
        </p:spPr>
      </p:pic>
      <p:sp>
        <p:nvSpPr>
          <p:cNvPr id="5" name="TextBox 4">
            <a:extLst>
              <a:ext uri="{FF2B5EF4-FFF2-40B4-BE49-F238E27FC236}">
                <a16:creationId xmlns:a16="http://schemas.microsoft.com/office/drawing/2014/main" id="{87C95203-1328-C14F-A98B-3AE76343A6CD}"/>
              </a:ext>
            </a:extLst>
          </p:cNvPr>
          <p:cNvSpPr txBox="1"/>
          <p:nvPr/>
        </p:nvSpPr>
        <p:spPr>
          <a:xfrm>
            <a:off x="838200" y="1404257"/>
            <a:ext cx="10346871" cy="646331"/>
          </a:xfrm>
          <a:prstGeom prst="rect">
            <a:avLst/>
          </a:prstGeom>
          <a:noFill/>
        </p:spPr>
        <p:txBody>
          <a:bodyPr wrap="square" rtlCol="0">
            <a:spAutoFit/>
          </a:bodyPr>
          <a:lstStyle/>
          <a:p>
            <a:r>
              <a:rPr lang="en-NA" dirty="0"/>
              <a:t>The majority of vitamins A, B1, B2, B6, zinc, folate and iron is being provided by cereals and tubers, most likely wheat flour/bread a</a:t>
            </a:r>
            <a:r>
              <a:rPr lang="en-GB" dirty="0" err="1"/>
              <a:t>nd</a:t>
            </a:r>
            <a:r>
              <a:rPr lang="en-NA" dirty="0"/>
              <a:t> maize meal – see next slide</a:t>
            </a:r>
          </a:p>
        </p:txBody>
      </p:sp>
    </p:spTree>
    <p:extLst>
      <p:ext uri="{BB962C8B-B14F-4D97-AF65-F5344CB8AC3E}">
        <p14:creationId xmlns:p14="http://schemas.microsoft.com/office/powerpoint/2010/main" val="9634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01BE9-AF56-F742-9983-685A8A3C4036}"/>
              </a:ext>
            </a:extLst>
          </p:cNvPr>
          <p:cNvSpPr>
            <a:spLocks noGrp="1"/>
          </p:cNvSpPr>
          <p:nvPr>
            <p:ph type="title"/>
          </p:nvPr>
        </p:nvSpPr>
        <p:spPr/>
        <p:txBody>
          <a:bodyPr/>
          <a:lstStyle/>
          <a:p>
            <a:r>
              <a:rPr lang="en-US" dirty="0">
                <a:latin typeface="Tw Cen MT" panose="020B0602020104020603" pitchFamily="34" charset="0"/>
              </a:rPr>
              <a:t>Task 4: Key Findings/Results</a:t>
            </a:r>
            <a:endParaRPr lang="en-NA" dirty="0"/>
          </a:p>
        </p:txBody>
      </p:sp>
      <p:sp>
        <p:nvSpPr>
          <p:cNvPr id="5" name="TextBox 4">
            <a:extLst>
              <a:ext uri="{FF2B5EF4-FFF2-40B4-BE49-F238E27FC236}">
                <a16:creationId xmlns:a16="http://schemas.microsoft.com/office/drawing/2014/main" id="{A02426BE-1CAC-DA43-8E8B-52FD7B4DEE85}"/>
              </a:ext>
            </a:extLst>
          </p:cNvPr>
          <p:cNvSpPr txBox="1"/>
          <p:nvPr/>
        </p:nvSpPr>
        <p:spPr>
          <a:xfrm>
            <a:off x="838200" y="1682915"/>
            <a:ext cx="10346871" cy="369332"/>
          </a:xfrm>
          <a:prstGeom prst="rect">
            <a:avLst/>
          </a:prstGeom>
          <a:noFill/>
        </p:spPr>
        <p:txBody>
          <a:bodyPr wrap="square" rtlCol="0">
            <a:spAutoFit/>
          </a:bodyPr>
          <a:lstStyle/>
          <a:p>
            <a:r>
              <a:rPr lang="en-NA" dirty="0"/>
              <a:t>Bread a</a:t>
            </a:r>
            <a:r>
              <a:rPr lang="en-GB" dirty="0" err="1"/>
              <a:t>nd</a:t>
            </a:r>
            <a:r>
              <a:rPr lang="en-NA" dirty="0"/>
              <a:t> maize meal are contributing significantly to vitamin A, B1, B2, calcium, zinc, folate and iron intake </a:t>
            </a:r>
          </a:p>
        </p:txBody>
      </p:sp>
      <p:pic>
        <p:nvPicPr>
          <p:cNvPr id="7" name="Picture 6">
            <a:extLst>
              <a:ext uri="{FF2B5EF4-FFF2-40B4-BE49-F238E27FC236}">
                <a16:creationId xmlns:a16="http://schemas.microsoft.com/office/drawing/2014/main" id="{3A85D9FD-26F9-B946-A3CA-229F68EBDAF2}"/>
              </a:ext>
            </a:extLst>
          </p:cNvPr>
          <p:cNvPicPr>
            <a:picLocks noChangeAspect="1"/>
          </p:cNvPicPr>
          <p:nvPr/>
        </p:nvPicPr>
        <p:blipFill>
          <a:blip r:embed="rId2"/>
          <a:stretch>
            <a:fillRect/>
          </a:stretch>
        </p:blipFill>
        <p:spPr>
          <a:xfrm>
            <a:off x="0" y="2157413"/>
            <a:ext cx="12192000" cy="2543175"/>
          </a:xfrm>
          <a:prstGeom prst="rect">
            <a:avLst/>
          </a:prstGeom>
        </p:spPr>
      </p:pic>
    </p:spTree>
    <p:extLst>
      <p:ext uri="{BB962C8B-B14F-4D97-AF65-F5344CB8AC3E}">
        <p14:creationId xmlns:p14="http://schemas.microsoft.com/office/powerpoint/2010/main" val="3719322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B3C9F-2C31-9F43-8A51-8D9219979626}"/>
              </a:ext>
            </a:extLst>
          </p:cNvPr>
          <p:cNvSpPr>
            <a:spLocks noGrp="1"/>
          </p:cNvSpPr>
          <p:nvPr>
            <p:ph type="title"/>
          </p:nvPr>
        </p:nvSpPr>
        <p:spPr/>
        <p:txBody>
          <a:bodyPr/>
          <a:lstStyle/>
          <a:p>
            <a:r>
              <a:rPr lang="en-US" dirty="0">
                <a:latin typeface="Tw Cen MT" panose="020B0602020104020603" pitchFamily="34" charset="0"/>
              </a:rPr>
              <a:t>Task 4: Key Findings/Results</a:t>
            </a:r>
            <a:endParaRPr lang="en-NA" dirty="0"/>
          </a:p>
        </p:txBody>
      </p:sp>
      <p:sp>
        <p:nvSpPr>
          <p:cNvPr id="3" name="Content Placeholder 2">
            <a:extLst>
              <a:ext uri="{FF2B5EF4-FFF2-40B4-BE49-F238E27FC236}">
                <a16:creationId xmlns:a16="http://schemas.microsoft.com/office/drawing/2014/main" id="{F0758DB5-C0ED-DF44-A8C3-D0990E806319}"/>
              </a:ext>
            </a:extLst>
          </p:cNvPr>
          <p:cNvSpPr>
            <a:spLocks noGrp="1"/>
          </p:cNvSpPr>
          <p:nvPr>
            <p:ph idx="1"/>
          </p:nvPr>
        </p:nvSpPr>
        <p:spPr/>
        <p:txBody>
          <a:bodyPr/>
          <a:lstStyle/>
          <a:p>
            <a:r>
              <a:rPr lang="en-NA" dirty="0"/>
              <a:t>The full FAO ADEPT excel file can be found </a:t>
            </a:r>
            <a:r>
              <a:rPr lang="en-NA" dirty="0">
                <a:hlinkClick r:id="rId2"/>
              </a:rPr>
              <a:t>HERE</a:t>
            </a:r>
            <a:endParaRPr lang="en-NA" dirty="0"/>
          </a:p>
        </p:txBody>
      </p:sp>
    </p:spTree>
    <p:extLst>
      <p:ext uri="{BB962C8B-B14F-4D97-AF65-F5344CB8AC3E}">
        <p14:creationId xmlns:p14="http://schemas.microsoft.com/office/powerpoint/2010/main" val="3362942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64DAD-F852-49B2-8961-9C3444D26067}"/>
              </a:ext>
            </a:extLst>
          </p:cNvPr>
          <p:cNvSpPr>
            <a:spLocks noGrp="1"/>
          </p:cNvSpPr>
          <p:nvPr>
            <p:ph type="title"/>
          </p:nvPr>
        </p:nvSpPr>
        <p:spPr/>
        <p:txBody>
          <a:bodyPr/>
          <a:lstStyle/>
          <a:p>
            <a:r>
              <a:rPr lang="en-US" dirty="0">
                <a:latin typeface="Tw Cen MT" panose="020B0602020104020603" pitchFamily="34" charset="0"/>
              </a:rPr>
              <a:t>Task 5</a:t>
            </a:r>
          </a:p>
        </p:txBody>
      </p:sp>
      <p:sp>
        <p:nvSpPr>
          <p:cNvPr id="3" name="Content Placeholder 2">
            <a:extLst>
              <a:ext uri="{FF2B5EF4-FFF2-40B4-BE49-F238E27FC236}">
                <a16:creationId xmlns:a16="http://schemas.microsoft.com/office/drawing/2014/main" id="{DB26C58F-5EB8-417F-87BE-D4EBE909ECEA}"/>
              </a:ext>
            </a:extLst>
          </p:cNvPr>
          <p:cNvSpPr>
            <a:spLocks noGrp="1"/>
          </p:cNvSpPr>
          <p:nvPr>
            <p:ph idx="1"/>
          </p:nvPr>
        </p:nvSpPr>
        <p:spPr/>
        <p:txBody>
          <a:bodyPr/>
          <a:lstStyle/>
          <a:p>
            <a:pPr marL="0" indent="0">
              <a:buNone/>
            </a:pPr>
            <a:r>
              <a:rPr lang="en-US" i="1" dirty="0">
                <a:latin typeface="+mj-lt"/>
              </a:rPr>
              <a:t>Review SADC calculations, which used the A2Z Food Formulator, on estimated nutrient contribution of fortified foods to ensure calculations were correctly done.</a:t>
            </a:r>
          </a:p>
        </p:txBody>
      </p:sp>
    </p:spTree>
    <p:extLst>
      <p:ext uri="{BB962C8B-B14F-4D97-AF65-F5344CB8AC3E}">
        <p14:creationId xmlns:p14="http://schemas.microsoft.com/office/powerpoint/2010/main" val="2788372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98820-D500-4616-977A-A93932F6A325}"/>
              </a:ext>
            </a:extLst>
          </p:cNvPr>
          <p:cNvSpPr>
            <a:spLocks noGrp="1"/>
          </p:cNvSpPr>
          <p:nvPr>
            <p:ph type="title"/>
          </p:nvPr>
        </p:nvSpPr>
        <p:spPr/>
        <p:txBody>
          <a:bodyPr/>
          <a:lstStyle/>
          <a:p>
            <a:r>
              <a:rPr lang="en-US" dirty="0">
                <a:latin typeface="Tw Cen MT" panose="020B0602020104020603" pitchFamily="34" charset="0"/>
              </a:rPr>
              <a:t>Task 5: Methodology</a:t>
            </a:r>
          </a:p>
        </p:txBody>
      </p:sp>
      <p:sp>
        <p:nvSpPr>
          <p:cNvPr id="3" name="Content Placeholder 2">
            <a:extLst>
              <a:ext uri="{FF2B5EF4-FFF2-40B4-BE49-F238E27FC236}">
                <a16:creationId xmlns:a16="http://schemas.microsoft.com/office/drawing/2014/main" id="{2F4D65B8-3983-4B9D-99A7-0DA5845766E6}"/>
              </a:ext>
            </a:extLst>
          </p:cNvPr>
          <p:cNvSpPr>
            <a:spLocks noGrp="1"/>
          </p:cNvSpPr>
          <p:nvPr>
            <p:ph idx="1"/>
          </p:nvPr>
        </p:nvSpPr>
        <p:spPr/>
        <p:txBody>
          <a:bodyPr>
            <a:normAutofit/>
          </a:bodyPr>
          <a:lstStyle/>
          <a:p>
            <a:pPr marL="274320">
              <a:lnSpc>
                <a:spcPct val="100000"/>
              </a:lnSpc>
              <a:spcBef>
                <a:spcPts val="1200"/>
              </a:spcBef>
              <a:spcAft>
                <a:spcPts val="1200"/>
              </a:spcAft>
              <a:buFont typeface="Wingdings" panose="05000000000000000000" pitchFamily="2" charset="2"/>
              <a:buChar char="§"/>
            </a:pPr>
            <a:r>
              <a:rPr lang="en-US" sz="2000" b="1" dirty="0">
                <a:latin typeface="+mj-lt"/>
              </a:rPr>
              <a:t>Data Sources</a:t>
            </a:r>
            <a:r>
              <a:rPr lang="en-US" sz="2000" dirty="0">
                <a:latin typeface="+mj-lt"/>
              </a:rPr>
              <a:t>: Estimate of </a:t>
            </a:r>
            <a:r>
              <a:rPr lang="en-US" sz="2000" b="0" kern="1200" dirty="0">
                <a:solidFill>
                  <a:schemeClr val="tx1"/>
                </a:solidFill>
                <a:latin typeface="+mj-lt"/>
                <a:ea typeface="+mn-ea"/>
                <a:cs typeface="+mn-cs"/>
              </a:rPr>
              <a:t>contribution of fortified foods to micronutrient intake prepared by SADC consultant</a:t>
            </a:r>
          </a:p>
          <a:p>
            <a:pPr marL="274320">
              <a:lnSpc>
                <a:spcPct val="100000"/>
              </a:lnSpc>
              <a:spcBef>
                <a:spcPts val="1200"/>
              </a:spcBef>
              <a:spcAft>
                <a:spcPts val="1200"/>
              </a:spcAft>
              <a:buFont typeface="Wingdings" panose="05000000000000000000" pitchFamily="2" charset="2"/>
              <a:buChar char="§"/>
            </a:pPr>
            <a:r>
              <a:rPr lang="en-US" sz="2000" b="1" dirty="0">
                <a:latin typeface="+mj-lt"/>
              </a:rPr>
              <a:t>Software</a:t>
            </a:r>
            <a:r>
              <a:rPr lang="en-US" sz="2000" dirty="0">
                <a:latin typeface="+mj-lt"/>
              </a:rPr>
              <a:t>: Excel</a:t>
            </a:r>
          </a:p>
          <a:p>
            <a:pPr marL="274320">
              <a:lnSpc>
                <a:spcPct val="100000"/>
              </a:lnSpc>
              <a:spcBef>
                <a:spcPts val="1200"/>
              </a:spcBef>
              <a:spcAft>
                <a:spcPts val="1200"/>
              </a:spcAft>
              <a:buFont typeface="Wingdings" panose="05000000000000000000" pitchFamily="2" charset="2"/>
              <a:buChar char="§"/>
            </a:pPr>
            <a:r>
              <a:rPr lang="en-US" sz="2000" b="1" dirty="0">
                <a:latin typeface="+mj-lt"/>
              </a:rPr>
              <a:t>Analysis</a:t>
            </a:r>
            <a:r>
              <a:rPr lang="en-US" sz="2000" dirty="0">
                <a:latin typeface="+mj-lt"/>
              </a:rPr>
              <a:t> </a:t>
            </a:r>
            <a:r>
              <a:rPr lang="en-US" sz="2000" b="1" dirty="0">
                <a:latin typeface="+mj-lt"/>
              </a:rPr>
              <a:t>Process</a:t>
            </a:r>
            <a:r>
              <a:rPr lang="en-US" sz="2000" dirty="0">
                <a:latin typeface="+mj-lt"/>
              </a:rPr>
              <a:t>: In order to confirm SADC consultant’s calculation process, A2Z formulator for different food items were reviewed to understand the underlying methodology. Values for Namibia were then plugged in to determine if SADC results could be replicated.</a:t>
            </a:r>
          </a:p>
          <a:p>
            <a:pPr marL="274320">
              <a:lnSpc>
                <a:spcPct val="100000"/>
              </a:lnSpc>
              <a:spcBef>
                <a:spcPts val="1200"/>
              </a:spcBef>
              <a:spcAft>
                <a:spcPts val="1200"/>
              </a:spcAft>
              <a:buFont typeface="Wingdings" panose="05000000000000000000" pitchFamily="2" charset="2"/>
              <a:buChar char="§"/>
            </a:pPr>
            <a:r>
              <a:rPr lang="en-US" sz="2000" b="1" dirty="0">
                <a:latin typeface="+mj-lt"/>
              </a:rPr>
              <a:t>Limitations</a:t>
            </a:r>
            <a:r>
              <a:rPr lang="en-US" sz="2000" dirty="0">
                <a:latin typeface="+mj-lt"/>
              </a:rPr>
              <a:t>: SADC consultant did not document well the inputs or assumptions used in calculations.</a:t>
            </a:r>
          </a:p>
        </p:txBody>
      </p:sp>
    </p:spTree>
    <p:extLst>
      <p:ext uri="{BB962C8B-B14F-4D97-AF65-F5344CB8AC3E}">
        <p14:creationId xmlns:p14="http://schemas.microsoft.com/office/powerpoint/2010/main" val="3955570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904F-D3F8-48E6-A65C-98BB5143C451}"/>
              </a:ext>
            </a:extLst>
          </p:cNvPr>
          <p:cNvSpPr>
            <a:spLocks noGrp="1"/>
          </p:cNvSpPr>
          <p:nvPr>
            <p:ph type="title"/>
          </p:nvPr>
        </p:nvSpPr>
        <p:spPr/>
        <p:txBody>
          <a:bodyPr/>
          <a:lstStyle/>
          <a:p>
            <a:r>
              <a:rPr lang="en-US" dirty="0">
                <a:latin typeface="Tw Cen MT" panose="020B0602020104020603" pitchFamily="34" charset="0"/>
              </a:rPr>
              <a:t>Task 5: Key Findings/Results</a:t>
            </a:r>
          </a:p>
        </p:txBody>
      </p:sp>
      <p:sp>
        <p:nvSpPr>
          <p:cNvPr id="3" name="Content Placeholder 2">
            <a:extLst>
              <a:ext uri="{FF2B5EF4-FFF2-40B4-BE49-F238E27FC236}">
                <a16:creationId xmlns:a16="http://schemas.microsoft.com/office/drawing/2014/main" id="{D4128627-12A3-48C6-97F1-CCB5E8D72A1C}"/>
              </a:ext>
            </a:extLst>
          </p:cNvPr>
          <p:cNvSpPr>
            <a:spLocks noGrp="1"/>
          </p:cNvSpPr>
          <p:nvPr>
            <p:ph idx="1"/>
          </p:nvPr>
        </p:nvSpPr>
        <p:spPr/>
        <p:txBody>
          <a:bodyPr/>
          <a:lstStyle/>
          <a:p>
            <a:r>
              <a:rPr lang="en-US" sz="2800" dirty="0">
                <a:latin typeface="+mj-lt"/>
              </a:rPr>
              <a:t>Notwithstanding the limitations, was able to (generally) confirm that</a:t>
            </a:r>
            <a:r>
              <a:rPr lang="en-US" dirty="0">
                <a:latin typeface="+mj-lt"/>
              </a:rPr>
              <a:t>, at the very least, the approach used by the SADC consultant agreed with that required by the A2Z formulator.</a:t>
            </a:r>
            <a:endParaRPr lang="en-US" sz="2800" dirty="0">
              <a:latin typeface="+mj-lt"/>
            </a:endParaRPr>
          </a:p>
          <a:p>
            <a:endParaRPr lang="en-US" dirty="0"/>
          </a:p>
        </p:txBody>
      </p:sp>
      <p:graphicFrame>
        <p:nvGraphicFramePr>
          <p:cNvPr id="4" name="Table 3">
            <a:extLst>
              <a:ext uri="{FF2B5EF4-FFF2-40B4-BE49-F238E27FC236}">
                <a16:creationId xmlns:a16="http://schemas.microsoft.com/office/drawing/2014/main" id="{ACB80243-8D13-2C40-A979-284B424698A2}"/>
              </a:ext>
            </a:extLst>
          </p:cNvPr>
          <p:cNvGraphicFramePr>
            <a:graphicFrameLocks noGrp="1"/>
          </p:cNvGraphicFramePr>
          <p:nvPr>
            <p:extLst>
              <p:ext uri="{D42A27DB-BD31-4B8C-83A1-F6EECF244321}">
                <p14:modId xmlns:p14="http://schemas.microsoft.com/office/powerpoint/2010/main" val="2035688854"/>
              </p:ext>
            </p:extLst>
          </p:nvPr>
        </p:nvGraphicFramePr>
        <p:xfrm>
          <a:off x="838200" y="3361400"/>
          <a:ext cx="10515600" cy="2950500"/>
        </p:xfrm>
        <a:graphic>
          <a:graphicData uri="http://schemas.openxmlformats.org/drawingml/2006/table">
            <a:tbl>
              <a:tblPr>
                <a:tableStyleId>{5C22544A-7EE6-4342-B048-85BDC9FD1C3A}</a:tableStyleId>
              </a:tblPr>
              <a:tblGrid>
                <a:gridCol w="1390298">
                  <a:extLst>
                    <a:ext uri="{9D8B030D-6E8A-4147-A177-3AD203B41FA5}">
                      <a16:colId xmlns:a16="http://schemas.microsoft.com/office/drawing/2014/main" val="2704320755"/>
                    </a:ext>
                  </a:extLst>
                </a:gridCol>
                <a:gridCol w="627401">
                  <a:extLst>
                    <a:ext uri="{9D8B030D-6E8A-4147-A177-3AD203B41FA5}">
                      <a16:colId xmlns:a16="http://schemas.microsoft.com/office/drawing/2014/main" val="3982507512"/>
                    </a:ext>
                  </a:extLst>
                </a:gridCol>
                <a:gridCol w="592055">
                  <a:extLst>
                    <a:ext uri="{9D8B030D-6E8A-4147-A177-3AD203B41FA5}">
                      <a16:colId xmlns:a16="http://schemas.microsoft.com/office/drawing/2014/main" val="3689731998"/>
                    </a:ext>
                  </a:extLst>
                </a:gridCol>
                <a:gridCol w="718713">
                  <a:extLst>
                    <a:ext uri="{9D8B030D-6E8A-4147-A177-3AD203B41FA5}">
                      <a16:colId xmlns:a16="http://schemas.microsoft.com/office/drawing/2014/main" val="179029684"/>
                    </a:ext>
                  </a:extLst>
                </a:gridCol>
                <a:gridCol w="980867">
                  <a:extLst>
                    <a:ext uri="{9D8B030D-6E8A-4147-A177-3AD203B41FA5}">
                      <a16:colId xmlns:a16="http://schemas.microsoft.com/office/drawing/2014/main" val="1716290175"/>
                    </a:ext>
                  </a:extLst>
                </a:gridCol>
                <a:gridCol w="966140">
                  <a:extLst>
                    <a:ext uri="{9D8B030D-6E8A-4147-A177-3AD203B41FA5}">
                      <a16:colId xmlns:a16="http://schemas.microsoft.com/office/drawing/2014/main" val="2996208957"/>
                    </a:ext>
                  </a:extLst>
                </a:gridCol>
                <a:gridCol w="600891">
                  <a:extLst>
                    <a:ext uri="{9D8B030D-6E8A-4147-A177-3AD203B41FA5}">
                      <a16:colId xmlns:a16="http://schemas.microsoft.com/office/drawing/2014/main" val="407999911"/>
                    </a:ext>
                  </a:extLst>
                </a:gridCol>
                <a:gridCol w="683367">
                  <a:extLst>
                    <a:ext uri="{9D8B030D-6E8A-4147-A177-3AD203B41FA5}">
                      <a16:colId xmlns:a16="http://schemas.microsoft.com/office/drawing/2014/main" val="2091088565"/>
                    </a:ext>
                  </a:extLst>
                </a:gridCol>
                <a:gridCol w="556708">
                  <a:extLst>
                    <a:ext uri="{9D8B030D-6E8A-4147-A177-3AD203B41FA5}">
                      <a16:colId xmlns:a16="http://schemas.microsoft.com/office/drawing/2014/main" val="3395566273"/>
                    </a:ext>
                  </a:extLst>
                </a:gridCol>
                <a:gridCol w="648020">
                  <a:extLst>
                    <a:ext uri="{9D8B030D-6E8A-4147-A177-3AD203B41FA5}">
                      <a16:colId xmlns:a16="http://schemas.microsoft.com/office/drawing/2014/main" val="147446733"/>
                    </a:ext>
                  </a:extLst>
                </a:gridCol>
                <a:gridCol w="541980">
                  <a:extLst>
                    <a:ext uri="{9D8B030D-6E8A-4147-A177-3AD203B41FA5}">
                      <a16:colId xmlns:a16="http://schemas.microsoft.com/office/drawing/2014/main" val="50893427"/>
                    </a:ext>
                  </a:extLst>
                </a:gridCol>
                <a:gridCol w="627401">
                  <a:extLst>
                    <a:ext uri="{9D8B030D-6E8A-4147-A177-3AD203B41FA5}">
                      <a16:colId xmlns:a16="http://schemas.microsoft.com/office/drawing/2014/main" val="1925146976"/>
                    </a:ext>
                  </a:extLst>
                </a:gridCol>
                <a:gridCol w="742278">
                  <a:extLst>
                    <a:ext uri="{9D8B030D-6E8A-4147-A177-3AD203B41FA5}">
                      <a16:colId xmlns:a16="http://schemas.microsoft.com/office/drawing/2014/main" val="193079861"/>
                    </a:ext>
                  </a:extLst>
                </a:gridCol>
                <a:gridCol w="839481">
                  <a:extLst>
                    <a:ext uri="{9D8B030D-6E8A-4147-A177-3AD203B41FA5}">
                      <a16:colId xmlns:a16="http://schemas.microsoft.com/office/drawing/2014/main" val="511360568"/>
                    </a:ext>
                  </a:extLst>
                </a:gridCol>
              </a:tblGrid>
              <a:tr h="188832">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Vit A EAR</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Vit A, UTL%</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Folic Acid EAR%</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Folic Acid UTL%</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Iron  EAR</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Iron  UTL%</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Zinc EAR</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Zinc UTL%</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B12 EAR</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B12 UTL%</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GB" sz="1000" u="none" strike="noStrike">
                          <a:effectLst/>
                        </a:rPr>
                        <a:t>IODINE EAR</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GB" sz="1000" u="none" strike="noStrike">
                          <a:effectLst/>
                        </a:rPr>
                        <a:t>IODINE UTL%</a:t>
                      </a:r>
                      <a:endParaRPr lang="en-GB" sz="1000" b="1"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3219639787"/>
                  </a:ext>
                </a:extLst>
              </a:tr>
              <a:tr h="177030">
                <a:tc>
                  <a:txBody>
                    <a:bodyPr/>
                    <a:lstStyle/>
                    <a:p>
                      <a:pPr algn="l" fontAlgn="b"/>
                      <a:r>
                        <a:rPr lang="en-GB" sz="1000" u="none" strike="noStrike">
                          <a:effectLst/>
                        </a:rPr>
                        <a:t>Sugar, 10mg/kg</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Women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88</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28</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1927786434"/>
                  </a:ext>
                </a:extLst>
              </a:tr>
              <a:tr h="177030">
                <a:tc>
                  <a:txBody>
                    <a:bodyPr/>
                    <a:lstStyle/>
                    <a:p>
                      <a:pPr algn="l" fontAlgn="b"/>
                      <a:r>
                        <a:rPr lang="en-GB" sz="1000" u="none" strike="noStrike">
                          <a:effectLst/>
                        </a:rPr>
                        <a:t>Pe Capita: 54</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84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1009053437"/>
                  </a:ext>
                </a:extLst>
              </a:tr>
              <a:tr h="188832">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Children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54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1498244976"/>
                  </a:ext>
                </a:extLst>
              </a:tr>
              <a:tr h="177030">
                <a:tc>
                  <a:txBody>
                    <a:bodyPr/>
                    <a:lstStyle/>
                    <a:p>
                      <a:pPr algn="l" fontAlgn="b"/>
                      <a:r>
                        <a:rPr lang="en-GB" sz="1000" u="none" strike="noStrike">
                          <a:effectLst/>
                        </a:rPr>
                        <a:t>Oil, 25mg/kg</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Women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64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23</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585195259"/>
                  </a:ext>
                </a:extLst>
              </a:tr>
              <a:tr h="177030">
                <a:tc>
                  <a:txBody>
                    <a:bodyPr/>
                    <a:lstStyle/>
                    <a:p>
                      <a:pPr algn="l" fontAlgn="b"/>
                      <a:r>
                        <a:rPr lang="en-GB" sz="1000" u="none" strike="noStrike">
                          <a:effectLst/>
                        </a:rPr>
                        <a:t>Pe Capita: 18</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68</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29</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3060142808"/>
                  </a:ext>
                </a:extLst>
              </a:tr>
              <a:tr h="188832">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Children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45</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723338490"/>
                  </a:ext>
                </a:extLst>
              </a:tr>
              <a:tr h="188832">
                <a:tc>
                  <a:txBody>
                    <a:bodyPr/>
                    <a:lstStyle/>
                    <a:p>
                      <a:pPr algn="l" fontAlgn="b"/>
                      <a:r>
                        <a:rPr lang="en-GB" sz="1000" u="none" strike="noStrike">
                          <a:effectLst/>
                        </a:rPr>
                        <a:t>Wheat Flour, 10mg/kg</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Women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25</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6</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16</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19</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53</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19</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33</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N/A</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2117542529"/>
                  </a:ext>
                </a:extLst>
              </a:tr>
              <a:tr h="188832">
                <a:tc>
                  <a:txBody>
                    <a:bodyPr/>
                    <a:lstStyle/>
                    <a:p>
                      <a:pPr algn="l" fontAlgn="b"/>
                      <a:r>
                        <a:rPr lang="en-GB" sz="1000" u="none" strike="noStrike">
                          <a:effectLst/>
                        </a:rPr>
                        <a:t>Pe Capita: 99</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8</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56</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21</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26</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42</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N/A</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2476496014"/>
                  </a:ext>
                </a:extLst>
              </a:tr>
              <a:tr h="188832">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Children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12</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54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25</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50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13</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32</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13</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N/A</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2398959469"/>
                  </a:ext>
                </a:extLst>
              </a:tr>
              <a:tr h="188832">
                <a:tc>
                  <a:txBody>
                    <a:bodyPr/>
                    <a:lstStyle/>
                    <a:p>
                      <a:pPr algn="l" fontAlgn="b"/>
                      <a:r>
                        <a:rPr lang="en-GB" sz="1000" u="none" strike="noStrike">
                          <a:effectLst/>
                        </a:rPr>
                        <a:t>Maize Flour, 10mg/kg</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Women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31</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54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21</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46</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N/A</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409675114"/>
                  </a:ext>
                </a:extLst>
              </a:tr>
              <a:tr h="188832">
                <a:tc>
                  <a:txBody>
                    <a:bodyPr/>
                    <a:lstStyle/>
                    <a:p>
                      <a:pPr algn="l" fontAlgn="b"/>
                      <a:r>
                        <a:rPr lang="en-GB" sz="1000" u="none" strike="noStrike">
                          <a:effectLst/>
                        </a:rPr>
                        <a:t>Pe Capita: 119</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32</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9</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68</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25</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35</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25</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41</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21</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51</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N/A</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1091933565"/>
                  </a:ext>
                </a:extLst>
              </a:tr>
              <a:tr h="188832">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Children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15</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64</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30</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65</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28</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37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r" fontAlgn="b"/>
                      <a:r>
                        <a:rPr lang="en-NA" sz="1000" u="none" strike="noStrike">
                          <a:effectLst/>
                        </a:rPr>
                        <a:t>48</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N/A</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1243915925"/>
                  </a:ext>
                </a:extLst>
              </a:tr>
              <a:tr h="177030">
                <a:tc>
                  <a:txBody>
                    <a:bodyPr/>
                    <a:lstStyle/>
                    <a:p>
                      <a:pPr algn="l" fontAlgn="b"/>
                      <a:r>
                        <a:rPr lang="en-GB" sz="1000" u="none" strike="noStrike">
                          <a:effectLst/>
                        </a:rPr>
                        <a:t>Salt, 30mg/kg</a:t>
                      </a:r>
                      <a:endParaRPr lang="en-GB" sz="1000" b="1"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Women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167</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32</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2490224503"/>
                  </a:ext>
                </a:extLst>
              </a:tr>
              <a:tr h="177030">
                <a:tc>
                  <a:txBody>
                    <a:bodyPr/>
                    <a:lstStyle/>
                    <a:p>
                      <a:pPr algn="l" fontAlgn="b"/>
                      <a:r>
                        <a:rPr lang="en-GB" sz="1000" u="none" strike="noStrike">
                          <a:effectLst/>
                        </a:rPr>
                        <a:t>Pe Capita: 7</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Men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143</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26</a:t>
                      </a:r>
                      <a:endParaRPr lang="en-NA" sz="1000" b="0" i="0" u="none" strike="noStrike">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1309448517"/>
                  </a:ext>
                </a:extLst>
              </a:tr>
              <a:tr h="188832">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GB" sz="1000" u="none" strike="noStrike">
                          <a:effectLst/>
                        </a:rPr>
                        <a:t>Children</a:t>
                      </a:r>
                      <a:endParaRPr lang="en-GB"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l" fontAlgn="b"/>
                      <a:r>
                        <a:rPr lang="en-NA" sz="1000" u="none" strike="noStrike">
                          <a:effectLst/>
                        </a:rPr>
                        <a:t> </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a:effectLst/>
                        </a:rPr>
                        <a:t>119</a:t>
                      </a:r>
                      <a:endParaRPr lang="en-NA" sz="1000" b="0" i="0" u="none" strike="noStrike">
                        <a:solidFill>
                          <a:srgbClr val="000000"/>
                        </a:solidFill>
                        <a:effectLst/>
                        <a:latin typeface="Calibri" panose="020F0502020204030204" pitchFamily="34" charset="0"/>
                      </a:endParaRPr>
                    </a:p>
                  </a:txBody>
                  <a:tcPr marL="8852" marR="8852" marT="8852" marB="0" anchor="b"/>
                </a:tc>
                <a:tc>
                  <a:txBody>
                    <a:bodyPr/>
                    <a:lstStyle/>
                    <a:p>
                      <a:pPr algn="ctr" fontAlgn="b"/>
                      <a:r>
                        <a:rPr lang="en-NA" sz="1000" u="none" strike="noStrike" dirty="0">
                          <a:effectLst/>
                        </a:rPr>
                        <a:t>60</a:t>
                      </a:r>
                      <a:endParaRPr lang="en-NA" sz="1000" b="0" i="0" u="none" strike="noStrike" dirty="0">
                        <a:solidFill>
                          <a:srgbClr val="000000"/>
                        </a:solidFill>
                        <a:effectLst/>
                        <a:latin typeface="Calibri" panose="020F0502020204030204" pitchFamily="34" charset="0"/>
                      </a:endParaRPr>
                    </a:p>
                  </a:txBody>
                  <a:tcPr marL="8852" marR="8852" marT="8852" marB="0" anchor="b"/>
                </a:tc>
                <a:extLst>
                  <a:ext uri="{0D108BD9-81ED-4DB2-BD59-A6C34878D82A}">
                    <a16:rowId xmlns:a16="http://schemas.microsoft.com/office/drawing/2014/main" val="3540303425"/>
                  </a:ext>
                </a:extLst>
              </a:tr>
            </a:tbl>
          </a:graphicData>
        </a:graphic>
      </p:graphicFrame>
    </p:spTree>
    <p:extLst>
      <p:ext uri="{BB962C8B-B14F-4D97-AF65-F5344CB8AC3E}">
        <p14:creationId xmlns:p14="http://schemas.microsoft.com/office/powerpoint/2010/main" val="3716024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79C5-9690-432C-9986-510BDA9687AF}"/>
              </a:ext>
            </a:extLst>
          </p:cNvPr>
          <p:cNvSpPr>
            <a:spLocks noGrp="1"/>
          </p:cNvSpPr>
          <p:nvPr>
            <p:ph type="title"/>
          </p:nvPr>
        </p:nvSpPr>
        <p:spPr/>
        <p:txBody>
          <a:bodyPr/>
          <a:lstStyle/>
          <a:p>
            <a:r>
              <a:rPr lang="en-US" dirty="0">
                <a:latin typeface="Tw Cen MT" panose="020B0602020104020603" pitchFamily="34" charset="0"/>
              </a:rPr>
              <a:t>Task 6</a:t>
            </a:r>
          </a:p>
        </p:txBody>
      </p:sp>
      <p:sp>
        <p:nvSpPr>
          <p:cNvPr id="3" name="Content Placeholder 2">
            <a:extLst>
              <a:ext uri="{FF2B5EF4-FFF2-40B4-BE49-F238E27FC236}">
                <a16:creationId xmlns:a16="http://schemas.microsoft.com/office/drawing/2014/main" id="{A1DA5879-DCE9-45AF-902D-31B811E47DE6}"/>
              </a:ext>
            </a:extLst>
          </p:cNvPr>
          <p:cNvSpPr>
            <a:spLocks noGrp="1"/>
          </p:cNvSpPr>
          <p:nvPr>
            <p:ph idx="1"/>
          </p:nvPr>
        </p:nvSpPr>
        <p:spPr/>
        <p:txBody>
          <a:bodyPr/>
          <a:lstStyle/>
          <a:p>
            <a:pPr marL="0" indent="0">
              <a:buNone/>
            </a:pPr>
            <a:r>
              <a:rPr lang="en-US" i="1" dirty="0">
                <a:latin typeface="+mj-lt"/>
              </a:rPr>
              <a:t>Analyze raw data from Namibia DHS as follows: </a:t>
            </a:r>
          </a:p>
          <a:p>
            <a:pPr marL="514350" indent="-514350">
              <a:buFont typeface="+mj-lt"/>
              <a:buAutoNum type="alphaLcPeriod"/>
            </a:pPr>
            <a:r>
              <a:rPr lang="en-US" i="1" dirty="0">
                <a:latin typeface="+mj-lt"/>
              </a:rPr>
              <a:t>DHS 2000 to identify proportion of households per region with (</a:t>
            </a:r>
            <a:r>
              <a:rPr lang="en-US" i="1" dirty="0" err="1">
                <a:latin typeface="+mj-lt"/>
              </a:rPr>
              <a:t>i</a:t>
            </a:r>
            <a:r>
              <a:rPr lang="en-US" i="1" dirty="0">
                <a:latin typeface="+mj-lt"/>
              </a:rPr>
              <a:t>) “block salt” and (ii) salt from salt pans</a:t>
            </a:r>
          </a:p>
          <a:p>
            <a:pPr marL="514350" indent="-514350">
              <a:buFont typeface="+mj-lt"/>
              <a:buAutoNum type="alphaLcPeriod"/>
            </a:pPr>
            <a:r>
              <a:rPr lang="en-US" i="1" dirty="0">
                <a:latin typeface="+mj-lt"/>
              </a:rPr>
              <a:t>DHS 2006/7 to see if household coverage of iodized salt is available</a:t>
            </a:r>
          </a:p>
          <a:p>
            <a:pPr marL="514350" indent="-514350">
              <a:buFont typeface="+mj-lt"/>
              <a:buAutoNum type="alphaLcPeriod"/>
            </a:pPr>
            <a:r>
              <a:rPr lang="en-US" i="1" dirty="0">
                <a:latin typeface="+mj-lt"/>
              </a:rPr>
              <a:t>Comparison of household coverage of iodized salt from 2000 and 2013 to see if there is a poor correlation between the two years. </a:t>
            </a:r>
          </a:p>
        </p:txBody>
      </p:sp>
    </p:spTree>
    <p:extLst>
      <p:ext uri="{BB962C8B-B14F-4D97-AF65-F5344CB8AC3E}">
        <p14:creationId xmlns:p14="http://schemas.microsoft.com/office/powerpoint/2010/main" val="2582577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8046D-E6D0-491F-B943-306B307EBE0F}"/>
              </a:ext>
            </a:extLst>
          </p:cNvPr>
          <p:cNvSpPr>
            <a:spLocks noGrp="1"/>
          </p:cNvSpPr>
          <p:nvPr>
            <p:ph type="title"/>
          </p:nvPr>
        </p:nvSpPr>
        <p:spPr/>
        <p:txBody>
          <a:bodyPr/>
          <a:lstStyle/>
          <a:p>
            <a:r>
              <a:rPr lang="en-US" dirty="0">
                <a:latin typeface="Tw Cen MT" panose="020B0602020104020603" pitchFamily="34" charset="0"/>
              </a:rPr>
              <a:t>Task 6: Methodology</a:t>
            </a:r>
          </a:p>
        </p:txBody>
      </p:sp>
      <p:sp>
        <p:nvSpPr>
          <p:cNvPr id="3" name="Content Placeholder 2">
            <a:extLst>
              <a:ext uri="{FF2B5EF4-FFF2-40B4-BE49-F238E27FC236}">
                <a16:creationId xmlns:a16="http://schemas.microsoft.com/office/drawing/2014/main" id="{CB34B28B-1854-4B08-B858-F4424521B643}"/>
              </a:ext>
            </a:extLst>
          </p:cNvPr>
          <p:cNvSpPr>
            <a:spLocks noGrp="1"/>
          </p:cNvSpPr>
          <p:nvPr>
            <p:ph idx="1"/>
          </p:nvPr>
        </p:nvSpPr>
        <p:spPr/>
        <p:txBody>
          <a:bodyPr>
            <a:normAutofit/>
          </a:bodyPr>
          <a:lstStyle/>
          <a:p>
            <a:pPr marL="274320">
              <a:lnSpc>
                <a:spcPct val="100000"/>
              </a:lnSpc>
              <a:spcBef>
                <a:spcPts val="1200"/>
              </a:spcBef>
              <a:spcAft>
                <a:spcPts val="1200"/>
              </a:spcAft>
              <a:buFont typeface="Wingdings" panose="05000000000000000000" pitchFamily="2" charset="2"/>
              <a:buChar char="§"/>
            </a:pPr>
            <a:r>
              <a:rPr lang="en-US" sz="2000" b="1" dirty="0">
                <a:latin typeface="+mj-lt"/>
              </a:rPr>
              <a:t>Data Sources</a:t>
            </a:r>
            <a:r>
              <a:rPr lang="en-US" sz="2000" dirty="0">
                <a:latin typeface="+mj-lt"/>
              </a:rPr>
              <a:t>: </a:t>
            </a:r>
            <a:r>
              <a:rPr lang="en-US" sz="2000" b="0" kern="1200" dirty="0">
                <a:solidFill>
                  <a:schemeClr val="tx1"/>
                </a:solidFill>
                <a:latin typeface="+mj-lt"/>
                <a:ea typeface="+mn-ea"/>
                <a:cs typeface="+mn-cs"/>
              </a:rPr>
              <a:t>2000, 2006, 2013 Namibia DHS datasets</a:t>
            </a:r>
          </a:p>
          <a:p>
            <a:pPr marL="274320">
              <a:lnSpc>
                <a:spcPct val="100000"/>
              </a:lnSpc>
              <a:spcBef>
                <a:spcPts val="1200"/>
              </a:spcBef>
              <a:spcAft>
                <a:spcPts val="1200"/>
              </a:spcAft>
              <a:buFont typeface="Wingdings" panose="05000000000000000000" pitchFamily="2" charset="2"/>
              <a:buChar char="§"/>
            </a:pPr>
            <a:r>
              <a:rPr lang="en-US" sz="2000" b="1" dirty="0">
                <a:latin typeface="+mj-lt"/>
              </a:rPr>
              <a:t>Software</a:t>
            </a:r>
            <a:r>
              <a:rPr lang="en-US" sz="2000" dirty="0">
                <a:latin typeface="+mj-lt"/>
              </a:rPr>
              <a:t>: Python 3.8</a:t>
            </a:r>
          </a:p>
          <a:p>
            <a:pPr marL="274320">
              <a:lnSpc>
                <a:spcPct val="100000"/>
              </a:lnSpc>
              <a:spcBef>
                <a:spcPts val="1200"/>
              </a:spcBef>
              <a:spcAft>
                <a:spcPts val="1200"/>
              </a:spcAft>
              <a:buFont typeface="Wingdings" panose="05000000000000000000" pitchFamily="2" charset="2"/>
              <a:buChar char="§"/>
            </a:pPr>
            <a:r>
              <a:rPr lang="en-US" sz="2000" b="1" dirty="0">
                <a:latin typeface="+mj-lt"/>
              </a:rPr>
              <a:t>Analysis</a:t>
            </a:r>
            <a:r>
              <a:rPr lang="en-US" sz="2000" dirty="0">
                <a:latin typeface="+mj-lt"/>
              </a:rPr>
              <a:t> </a:t>
            </a:r>
            <a:r>
              <a:rPr lang="en-US" sz="2000" b="1" dirty="0">
                <a:latin typeface="+mj-lt"/>
              </a:rPr>
              <a:t>Process</a:t>
            </a:r>
            <a:r>
              <a:rPr lang="en-US" sz="2000" dirty="0">
                <a:latin typeface="+mj-lt"/>
              </a:rPr>
              <a:t>: HH files from each year were imported and reviewed based on the key objectives outlined.</a:t>
            </a:r>
          </a:p>
          <a:p>
            <a:pPr marL="274320">
              <a:lnSpc>
                <a:spcPct val="100000"/>
              </a:lnSpc>
              <a:spcBef>
                <a:spcPts val="1200"/>
              </a:spcBef>
              <a:spcAft>
                <a:spcPts val="1200"/>
              </a:spcAft>
              <a:buFont typeface="Wingdings" panose="05000000000000000000" pitchFamily="2" charset="2"/>
              <a:buChar char="§"/>
            </a:pPr>
            <a:r>
              <a:rPr lang="en-US" sz="2000" b="1" dirty="0">
                <a:latin typeface="+mj-lt"/>
              </a:rPr>
              <a:t>Limitations</a:t>
            </a:r>
            <a:r>
              <a:rPr lang="en-US" sz="2000" dirty="0">
                <a:latin typeface="+mj-lt"/>
              </a:rPr>
              <a:t>: Salt data not available in 2006. Methods for testing salt for iodine in 2000 were different than in 2013 – the former tested ppm whilst the latter on check if present or not. This made comparison between the two years less robust.</a:t>
            </a:r>
          </a:p>
        </p:txBody>
      </p:sp>
    </p:spTree>
    <p:extLst>
      <p:ext uri="{BB962C8B-B14F-4D97-AF65-F5344CB8AC3E}">
        <p14:creationId xmlns:p14="http://schemas.microsoft.com/office/powerpoint/2010/main" val="1758800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2D552-AF94-4FAC-93ED-FE07A02F3FEC}"/>
              </a:ext>
            </a:extLst>
          </p:cNvPr>
          <p:cNvSpPr>
            <a:spLocks noGrp="1"/>
          </p:cNvSpPr>
          <p:nvPr>
            <p:ph type="title"/>
          </p:nvPr>
        </p:nvSpPr>
        <p:spPr/>
        <p:txBody>
          <a:bodyPr/>
          <a:lstStyle/>
          <a:p>
            <a:r>
              <a:rPr lang="en-US" dirty="0">
                <a:latin typeface="Tw Cen MT" panose="020B0602020104020603" pitchFamily="34" charset="0"/>
              </a:rPr>
              <a:t>Task 6: Key Findings/Results</a:t>
            </a:r>
          </a:p>
        </p:txBody>
      </p:sp>
      <p:sp>
        <p:nvSpPr>
          <p:cNvPr id="3" name="Content Placeholder 2">
            <a:extLst>
              <a:ext uri="{FF2B5EF4-FFF2-40B4-BE49-F238E27FC236}">
                <a16:creationId xmlns:a16="http://schemas.microsoft.com/office/drawing/2014/main" id="{221CB2DA-A532-41B2-9048-D94B2D1E5375}"/>
              </a:ext>
            </a:extLst>
          </p:cNvPr>
          <p:cNvSpPr>
            <a:spLocks noGrp="1"/>
          </p:cNvSpPr>
          <p:nvPr>
            <p:ph idx="1"/>
          </p:nvPr>
        </p:nvSpPr>
        <p:spPr>
          <a:xfrm>
            <a:off x="838200" y="1825625"/>
            <a:ext cx="4256314" cy="4351338"/>
          </a:xfrm>
        </p:spPr>
        <p:txBody>
          <a:bodyPr>
            <a:normAutofit/>
          </a:bodyPr>
          <a:lstStyle/>
          <a:p>
            <a:r>
              <a:rPr lang="en-US" dirty="0">
                <a:latin typeface="+mj-lt"/>
              </a:rPr>
              <a:t>A substantial proportion of households in </a:t>
            </a:r>
            <a:r>
              <a:rPr lang="en-US" dirty="0" err="1">
                <a:latin typeface="+mj-lt"/>
              </a:rPr>
              <a:t>Omusati</a:t>
            </a:r>
            <a:r>
              <a:rPr lang="en-US" dirty="0">
                <a:latin typeface="+mj-lt"/>
              </a:rPr>
              <a:t> and Oshana regions (17%) reported that the main source of their household salt was from a salt pan.</a:t>
            </a:r>
          </a:p>
          <a:p>
            <a:pPr marL="0" indent="0">
              <a:buNone/>
            </a:pPr>
            <a:endParaRPr lang="en-US" dirty="0"/>
          </a:p>
        </p:txBody>
      </p:sp>
      <p:graphicFrame>
        <p:nvGraphicFramePr>
          <p:cNvPr id="4" name="Chart 3">
            <a:extLst>
              <a:ext uri="{FF2B5EF4-FFF2-40B4-BE49-F238E27FC236}">
                <a16:creationId xmlns:a16="http://schemas.microsoft.com/office/drawing/2014/main" id="{F953809A-DDB4-45DC-83C3-C8D76EB396A5}"/>
              </a:ext>
            </a:extLst>
          </p:cNvPr>
          <p:cNvGraphicFramePr>
            <a:graphicFrameLocks/>
          </p:cNvGraphicFramePr>
          <p:nvPr>
            <p:extLst>
              <p:ext uri="{D42A27DB-BD31-4B8C-83A1-F6EECF244321}">
                <p14:modId xmlns:p14="http://schemas.microsoft.com/office/powerpoint/2010/main" val="3542791450"/>
              </p:ext>
            </p:extLst>
          </p:nvPr>
        </p:nvGraphicFramePr>
        <p:xfrm>
          <a:off x="5290457" y="1690688"/>
          <a:ext cx="6389575" cy="46212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50146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2D552-AF94-4FAC-93ED-FE07A02F3FEC}"/>
              </a:ext>
            </a:extLst>
          </p:cNvPr>
          <p:cNvSpPr>
            <a:spLocks noGrp="1"/>
          </p:cNvSpPr>
          <p:nvPr>
            <p:ph type="title"/>
          </p:nvPr>
        </p:nvSpPr>
        <p:spPr/>
        <p:txBody>
          <a:bodyPr/>
          <a:lstStyle/>
          <a:p>
            <a:r>
              <a:rPr lang="en-US" dirty="0">
                <a:latin typeface="Tw Cen MT" panose="020B0602020104020603" pitchFamily="34" charset="0"/>
              </a:rPr>
              <a:t>Task 6: Key Findings/Results</a:t>
            </a:r>
          </a:p>
        </p:txBody>
      </p:sp>
      <p:sp>
        <p:nvSpPr>
          <p:cNvPr id="3" name="Content Placeholder 2">
            <a:extLst>
              <a:ext uri="{FF2B5EF4-FFF2-40B4-BE49-F238E27FC236}">
                <a16:creationId xmlns:a16="http://schemas.microsoft.com/office/drawing/2014/main" id="{221CB2DA-A532-41B2-9048-D94B2D1E5375}"/>
              </a:ext>
            </a:extLst>
          </p:cNvPr>
          <p:cNvSpPr>
            <a:spLocks noGrp="1"/>
          </p:cNvSpPr>
          <p:nvPr>
            <p:ph idx="1"/>
          </p:nvPr>
        </p:nvSpPr>
        <p:spPr>
          <a:xfrm>
            <a:off x="838200" y="1825625"/>
            <a:ext cx="4256314" cy="4351338"/>
          </a:xfrm>
        </p:spPr>
        <p:txBody>
          <a:bodyPr>
            <a:normAutofit/>
          </a:bodyPr>
          <a:lstStyle/>
          <a:p>
            <a:r>
              <a:rPr lang="en-US" dirty="0">
                <a:latin typeface="+mj-lt"/>
              </a:rPr>
              <a:t>In some regions, such as Ohangwena, Omaheke and </a:t>
            </a:r>
            <a:r>
              <a:rPr lang="en-US" dirty="0" err="1">
                <a:latin typeface="+mj-lt"/>
              </a:rPr>
              <a:t>Oshikoto</a:t>
            </a:r>
            <a:r>
              <a:rPr lang="en-US" dirty="0">
                <a:latin typeface="+mj-lt"/>
              </a:rPr>
              <a:t> a substantial proportion of salt is described as “block salt”; this may not be salt coming from the major Namibian salt refineries</a:t>
            </a:r>
          </a:p>
          <a:p>
            <a:pPr marL="0" indent="0">
              <a:buNone/>
            </a:pPr>
            <a:endParaRPr lang="en-US" dirty="0"/>
          </a:p>
        </p:txBody>
      </p:sp>
      <p:graphicFrame>
        <p:nvGraphicFramePr>
          <p:cNvPr id="5" name="Chart 4">
            <a:extLst>
              <a:ext uri="{FF2B5EF4-FFF2-40B4-BE49-F238E27FC236}">
                <a16:creationId xmlns:a16="http://schemas.microsoft.com/office/drawing/2014/main" id="{01428FC0-1344-48BE-87E7-19A688B5B6B3}"/>
              </a:ext>
            </a:extLst>
          </p:cNvPr>
          <p:cNvGraphicFramePr>
            <a:graphicFrameLocks/>
          </p:cNvGraphicFramePr>
          <p:nvPr>
            <p:extLst>
              <p:ext uri="{D42A27DB-BD31-4B8C-83A1-F6EECF244321}">
                <p14:modId xmlns:p14="http://schemas.microsoft.com/office/powerpoint/2010/main" val="2013011618"/>
              </p:ext>
            </p:extLst>
          </p:nvPr>
        </p:nvGraphicFramePr>
        <p:xfrm>
          <a:off x="5094514" y="1943100"/>
          <a:ext cx="6738087" cy="45497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67210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2D552-AF94-4FAC-93ED-FE07A02F3FEC}"/>
              </a:ext>
            </a:extLst>
          </p:cNvPr>
          <p:cNvSpPr>
            <a:spLocks noGrp="1"/>
          </p:cNvSpPr>
          <p:nvPr>
            <p:ph type="title"/>
          </p:nvPr>
        </p:nvSpPr>
        <p:spPr/>
        <p:txBody>
          <a:bodyPr/>
          <a:lstStyle/>
          <a:p>
            <a:r>
              <a:rPr lang="en-US" dirty="0">
                <a:latin typeface="Tw Cen MT" panose="020B0602020104020603" pitchFamily="34" charset="0"/>
              </a:rPr>
              <a:t>Task 6: Key Findings/Results</a:t>
            </a:r>
          </a:p>
        </p:txBody>
      </p:sp>
      <p:sp>
        <p:nvSpPr>
          <p:cNvPr id="3" name="Content Placeholder 2">
            <a:extLst>
              <a:ext uri="{FF2B5EF4-FFF2-40B4-BE49-F238E27FC236}">
                <a16:creationId xmlns:a16="http://schemas.microsoft.com/office/drawing/2014/main" id="{221CB2DA-A532-41B2-9048-D94B2D1E5375}"/>
              </a:ext>
            </a:extLst>
          </p:cNvPr>
          <p:cNvSpPr>
            <a:spLocks noGrp="1"/>
          </p:cNvSpPr>
          <p:nvPr>
            <p:ph idx="1"/>
          </p:nvPr>
        </p:nvSpPr>
        <p:spPr>
          <a:xfrm>
            <a:off x="838200" y="1825625"/>
            <a:ext cx="4256314" cy="4351338"/>
          </a:xfrm>
        </p:spPr>
        <p:txBody>
          <a:bodyPr>
            <a:normAutofit/>
          </a:bodyPr>
          <a:lstStyle/>
          <a:p>
            <a:r>
              <a:rPr lang="en-US" sz="2800" dirty="0">
                <a:latin typeface="+mj-lt"/>
              </a:rPr>
              <a:t>The iodine data from 2000 and 2013 by region were roughly similar but given the difference in testing methodology it is difficult to draw </a:t>
            </a:r>
            <a:r>
              <a:rPr lang="en-US" dirty="0">
                <a:latin typeface="+mj-lt"/>
              </a:rPr>
              <a:t>any strong conclusion from this.</a:t>
            </a:r>
            <a:endParaRPr lang="en-US" sz="2800" dirty="0">
              <a:latin typeface="+mj-lt"/>
            </a:endParaRPr>
          </a:p>
          <a:p>
            <a:endParaRPr lang="en-US" dirty="0"/>
          </a:p>
        </p:txBody>
      </p:sp>
      <p:graphicFrame>
        <p:nvGraphicFramePr>
          <p:cNvPr id="5" name="Chart 4">
            <a:extLst>
              <a:ext uri="{FF2B5EF4-FFF2-40B4-BE49-F238E27FC236}">
                <a16:creationId xmlns:a16="http://schemas.microsoft.com/office/drawing/2014/main" id="{8CDB7D5D-7BEE-4C94-97F3-5225B02AA61C}"/>
              </a:ext>
            </a:extLst>
          </p:cNvPr>
          <p:cNvGraphicFramePr>
            <a:graphicFrameLocks/>
          </p:cNvGraphicFramePr>
          <p:nvPr>
            <p:extLst>
              <p:ext uri="{D42A27DB-BD31-4B8C-83A1-F6EECF244321}">
                <p14:modId xmlns:p14="http://schemas.microsoft.com/office/powerpoint/2010/main" val="3845585189"/>
              </p:ext>
            </p:extLst>
          </p:nvPr>
        </p:nvGraphicFramePr>
        <p:xfrm>
          <a:off x="5486400" y="1732190"/>
          <a:ext cx="6225607" cy="46164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54415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A7B5C-4791-455F-9F92-16110931D00D}"/>
              </a:ext>
            </a:extLst>
          </p:cNvPr>
          <p:cNvSpPr>
            <a:spLocks noGrp="1"/>
          </p:cNvSpPr>
          <p:nvPr>
            <p:ph type="title"/>
          </p:nvPr>
        </p:nvSpPr>
        <p:spPr/>
        <p:txBody>
          <a:bodyPr/>
          <a:lstStyle/>
          <a:p>
            <a:r>
              <a:rPr lang="en-US" dirty="0">
                <a:latin typeface="Tw Cen MT" panose="020B0602020104020603" pitchFamily="34" charset="0"/>
              </a:rPr>
              <a:t>Task 7</a:t>
            </a:r>
          </a:p>
        </p:txBody>
      </p:sp>
      <p:sp>
        <p:nvSpPr>
          <p:cNvPr id="3" name="Content Placeholder 2">
            <a:extLst>
              <a:ext uri="{FF2B5EF4-FFF2-40B4-BE49-F238E27FC236}">
                <a16:creationId xmlns:a16="http://schemas.microsoft.com/office/drawing/2014/main" id="{3D98BDB9-5A6C-47B2-815E-C1F8E64F2A96}"/>
              </a:ext>
            </a:extLst>
          </p:cNvPr>
          <p:cNvSpPr>
            <a:spLocks noGrp="1"/>
          </p:cNvSpPr>
          <p:nvPr>
            <p:ph idx="1"/>
          </p:nvPr>
        </p:nvSpPr>
        <p:spPr/>
        <p:txBody>
          <a:bodyPr/>
          <a:lstStyle/>
          <a:p>
            <a:pPr marL="0" indent="0">
              <a:buNone/>
            </a:pPr>
            <a:r>
              <a:rPr lang="en-US" i="1" dirty="0">
                <a:latin typeface="+mj-lt"/>
              </a:rPr>
              <a:t>Review DRB data on household salt intake to address any data quality issues and generate a direct assessment of national and regional intake (g/c/d) of household salt (01192.01 Salt)</a:t>
            </a:r>
          </a:p>
        </p:txBody>
      </p:sp>
    </p:spTree>
    <p:extLst>
      <p:ext uri="{BB962C8B-B14F-4D97-AF65-F5344CB8AC3E}">
        <p14:creationId xmlns:p14="http://schemas.microsoft.com/office/powerpoint/2010/main" val="1640765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24D0E-A7C1-48D8-8CA2-5ED7A4316DB4}"/>
              </a:ext>
            </a:extLst>
          </p:cNvPr>
          <p:cNvSpPr>
            <a:spLocks noGrp="1"/>
          </p:cNvSpPr>
          <p:nvPr>
            <p:ph type="title"/>
          </p:nvPr>
        </p:nvSpPr>
        <p:spPr/>
        <p:txBody>
          <a:bodyPr/>
          <a:lstStyle/>
          <a:p>
            <a:r>
              <a:rPr lang="en-US" dirty="0">
                <a:latin typeface="Tw Cen MT" panose="020B0602020104020603" pitchFamily="34" charset="0"/>
              </a:rPr>
              <a:t>Task 7: Methodology</a:t>
            </a:r>
          </a:p>
        </p:txBody>
      </p:sp>
      <p:sp>
        <p:nvSpPr>
          <p:cNvPr id="3" name="Content Placeholder 2">
            <a:extLst>
              <a:ext uri="{FF2B5EF4-FFF2-40B4-BE49-F238E27FC236}">
                <a16:creationId xmlns:a16="http://schemas.microsoft.com/office/drawing/2014/main" id="{6128AF9A-ED46-48AD-A8D6-36D3EB37C136}"/>
              </a:ext>
            </a:extLst>
          </p:cNvPr>
          <p:cNvSpPr>
            <a:spLocks noGrp="1"/>
          </p:cNvSpPr>
          <p:nvPr>
            <p:ph idx="1"/>
          </p:nvPr>
        </p:nvSpPr>
        <p:spPr>
          <a:xfrm>
            <a:off x="838200" y="1825624"/>
            <a:ext cx="10515600" cy="5032375"/>
          </a:xfrm>
        </p:spPr>
        <p:txBody>
          <a:bodyPr>
            <a:normAutofit/>
          </a:bodyPr>
          <a:lstStyle/>
          <a:p>
            <a:pPr marL="274320">
              <a:lnSpc>
                <a:spcPct val="100000"/>
              </a:lnSpc>
              <a:spcBef>
                <a:spcPts val="1200"/>
              </a:spcBef>
              <a:spcAft>
                <a:spcPts val="1200"/>
              </a:spcAft>
              <a:buFont typeface="Wingdings" panose="05000000000000000000" pitchFamily="2" charset="2"/>
              <a:buChar char="§"/>
            </a:pPr>
            <a:r>
              <a:rPr lang="en-US" sz="2000" b="1" dirty="0">
                <a:latin typeface="+mj-lt"/>
              </a:rPr>
              <a:t>Data Sources</a:t>
            </a:r>
            <a:r>
              <a:rPr lang="en-US" sz="2000" dirty="0">
                <a:latin typeface="+mj-lt"/>
              </a:rPr>
              <a:t>: </a:t>
            </a:r>
            <a:r>
              <a:rPr lang="en-US" sz="2000" b="0" kern="1200" dirty="0">
                <a:solidFill>
                  <a:schemeClr val="tx1"/>
                </a:solidFill>
                <a:latin typeface="+mj-lt"/>
                <a:ea typeface="+mn-ea"/>
                <a:cs typeface="+mn-cs"/>
              </a:rPr>
              <a:t>NHIES 2015/16 Daily Record Book Dataset file</a:t>
            </a:r>
          </a:p>
          <a:p>
            <a:pPr marL="274320">
              <a:lnSpc>
                <a:spcPct val="100000"/>
              </a:lnSpc>
              <a:spcBef>
                <a:spcPts val="1200"/>
              </a:spcBef>
              <a:spcAft>
                <a:spcPts val="1200"/>
              </a:spcAft>
              <a:buFont typeface="Wingdings" panose="05000000000000000000" pitchFamily="2" charset="2"/>
              <a:buChar char="§"/>
            </a:pPr>
            <a:r>
              <a:rPr lang="en-US" sz="2000" b="1" dirty="0">
                <a:latin typeface="+mj-lt"/>
              </a:rPr>
              <a:t>Software</a:t>
            </a:r>
            <a:r>
              <a:rPr lang="en-US" sz="2000" dirty="0">
                <a:latin typeface="+mj-lt"/>
              </a:rPr>
              <a:t>: Python 3.8</a:t>
            </a:r>
          </a:p>
          <a:p>
            <a:pPr marL="274320">
              <a:lnSpc>
                <a:spcPct val="100000"/>
              </a:lnSpc>
              <a:spcBef>
                <a:spcPts val="1200"/>
              </a:spcBef>
              <a:spcAft>
                <a:spcPts val="1200"/>
              </a:spcAft>
              <a:buFont typeface="Wingdings" panose="05000000000000000000" pitchFamily="2" charset="2"/>
              <a:buChar char="§"/>
            </a:pPr>
            <a:r>
              <a:rPr lang="en-US" sz="2000" b="1" dirty="0">
                <a:latin typeface="+mj-lt"/>
              </a:rPr>
              <a:t>Analysis</a:t>
            </a:r>
            <a:r>
              <a:rPr lang="en-US" sz="2000" dirty="0">
                <a:latin typeface="+mj-lt"/>
              </a:rPr>
              <a:t> </a:t>
            </a:r>
            <a:r>
              <a:rPr lang="en-US" sz="2000" b="1" dirty="0">
                <a:latin typeface="+mj-lt"/>
              </a:rPr>
              <a:t>Process</a:t>
            </a:r>
            <a:r>
              <a:rPr lang="en-US" sz="2000" dirty="0">
                <a:latin typeface="+mj-lt"/>
              </a:rPr>
              <a:t>: A subset of the DRB file was created containing all rows wherein the HH had consumed salt in the last 7 days. Estimated number of grams consumed was calculated by assuming different values for the units of measure (e.g., 1 teaspoon of salt was assumed to weigh 5.9 grams). These values were applied, and extreme outliers cleaned/removed by preparing a cumulative density distribution of the grams/cap/day consumed. The mean and medians of this truncated distribution were then calculated.</a:t>
            </a:r>
          </a:p>
          <a:p>
            <a:pPr marL="274320">
              <a:lnSpc>
                <a:spcPct val="100000"/>
              </a:lnSpc>
              <a:spcBef>
                <a:spcPts val="1200"/>
              </a:spcBef>
              <a:spcAft>
                <a:spcPts val="1200"/>
              </a:spcAft>
              <a:buFont typeface="Wingdings" panose="05000000000000000000" pitchFamily="2" charset="2"/>
              <a:buChar char="§"/>
            </a:pPr>
            <a:r>
              <a:rPr lang="en-US" sz="2000" b="1" dirty="0">
                <a:latin typeface="+mj-lt"/>
              </a:rPr>
              <a:t>Limitations</a:t>
            </a:r>
            <a:r>
              <a:rPr lang="en-US" sz="2000" dirty="0">
                <a:latin typeface="+mj-lt"/>
              </a:rPr>
              <a:t>: The volume of data (e.g., salt dataset was 48,000+ rows) and available time prevented a more comprehensive cleaning approach. The CDF truncation approach was effective for obtaining a “best estimate” quickly. The </a:t>
            </a:r>
            <a:r>
              <a:rPr lang="en-US" sz="2000" dirty="0" err="1">
                <a:latin typeface="+mj-lt"/>
              </a:rPr>
              <a:t>ADePT</a:t>
            </a:r>
            <a:r>
              <a:rPr lang="en-US" sz="2000" dirty="0">
                <a:latin typeface="+mj-lt"/>
              </a:rPr>
              <a:t> cleaning methodology and algorithm is not well documented, making it challenging to understand key differences.</a:t>
            </a:r>
          </a:p>
        </p:txBody>
      </p:sp>
    </p:spTree>
    <p:extLst>
      <p:ext uri="{BB962C8B-B14F-4D97-AF65-F5344CB8AC3E}">
        <p14:creationId xmlns:p14="http://schemas.microsoft.com/office/powerpoint/2010/main" val="670661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07D5-62CA-492E-867D-1F0F96DF4071}"/>
              </a:ext>
            </a:extLst>
          </p:cNvPr>
          <p:cNvSpPr>
            <a:spLocks noGrp="1"/>
          </p:cNvSpPr>
          <p:nvPr>
            <p:ph type="title"/>
          </p:nvPr>
        </p:nvSpPr>
        <p:spPr/>
        <p:txBody>
          <a:bodyPr/>
          <a:lstStyle/>
          <a:p>
            <a:r>
              <a:rPr lang="en-US" dirty="0">
                <a:latin typeface="Tw Cen MT" panose="020B0602020104020603" pitchFamily="34" charset="0"/>
              </a:rPr>
              <a:t>Task 7: Key Findings/Results</a:t>
            </a:r>
          </a:p>
        </p:txBody>
      </p:sp>
      <p:sp>
        <p:nvSpPr>
          <p:cNvPr id="3" name="Content Placeholder 2">
            <a:extLst>
              <a:ext uri="{FF2B5EF4-FFF2-40B4-BE49-F238E27FC236}">
                <a16:creationId xmlns:a16="http://schemas.microsoft.com/office/drawing/2014/main" id="{4B8256A7-E270-49D7-98B5-A4998979F903}"/>
              </a:ext>
            </a:extLst>
          </p:cNvPr>
          <p:cNvSpPr>
            <a:spLocks noGrp="1"/>
          </p:cNvSpPr>
          <p:nvPr>
            <p:ph idx="1"/>
          </p:nvPr>
        </p:nvSpPr>
        <p:spPr>
          <a:xfrm>
            <a:off x="838199" y="1825625"/>
            <a:ext cx="6139649" cy="4351338"/>
          </a:xfrm>
        </p:spPr>
        <p:txBody>
          <a:bodyPr>
            <a:normAutofit/>
          </a:bodyPr>
          <a:lstStyle/>
          <a:p>
            <a:r>
              <a:rPr lang="en-US" dirty="0">
                <a:latin typeface="+mj-lt"/>
              </a:rPr>
              <a:t>Based on the methodology outlined above, the estimated amount of salt consumed in Namibia was 5.38 g/c/d. This is substantially higher than the 1.26 g/c/d estimated by </a:t>
            </a:r>
            <a:r>
              <a:rPr lang="en-US" dirty="0" err="1">
                <a:latin typeface="+mj-lt"/>
              </a:rPr>
              <a:t>ADePT</a:t>
            </a:r>
            <a:r>
              <a:rPr lang="en-US" dirty="0">
                <a:latin typeface="+mj-lt"/>
              </a:rPr>
              <a:t> software.</a:t>
            </a:r>
          </a:p>
          <a:p>
            <a:endParaRPr lang="en-US" dirty="0"/>
          </a:p>
        </p:txBody>
      </p:sp>
      <p:graphicFrame>
        <p:nvGraphicFramePr>
          <p:cNvPr id="4" name="Table 3">
            <a:extLst>
              <a:ext uri="{FF2B5EF4-FFF2-40B4-BE49-F238E27FC236}">
                <a16:creationId xmlns:a16="http://schemas.microsoft.com/office/drawing/2014/main" id="{E30A91ED-43B9-6D46-8D47-C02EBCED1DAB}"/>
              </a:ext>
            </a:extLst>
          </p:cNvPr>
          <p:cNvGraphicFramePr>
            <a:graphicFrameLocks noGrp="1"/>
          </p:cNvGraphicFramePr>
          <p:nvPr>
            <p:extLst>
              <p:ext uri="{D42A27DB-BD31-4B8C-83A1-F6EECF244321}">
                <p14:modId xmlns:p14="http://schemas.microsoft.com/office/powerpoint/2010/main" val="3915611471"/>
              </p:ext>
            </p:extLst>
          </p:nvPr>
        </p:nvGraphicFramePr>
        <p:xfrm>
          <a:off x="7413172" y="1278617"/>
          <a:ext cx="3940628" cy="4541520"/>
        </p:xfrm>
        <a:graphic>
          <a:graphicData uri="http://schemas.openxmlformats.org/drawingml/2006/table">
            <a:tbl>
              <a:tblPr>
                <a:tableStyleId>{5C22544A-7EE6-4342-B048-85BDC9FD1C3A}</a:tableStyleId>
              </a:tblPr>
              <a:tblGrid>
                <a:gridCol w="1322615">
                  <a:extLst>
                    <a:ext uri="{9D8B030D-6E8A-4147-A177-3AD203B41FA5}">
                      <a16:colId xmlns:a16="http://schemas.microsoft.com/office/drawing/2014/main" val="293769489"/>
                    </a:ext>
                  </a:extLst>
                </a:gridCol>
                <a:gridCol w="1173911">
                  <a:extLst>
                    <a:ext uri="{9D8B030D-6E8A-4147-A177-3AD203B41FA5}">
                      <a16:colId xmlns:a16="http://schemas.microsoft.com/office/drawing/2014/main" val="3538782918"/>
                    </a:ext>
                  </a:extLst>
                </a:gridCol>
                <a:gridCol w="1444102">
                  <a:extLst>
                    <a:ext uri="{9D8B030D-6E8A-4147-A177-3AD203B41FA5}">
                      <a16:colId xmlns:a16="http://schemas.microsoft.com/office/drawing/2014/main" val="3859392047"/>
                    </a:ext>
                  </a:extLst>
                </a:gridCol>
              </a:tblGrid>
              <a:tr h="257175">
                <a:tc>
                  <a:txBody>
                    <a:bodyPr/>
                    <a:lstStyle/>
                    <a:p>
                      <a:pPr algn="l" fontAlgn="t"/>
                      <a:r>
                        <a:rPr lang="en-GB" sz="1800" u="none" strike="noStrike">
                          <a:effectLst/>
                        </a:rPr>
                        <a:t>Region</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l" fontAlgn="t"/>
                      <a:r>
                        <a:rPr lang="en-GB" sz="1800" u="none" strike="noStrike" dirty="0" err="1">
                          <a:effectLst/>
                        </a:rPr>
                        <a:t>Salt_mean</a:t>
                      </a:r>
                      <a:endParaRPr lang="en-GB" sz="1800" b="1" i="0" u="none" strike="noStrike" dirty="0">
                        <a:solidFill>
                          <a:srgbClr val="000000"/>
                        </a:solidFill>
                        <a:effectLst/>
                        <a:latin typeface="Helvetica Neue" panose="02000503000000020004" pitchFamily="2" charset="0"/>
                      </a:endParaRPr>
                    </a:p>
                  </a:txBody>
                  <a:tcPr marL="9525" marR="9525" marT="9525" marB="0"/>
                </a:tc>
                <a:tc>
                  <a:txBody>
                    <a:bodyPr/>
                    <a:lstStyle/>
                    <a:p>
                      <a:pPr algn="l" fontAlgn="t"/>
                      <a:r>
                        <a:rPr lang="en-GB" sz="1800" u="none" strike="noStrike">
                          <a:effectLst/>
                        </a:rPr>
                        <a:t>Salt_median</a:t>
                      </a:r>
                      <a:endParaRPr lang="en-GB" sz="1800" b="1"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397342024"/>
                  </a:ext>
                </a:extLst>
              </a:tr>
              <a:tr h="257175">
                <a:tc>
                  <a:txBody>
                    <a:bodyPr/>
                    <a:lstStyle/>
                    <a:p>
                      <a:pPr algn="l" fontAlgn="t"/>
                      <a:r>
                        <a:rPr lang="en-GB" sz="1800" u="none" strike="noStrike">
                          <a:effectLst/>
                        </a:rPr>
                        <a:t>Total</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5.39</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4.87</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970172893"/>
                  </a:ext>
                </a:extLst>
              </a:tr>
              <a:tr h="254000">
                <a:tc>
                  <a:txBody>
                    <a:bodyPr/>
                    <a:lstStyle/>
                    <a:p>
                      <a:pPr algn="l" fontAlgn="t"/>
                      <a:r>
                        <a:rPr lang="en-GB" sz="1800" u="none" strike="noStrike">
                          <a:effectLst/>
                        </a:rPr>
                        <a:t>!Karas</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dirty="0">
                          <a:effectLst/>
                        </a:rPr>
                        <a:t>7.49</a:t>
                      </a:r>
                      <a:endParaRPr lang="en-NA" sz="1800" b="0" i="0" u="none" strike="noStrike" dirty="0">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5.90</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110281176"/>
                  </a:ext>
                </a:extLst>
              </a:tr>
              <a:tr h="254000">
                <a:tc>
                  <a:txBody>
                    <a:bodyPr/>
                    <a:lstStyle/>
                    <a:p>
                      <a:pPr algn="l" fontAlgn="t"/>
                      <a:r>
                        <a:rPr lang="en-GB" sz="1800" u="none" strike="noStrike">
                          <a:effectLst/>
                        </a:rPr>
                        <a:t>Erongo</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dirty="0">
                          <a:effectLst/>
                        </a:rPr>
                        <a:t>5.53</a:t>
                      </a:r>
                      <a:endParaRPr lang="en-NA" sz="1800" b="0" i="0" u="none" strike="noStrike" dirty="0">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5.90</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742121941"/>
                  </a:ext>
                </a:extLst>
              </a:tr>
              <a:tr h="254000">
                <a:tc>
                  <a:txBody>
                    <a:bodyPr/>
                    <a:lstStyle/>
                    <a:p>
                      <a:pPr algn="l" fontAlgn="t"/>
                      <a:r>
                        <a:rPr lang="en-GB" sz="1800" u="none" strike="noStrike">
                          <a:effectLst/>
                        </a:rPr>
                        <a:t>Hardap</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dirty="0">
                          <a:effectLst/>
                        </a:rPr>
                        <a:t>6.39</a:t>
                      </a:r>
                      <a:endParaRPr lang="en-NA" sz="1800" b="0" i="0" u="none" strike="noStrike" dirty="0">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5.90</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612089652"/>
                  </a:ext>
                </a:extLst>
              </a:tr>
              <a:tr h="254000">
                <a:tc>
                  <a:txBody>
                    <a:bodyPr/>
                    <a:lstStyle/>
                    <a:p>
                      <a:pPr algn="l" fontAlgn="t"/>
                      <a:r>
                        <a:rPr lang="en-GB" sz="1800" u="none" strike="noStrike">
                          <a:effectLst/>
                        </a:rPr>
                        <a:t>Kavango East</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dirty="0">
                          <a:effectLst/>
                        </a:rPr>
                        <a:t>2.79</a:t>
                      </a:r>
                      <a:endParaRPr lang="en-NA" sz="1800" b="0" i="0" u="none" strike="noStrike" dirty="0">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2.41</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135443035"/>
                  </a:ext>
                </a:extLst>
              </a:tr>
              <a:tr h="254000">
                <a:tc>
                  <a:txBody>
                    <a:bodyPr/>
                    <a:lstStyle/>
                    <a:p>
                      <a:pPr algn="l" fontAlgn="t"/>
                      <a:r>
                        <a:rPr lang="en-GB" sz="1800" u="none" strike="noStrike">
                          <a:effectLst/>
                        </a:rPr>
                        <a:t>Kavango West</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3.04</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2.53</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594039571"/>
                  </a:ext>
                </a:extLst>
              </a:tr>
              <a:tr h="254000">
                <a:tc>
                  <a:txBody>
                    <a:bodyPr/>
                    <a:lstStyle/>
                    <a:p>
                      <a:pPr algn="l" fontAlgn="t"/>
                      <a:r>
                        <a:rPr lang="en-GB" sz="1800" u="none" strike="noStrike">
                          <a:effectLst/>
                        </a:rPr>
                        <a:t>Khomas</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6.58</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5.90</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609559064"/>
                  </a:ext>
                </a:extLst>
              </a:tr>
              <a:tr h="254000">
                <a:tc>
                  <a:txBody>
                    <a:bodyPr/>
                    <a:lstStyle/>
                    <a:p>
                      <a:pPr algn="l" fontAlgn="t"/>
                      <a:r>
                        <a:rPr lang="en-GB" sz="1800" u="none" strike="noStrike">
                          <a:effectLst/>
                        </a:rPr>
                        <a:t>Kunene</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7.13</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5.90</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840103539"/>
                  </a:ext>
                </a:extLst>
              </a:tr>
              <a:tr h="254000">
                <a:tc>
                  <a:txBody>
                    <a:bodyPr/>
                    <a:lstStyle/>
                    <a:p>
                      <a:pPr algn="l" fontAlgn="t"/>
                      <a:r>
                        <a:rPr lang="en-GB" sz="1800" u="none" strike="noStrike">
                          <a:effectLst/>
                        </a:rPr>
                        <a:t>Ohangwena</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4.37</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3.92</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701878103"/>
                  </a:ext>
                </a:extLst>
              </a:tr>
              <a:tr h="254000">
                <a:tc>
                  <a:txBody>
                    <a:bodyPr/>
                    <a:lstStyle/>
                    <a:p>
                      <a:pPr algn="l" fontAlgn="t"/>
                      <a:r>
                        <a:rPr lang="en-GB" sz="1800" u="none" strike="noStrike">
                          <a:effectLst/>
                        </a:rPr>
                        <a:t>Omaheke</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5.92</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5.90</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4125576719"/>
                  </a:ext>
                </a:extLst>
              </a:tr>
              <a:tr h="254000">
                <a:tc>
                  <a:txBody>
                    <a:bodyPr/>
                    <a:lstStyle/>
                    <a:p>
                      <a:pPr algn="l" fontAlgn="t"/>
                      <a:r>
                        <a:rPr lang="en-GB" sz="1800" u="none" strike="noStrike">
                          <a:effectLst/>
                        </a:rPr>
                        <a:t>Omusati</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4.68</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3.90</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093600546"/>
                  </a:ext>
                </a:extLst>
              </a:tr>
              <a:tr h="254000">
                <a:tc>
                  <a:txBody>
                    <a:bodyPr/>
                    <a:lstStyle/>
                    <a:p>
                      <a:pPr algn="l" fontAlgn="t"/>
                      <a:r>
                        <a:rPr lang="en-GB" sz="1800" u="none" strike="noStrike">
                          <a:effectLst/>
                        </a:rPr>
                        <a:t>Oshana</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6.00</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5.69</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3734042899"/>
                  </a:ext>
                </a:extLst>
              </a:tr>
              <a:tr h="254000">
                <a:tc>
                  <a:txBody>
                    <a:bodyPr/>
                    <a:lstStyle/>
                    <a:p>
                      <a:pPr algn="l" fontAlgn="t"/>
                      <a:r>
                        <a:rPr lang="en-GB" sz="1800" u="none" strike="noStrike">
                          <a:effectLst/>
                        </a:rPr>
                        <a:t>Oshikoto</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5.58</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5.39</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2878815517"/>
                  </a:ext>
                </a:extLst>
              </a:tr>
              <a:tr h="254000">
                <a:tc>
                  <a:txBody>
                    <a:bodyPr/>
                    <a:lstStyle/>
                    <a:p>
                      <a:pPr algn="l" fontAlgn="t"/>
                      <a:r>
                        <a:rPr lang="en-GB" sz="1800" u="none" strike="noStrike">
                          <a:effectLst/>
                        </a:rPr>
                        <a:t>Otjozondjupa</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7.28</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5.90</a:t>
                      </a:r>
                      <a:endParaRPr lang="en-NA" sz="1800" b="0" i="0" u="none" strike="noStrike">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468564433"/>
                  </a:ext>
                </a:extLst>
              </a:tr>
              <a:tr h="254000">
                <a:tc>
                  <a:txBody>
                    <a:bodyPr/>
                    <a:lstStyle/>
                    <a:p>
                      <a:pPr algn="l" fontAlgn="t"/>
                      <a:r>
                        <a:rPr lang="en-GB" sz="1800" u="none" strike="noStrike">
                          <a:effectLst/>
                        </a:rPr>
                        <a:t>Zambezi</a:t>
                      </a:r>
                      <a:endParaRPr lang="en-GB" sz="1800" b="1"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a:effectLst/>
                        </a:rPr>
                        <a:t>4.60</a:t>
                      </a:r>
                      <a:endParaRPr lang="en-NA" sz="1800" b="0" i="0" u="none" strike="noStrike">
                        <a:solidFill>
                          <a:srgbClr val="000000"/>
                        </a:solidFill>
                        <a:effectLst/>
                        <a:latin typeface="Helvetica Neue" panose="02000503000000020004" pitchFamily="2" charset="0"/>
                      </a:endParaRPr>
                    </a:p>
                  </a:txBody>
                  <a:tcPr marL="9525" marR="9525" marT="9525" marB="0"/>
                </a:tc>
                <a:tc>
                  <a:txBody>
                    <a:bodyPr/>
                    <a:lstStyle/>
                    <a:p>
                      <a:pPr algn="r" fontAlgn="t"/>
                      <a:r>
                        <a:rPr lang="en-NA" sz="1800" u="none" strike="noStrike" dirty="0">
                          <a:effectLst/>
                        </a:rPr>
                        <a:t>3.93</a:t>
                      </a:r>
                      <a:endParaRPr lang="en-NA" sz="1800" b="0" i="0" u="none" strike="noStrike" dirty="0">
                        <a:solidFill>
                          <a:srgbClr val="000000"/>
                        </a:solidFill>
                        <a:effectLst/>
                        <a:latin typeface="Helvetica Neue" panose="02000503000000020004" pitchFamily="2" charset="0"/>
                      </a:endParaRPr>
                    </a:p>
                  </a:txBody>
                  <a:tcPr marL="9525" marR="9525" marT="9525" marB="0"/>
                </a:tc>
                <a:extLst>
                  <a:ext uri="{0D108BD9-81ED-4DB2-BD59-A6C34878D82A}">
                    <a16:rowId xmlns:a16="http://schemas.microsoft.com/office/drawing/2014/main" val="402496361"/>
                  </a:ext>
                </a:extLst>
              </a:tr>
            </a:tbl>
          </a:graphicData>
        </a:graphic>
      </p:graphicFrame>
    </p:spTree>
    <p:extLst>
      <p:ext uri="{BB962C8B-B14F-4D97-AF65-F5344CB8AC3E}">
        <p14:creationId xmlns:p14="http://schemas.microsoft.com/office/powerpoint/2010/main" val="3582587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07D5-62CA-492E-867D-1F0F96DF4071}"/>
              </a:ext>
            </a:extLst>
          </p:cNvPr>
          <p:cNvSpPr>
            <a:spLocks noGrp="1"/>
          </p:cNvSpPr>
          <p:nvPr>
            <p:ph type="title"/>
          </p:nvPr>
        </p:nvSpPr>
        <p:spPr/>
        <p:txBody>
          <a:bodyPr/>
          <a:lstStyle/>
          <a:p>
            <a:r>
              <a:rPr lang="en-US" dirty="0">
                <a:latin typeface="Tw Cen MT" panose="020B0602020104020603" pitchFamily="34" charset="0"/>
              </a:rPr>
              <a:t>Task 7: Key Findings/Results</a:t>
            </a:r>
          </a:p>
        </p:txBody>
      </p:sp>
      <p:sp>
        <p:nvSpPr>
          <p:cNvPr id="3" name="Content Placeholder 2">
            <a:extLst>
              <a:ext uri="{FF2B5EF4-FFF2-40B4-BE49-F238E27FC236}">
                <a16:creationId xmlns:a16="http://schemas.microsoft.com/office/drawing/2014/main" id="{4B8256A7-E270-49D7-98B5-A4998979F903}"/>
              </a:ext>
            </a:extLst>
          </p:cNvPr>
          <p:cNvSpPr>
            <a:spLocks noGrp="1"/>
          </p:cNvSpPr>
          <p:nvPr>
            <p:ph idx="1"/>
          </p:nvPr>
        </p:nvSpPr>
        <p:spPr>
          <a:xfrm>
            <a:off x="838199" y="1825625"/>
            <a:ext cx="6139649" cy="4351338"/>
          </a:xfrm>
        </p:spPr>
        <p:txBody>
          <a:bodyPr>
            <a:normAutofit/>
          </a:bodyPr>
          <a:lstStyle/>
          <a:p>
            <a:r>
              <a:rPr lang="en-US" sz="2800" dirty="0">
                <a:latin typeface="+mj-lt"/>
              </a:rPr>
              <a:t>Apart from </a:t>
            </a:r>
            <a:r>
              <a:rPr lang="en-US" sz="2800" dirty="0" err="1">
                <a:latin typeface="+mj-lt"/>
              </a:rPr>
              <a:t>Kavango</a:t>
            </a:r>
            <a:r>
              <a:rPr lang="en-US" sz="2800" dirty="0">
                <a:latin typeface="+mj-lt"/>
              </a:rPr>
              <a:t> East and West, the distribution of salt consumption was very similar throughout the regions. </a:t>
            </a:r>
          </a:p>
          <a:p>
            <a:pPr marL="0" indent="0">
              <a:buNone/>
            </a:pPr>
            <a:endParaRPr lang="en-US" dirty="0"/>
          </a:p>
        </p:txBody>
      </p:sp>
      <p:pic>
        <p:nvPicPr>
          <p:cNvPr id="9" name="Graphic 8">
            <a:extLst>
              <a:ext uri="{FF2B5EF4-FFF2-40B4-BE49-F238E27FC236}">
                <a16:creationId xmlns:a16="http://schemas.microsoft.com/office/drawing/2014/main" id="{2B4333D5-05DB-44A2-AF73-697B8B54E5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1027906"/>
            <a:ext cx="4114800" cy="2743200"/>
          </a:xfrm>
          <a:prstGeom prst="rect">
            <a:avLst/>
          </a:prstGeom>
        </p:spPr>
      </p:pic>
      <p:pic>
        <p:nvPicPr>
          <p:cNvPr id="11" name="Graphic 10">
            <a:extLst>
              <a:ext uri="{FF2B5EF4-FFF2-40B4-BE49-F238E27FC236}">
                <a16:creationId xmlns:a16="http://schemas.microsoft.com/office/drawing/2014/main" id="{269574AF-C646-4CA8-89FD-A7FB46E5F0E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3771106"/>
            <a:ext cx="4114800" cy="2743200"/>
          </a:xfrm>
          <a:prstGeom prst="rect">
            <a:avLst/>
          </a:prstGeom>
        </p:spPr>
      </p:pic>
      <p:pic>
        <p:nvPicPr>
          <p:cNvPr id="5" name="Graphic 4">
            <a:extLst>
              <a:ext uri="{FF2B5EF4-FFF2-40B4-BE49-F238E27FC236}">
                <a16:creationId xmlns:a16="http://schemas.microsoft.com/office/drawing/2014/main" id="{535E9083-002D-ED48-AD04-F098E776DE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24001" y="3184072"/>
            <a:ext cx="4727121" cy="3151414"/>
          </a:xfrm>
          <a:prstGeom prst="rect">
            <a:avLst/>
          </a:prstGeom>
        </p:spPr>
      </p:pic>
    </p:spTree>
    <p:extLst>
      <p:ext uri="{BB962C8B-B14F-4D97-AF65-F5344CB8AC3E}">
        <p14:creationId xmlns:p14="http://schemas.microsoft.com/office/powerpoint/2010/main" val="151513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AB91A-4084-4374-9209-4B2CA738037A}"/>
              </a:ext>
            </a:extLst>
          </p:cNvPr>
          <p:cNvSpPr>
            <a:spLocks noGrp="1"/>
          </p:cNvSpPr>
          <p:nvPr>
            <p:ph type="title"/>
          </p:nvPr>
        </p:nvSpPr>
        <p:spPr/>
        <p:txBody>
          <a:bodyPr/>
          <a:lstStyle/>
          <a:p>
            <a:r>
              <a:rPr lang="en-US" dirty="0">
                <a:latin typeface="Tw Cen MT" panose="020B0602020104020603" pitchFamily="34" charset="0"/>
              </a:rPr>
              <a:t>Task 8</a:t>
            </a:r>
          </a:p>
        </p:txBody>
      </p:sp>
      <p:sp>
        <p:nvSpPr>
          <p:cNvPr id="3" name="Content Placeholder 2">
            <a:extLst>
              <a:ext uri="{FF2B5EF4-FFF2-40B4-BE49-F238E27FC236}">
                <a16:creationId xmlns:a16="http://schemas.microsoft.com/office/drawing/2014/main" id="{582B6E26-7D67-4393-8879-7CAB3B744849}"/>
              </a:ext>
            </a:extLst>
          </p:cNvPr>
          <p:cNvSpPr>
            <a:spLocks noGrp="1"/>
          </p:cNvSpPr>
          <p:nvPr>
            <p:ph idx="1"/>
          </p:nvPr>
        </p:nvSpPr>
        <p:spPr/>
        <p:txBody>
          <a:bodyPr/>
          <a:lstStyle/>
          <a:p>
            <a:pPr marL="0" indent="0">
              <a:buNone/>
            </a:pPr>
            <a:r>
              <a:rPr lang="en-US" i="1" dirty="0">
                <a:latin typeface="+mj-lt"/>
              </a:rPr>
              <a:t>Calculate the contribution of household salt (from point 7) and processed food to salt and iodine intake using the IGN Programme Guidance on the Use of Iodized Salt in Industrially Processed Foods.</a:t>
            </a:r>
          </a:p>
          <a:p>
            <a:pPr marL="0" indent="0">
              <a:buNone/>
            </a:pPr>
            <a:endParaRPr lang="en-US" i="1" dirty="0">
              <a:latin typeface="+mj-lt"/>
            </a:endParaRPr>
          </a:p>
        </p:txBody>
      </p:sp>
    </p:spTree>
    <p:extLst>
      <p:ext uri="{BB962C8B-B14F-4D97-AF65-F5344CB8AC3E}">
        <p14:creationId xmlns:p14="http://schemas.microsoft.com/office/powerpoint/2010/main" val="586393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BB43-2594-A94D-99D0-2FA0244E1E86}"/>
              </a:ext>
            </a:extLst>
          </p:cNvPr>
          <p:cNvSpPr>
            <a:spLocks noGrp="1"/>
          </p:cNvSpPr>
          <p:nvPr>
            <p:ph type="title"/>
          </p:nvPr>
        </p:nvSpPr>
        <p:spPr/>
        <p:txBody>
          <a:bodyPr/>
          <a:lstStyle/>
          <a:p>
            <a:r>
              <a:rPr lang="en-NA" dirty="0"/>
              <a:t>Methodology</a:t>
            </a:r>
          </a:p>
        </p:txBody>
      </p:sp>
      <p:sp>
        <p:nvSpPr>
          <p:cNvPr id="3" name="Content Placeholder 2">
            <a:extLst>
              <a:ext uri="{FF2B5EF4-FFF2-40B4-BE49-F238E27FC236}">
                <a16:creationId xmlns:a16="http://schemas.microsoft.com/office/drawing/2014/main" id="{A5FE9486-962B-8C46-82F4-92E786AF0679}"/>
              </a:ext>
            </a:extLst>
          </p:cNvPr>
          <p:cNvSpPr>
            <a:spLocks noGrp="1"/>
          </p:cNvSpPr>
          <p:nvPr>
            <p:ph idx="1"/>
          </p:nvPr>
        </p:nvSpPr>
        <p:spPr/>
        <p:txBody>
          <a:bodyPr/>
          <a:lstStyle/>
          <a:p>
            <a:r>
              <a:rPr lang="en-NA" dirty="0"/>
              <a:t>Used data from Outputs 3 (g/c/d of processed foods) and Output 7 (estimate of direct/discretionary salt intake from DRB to assess the contribution of HH salt and procesed foods to salt and iodine intake using the IGN Guidance on Use of Iodized Salt in Processed Foods.</a:t>
            </a:r>
          </a:p>
        </p:txBody>
      </p:sp>
    </p:spTree>
    <p:extLst>
      <p:ext uri="{BB962C8B-B14F-4D97-AF65-F5344CB8AC3E}">
        <p14:creationId xmlns:p14="http://schemas.microsoft.com/office/powerpoint/2010/main" val="3747295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F6BB2-E6BC-514D-ACDC-8C6B231B1406}"/>
              </a:ext>
            </a:extLst>
          </p:cNvPr>
          <p:cNvSpPr>
            <a:spLocks noGrp="1"/>
          </p:cNvSpPr>
          <p:nvPr>
            <p:ph type="title"/>
          </p:nvPr>
        </p:nvSpPr>
        <p:spPr>
          <a:xfrm>
            <a:off x="511446" y="561068"/>
            <a:ext cx="3554187" cy="1325563"/>
          </a:xfrm>
        </p:spPr>
        <p:txBody>
          <a:bodyPr>
            <a:normAutofit fontScale="90000"/>
          </a:bodyPr>
          <a:lstStyle/>
          <a:p>
            <a:r>
              <a:rPr lang="en-US" dirty="0">
                <a:latin typeface="Tw Cen MT" panose="020B0602020104020603" pitchFamily="34" charset="0"/>
              </a:rPr>
              <a:t>Task 7: Key Findings/Results</a:t>
            </a:r>
            <a:endParaRPr lang="en-NA" dirty="0"/>
          </a:p>
        </p:txBody>
      </p:sp>
      <p:pic>
        <p:nvPicPr>
          <p:cNvPr id="4" name="Picture 3">
            <a:extLst>
              <a:ext uri="{FF2B5EF4-FFF2-40B4-BE49-F238E27FC236}">
                <a16:creationId xmlns:a16="http://schemas.microsoft.com/office/drawing/2014/main" id="{CB8D7DDA-D3C9-884A-83B8-D673757DB03C}"/>
              </a:ext>
            </a:extLst>
          </p:cNvPr>
          <p:cNvPicPr/>
          <p:nvPr/>
        </p:nvPicPr>
        <p:blipFill>
          <a:blip r:embed="rId2"/>
          <a:stretch>
            <a:fillRect/>
          </a:stretch>
        </p:blipFill>
        <p:spPr>
          <a:xfrm>
            <a:off x="4392387" y="702129"/>
            <a:ext cx="7435124" cy="5790746"/>
          </a:xfrm>
          <a:prstGeom prst="rect">
            <a:avLst/>
          </a:prstGeom>
        </p:spPr>
      </p:pic>
    </p:spTree>
    <p:extLst>
      <p:ext uri="{BB962C8B-B14F-4D97-AF65-F5344CB8AC3E}">
        <p14:creationId xmlns:p14="http://schemas.microsoft.com/office/powerpoint/2010/main" val="2376325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792</TotalTime>
  <Words>2787</Words>
  <Application>Microsoft Macintosh PowerPoint</Application>
  <PresentationFormat>Widescreen</PresentationFormat>
  <Paragraphs>784</Paragraphs>
  <Slides>30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Helvetica Neue</vt:lpstr>
      <vt:lpstr>Tw Cen MT</vt:lpstr>
      <vt:lpstr>Wingdings</vt:lpstr>
      <vt:lpstr>Office Theme</vt:lpstr>
      <vt:lpstr>Food Production and Consumption Patterns in Namibia</vt:lpstr>
      <vt:lpstr>Overview</vt:lpstr>
      <vt:lpstr>Task 3</vt:lpstr>
      <vt:lpstr>Task 3: Methodology</vt:lpstr>
      <vt:lpstr>Task 3: Foods included in the calculation and % fortifiable content for wheat flour</vt:lpstr>
      <vt:lpstr>Task 3: Foods included in the calculation and % fortifiable content for salt</vt:lpstr>
      <vt:lpstr>Task 3: Foods included in the calculation and % fortifiable content for maize, mahangu and milk</vt:lpstr>
      <vt:lpstr>Task 3: Key Findings/Results</vt:lpstr>
      <vt:lpstr>Task 3: Key Findings/Results</vt:lpstr>
      <vt:lpstr>Task 4</vt:lpstr>
      <vt:lpstr>Task 4: Methodology</vt:lpstr>
      <vt:lpstr>Task 4: Key Findings/Results</vt:lpstr>
      <vt:lpstr>Task 4: Key Findings/Results</vt:lpstr>
      <vt:lpstr>Task 4: Key Findings/Results</vt:lpstr>
      <vt:lpstr>Task 4: Key Findings/Results</vt:lpstr>
      <vt:lpstr>Task 5</vt:lpstr>
      <vt:lpstr>Task 5: Methodology</vt:lpstr>
      <vt:lpstr>Task 5: Key Findings/Results</vt:lpstr>
      <vt:lpstr>Task 6</vt:lpstr>
      <vt:lpstr>Task 6: Methodology</vt:lpstr>
      <vt:lpstr>Task 6: Key Findings/Results</vt:lpstr>
      <vt:lpstr>Task 6: Key Findings/Results</vt:lpstr>
      <vt:lpstr>Task 6: Key Findings/Results</vt:lpstr>
      <vt:lpstr>Task 7</vt:lpstr>
      <vt:lpstr>Task 7: Methodology</vt:lpstr>
      <vt:lpstr>Task 7: Key Findings/Results</vt:lpstr>
      <vt:lpstr>Task 7: Key Findings/Results</vt:lpstr>
      <vt:lpstr>Task 8</vt:lpstr>
      <vt:lpstr>Methodology</vt:lpstr>
      <vt:lpstr>Task 7: Key Findings/Results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karen codling</cp:lastModifiedBy>
  <cp:revision>40</cp:revision>
  <dcterms:created xsi:type="dcterms:W3CDTF">2020-12-18T10:23:39Z</dcterms:created>
  <dcterms:modified xsi:type="dcterms:W3CDTF">2021-02-19T20:51:27Z</dcterms:modified>
</cp:coreProperties>
</file>