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1" r:id="rId6"/>
    <p:sldId id="264" r:id="rId7"/>
    <p:sldId id="265" r:id="rId8"/>
    <p:sldId id="266" r:id="rId9"/>
    <p:sldId id="267" r:id="rId10"/>
    <p:sldId id="271" r:id="rId11"/>
    <p:sldId id="273" r:id="rId12"/>
    <p:sldId id="262" r:id="rId13"/>
    <p:sldId id="268" r:id="rId14"/>
    <p:sldId id="269" r:id="rId15"/>
    <p:sldId id="270" r:id="rId16"/>
    <p:sldId id="272" r:id="rId17"/>
    <p:sldId id="274" r:id="rId18"/>
    <p:sldId id="275"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aren codling" initials="kc" lastIdx="37" clrIdx="0">
    <p:extLst>
      <p:ext uri="{19B8F6BF-5375-455C-9EA6-DF929625EA0E}">
        <p15:presenceInfo xmlns:p15="http://schemas.microsoft.com/office/powerpoint/2012/main" userId="c257a15a2433dd29" providerId="Windows Live"/>
      </p:ext>
    </p:extLst>
  </p:cmAuthor>
  <p:cmAuthor id="2" name="Aaron WISE" initials="AW" lastIdx="37" clrIdx="1">
    <p:extLst>
      <p:ext uri="{19B8F6BF-5375-455C-9EA6-DF929625EA0E}">
        <p15:presenceInfo xmlns:p15="http://schemas.microsoft.com/office/powerpoint/2012/main" userId="Aaron WISE"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401" autoAdjust="0"/>
    <p:restoredTop sz="94660"/>
  </p:normalViewPr>
  <p:slideViewPr>
    <p:cSldViewPr snapToGrid="0">
      <p:cViewPr varScale="1">
        <p:scale>
          <a:sx n="124" d="100"/>
          <a:sy n="124" d="100"/>
        </p:scale>
        <p:origin x="360"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03071-1C2A-44AB-9060-A693F16FAEA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73140DF-83F7-4AE1-BDAB-59B07BFBA54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DEE0D53-5792-4FF2-9515-FC2D2FD58A96}"/>
              </a:ext>
            </a:extLst>
          </p:cNvPr>
          <p:cNvSpPr>
            <a:spLocks noGrp="1"/>
          </p:cNvSpPr>
          <p:nvPr>
            <p:ph type="dt" sz="half" idx="10"/>
          </p:nvPr>
        </p:nvSpPr>
        <p:spPr/>
        <p:txBody>
          <a:bodyPr/>
          <a:lstStyle/>
          <a:p>
            <a:fld id="{2D472A7B-04CB-4AB4-93B8-155986DCACD7}" type="datetimeFigureOut">
              <a:rPr lang="en-US" smtClean="0"/>
              <a:t>2/19/21</a:t>
            </a:fld>
            <a:endParaRPr lang="en-US"/>
          </a:p>
        </p:txBody>
      </p:sp>
      <p:sp>
        <p:nvSpPr>
          <p:cNvPr id="5" name="Footer Placeholder 4">
            <a:extLst>
              <a:ext uri="{FF2B5EF4-FFF2-40B4-BE49-F238E27FC236}">
                <a16:creationId xmlns:a16="http://schemas.microsoft.com/office/drawing/2014/main" id="{4F6B933F-8D8B-4C1F-8FE1-911E95710B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58C753-28DD-40BA-99C9-9C9DC8AFFCA2}"/>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26785518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05B0A-4667-4A1C-891D-D129FB076F6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BDA001D-0DC2-46A2-8FC9-B00C507B2A1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F469FCB-800A-42AD-B078-D4B09319B8B5}"/>
              </a:ext>
            </a:extLst>
          </p:cNvPr>
          <p:cNvSpPr>
            <a:spLocks noGrp="1"/>
          </p:cNvSpPr>
          <p:nvPr>
            <p:ph type="dt" sz="half" idx="10"/>
          </p:nvPr>
        </p:nvSpPr>
        <p:spPr/>
        <p:txBody>
          <a:bodyPr/>
          <a:lstStyle/>
          <a:p>
            <a:fld id="{2D472A7B-04CB-4AB4-93B8-155986DCACD7}" type="datetimeFigureOut">
              <a:rPr lang="en-US" smtClean="0"/>
              <a:t>2/19/21</a:t>
            </a:fld>
            <a:endParaRPr lang="en-US"/>
          </a:p>
        </p:txBody>
      </p:sp>
      <p:sp>
        <p:nvSpPr>
          <p:cNvPr id="5" name="Footer Placeholder 4">
            <a:extLst>
              <a:ext uri="{FF2B5EF4-FFF2-40B4-BE49-F238E27FC236}">
                <a16:creationId xmlns:a16="http://schemas.microsoft.com/office/drawing/2014/main" id="{AA421AC6-52DA-4FDA-A879-6EB0BD3AD5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488A48-6040-4CB9-ADF6-DE35AF86BED0}"/>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40628972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42B7D-74CD-4FB3-B938-604783F887C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498C211-1D0E-4BEC-858A-40CD9136905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99008D0-CF0A-4E93-B13F-89379512D74C}"/>
              </a:ext>
            </a:extLst>
          </p:cNvPr>
          <p:cNvSpPr>
            <a:spLocks noGrp="1"/>
          </p:cNvSpPr>
          <p:nvPr>
            <p:ph type="dt" sz="half" idx="10"/>
          </p:nvPr>
        </p:nvSpPr>
        <p:spPr/>
        <p:txBody>
          <a:bodyPr/>
          <a:lstStyle/>
          <a:p>
            <a:fld id="{2D472A7B-04CB-4AB4-93B8-155986DCACD7}" type="datetimeFigureOut">
              <a:rPr lang="en-US" smtClean="0"/>
              <a:t>2/19/21</a:t>
            </a:fld>
            <a:endParaRPr lang="en-US"/>
          </a:p>
        </p:txBody>
      </p:sp>
      <p:sp>
        <p:nvSpPr>
          <p:cNvPr id="5" name="Footer Placeholder 4">
            <a:extLst>
              <a:ext uri="{FF2B5EF4-FFF2-40B4-BE49-F238E27FC236}">
                <a16:creationId xmlns:a16="http://schemas.microsoft.com/office/drawing/2014/main" id="{410A7E6F-0B83-4777-8C81-8932225563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EA0BE5-B6D5-451B-91ED-3CA8FF5B5E23}"/>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21331360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4D0EAB-A4A3-40BD-AEA3-1DB43D332DD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5DFFFF8-0A66-469E-BB5B-9208753C975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7AF7526-A284-475A-BB25-81B36A8C674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F276E1C-3F79-4689-A69C-034870512301}"/>
              </a:ext>
            </a:extLst>
          </p:cNvPr>
          <p:cNvSpPr>
            <a:spLocks noGrp="1"/>
          </p:cNvSpPr>
          <p:nvPr>
            <p:ph type="dt" sz="half" idx="10"/>
          </p:nvPr>
        </p:nvSpPr>
        <p:spPr/>
        <p:txBody>
          <a:bodyPr/>
          <a:lstStyle/>
          <a:p>
            <a:fld id="{2D472A7B-04CB-4AB4-93B8-155986DCACD7}" type="datetimeFigureOut">
              <a:rPr lang="en-US" smtClean="0"/>
              <a:t>2/19/21</a:t>
            </a:fld>
            <a:endParaRPr lang="en-US"/>
          </a:p>
        </p:txBody>
      </p:sp>
      <p:sp>
        <p:nvSpPr>
          <p:cNvPr id="6" name="Footer Placeholder 5">
            <a:extLst>
              <a:ext uri="{FF2B5EF4-FFF2-40B4-BE49-F238E27FC236}">
                <a16:creationId xmlns:a16="http://schemas.microsoft.com/office/drawing/2014/main" id="{4227C102-9BBC-437A-AD73-18706BB41EF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EB0D8B3-796A-40A8-951A-3643B7849180}"/>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1378414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27303-0FBA-475D-A8EF-2BDF0C7CA3D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CA49C25-E71D-4E0A-AA9D-4B9F8E26B72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30812C0-F16E-421F-B50E-59EFB07FC26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E1E1E92-A29C-4029-A6D4-00B9457A3B6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347F56E-09E2-4FC2-A0F3-7D21079902D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B05D065-679F-42EF-AD85-8F3F7EF531FB}"/>
              </a:ext>
            </a:extLst>
          </p:cNvPr>
          <p:cNvSpPr>
            <a:spLocks noGrp="1"/>
          </p:cNvSpPr>
          <p:nvPr>
            <p:ph type="dt" sz="half" idx="10"/>
          </p:nvPr>
        </p:nvSpPr>
        <p:spPr/>
        <p:txBody>
          <a:bodyPr/>
          <a:lstStyle/>
          <a:p>
            <a:fld id="{2D472A7B-04CB-4AB4-93B8-155986DCACD7}" type="datetimeFigureOut">
              <a:rPr lang="en-US" smtClean="0"/>
              <a:t>2/19/21</a:t>
            </a:fld>
            <a:endParaRPr lang="en-US"/>
          </a:p>
        </p:txBody>
      </p:sp>
      <p:sp>
        <p:nvSpPr>
          <p:cNvPr id="8" name="Footer Placeholder 7">
            <a:extLst>
              <a:ext uri="{FF2B5EF4-FFF2-40B4-BE49-F238E27FC236}">
                <a16:creationId xmlns:a16="http://schemas.microsoft.com/office/drawing/2014/main" id="{8D8FD2C3-80B6-4B23-B2C8-BDBB250B60B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A551701-B74C-4762-9E4A-59C958DFC08C}"/>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39701297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5714F-EE50-457D-9420-BB9D4C9ADAA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B214A65-4DB1-424A-977A-0FB1E90F4F69}"/>
              </a:ext>
            </a:extLst>
          </p:cNvPr>
          <p:cNvSpPr>
            <a:spLocks noGrp="1"/>
          </p:cNvSpPr>
          <p:nvPr>
            <p:ph type="dt" sz="half" idx="10"/>
          </p:nvPr>
        </p:nvSpPr>
        <p:spPr/>
        <p:txBody>
          <a:bodyPr/>
          <a:lstStyle/>
          <a:p>
            <a:fld id="{2D472A7B-04CB-4AB4-93B8-155986DCACD7}" type="datetimeFigureOut">
              <a:rPr lang="en-US" smtClean="0"/>
              <a:t>2/19/21</a:t>
            </a:fld>
            <a:endParaRPr lang="en-US"/>
          </a:p>
        </p:txBody>
      </p:sp>
      <p:sp>
        <p:nvSpPr>
          <p:cNvPr id="4" name="Footer Placeholder 3">
            <a:extLst>
              <a:ext uri="{FF2B5EF4-FFF2-40B4-BE49-F238E27FC236}">
                <a16:creationId xmlns:a16="http://schemas.microsoft.com/office/drawing/2014/main" id="{C6403B95-47C5-4F13-895B-3360F2C19B6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6927C01-2453-43DA-94F2-1D061CE536B3}"/>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23026317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3DCB9C4-A182-4850-BE72-83C27EE68517}"/>
              </a:ext>
            </a:extLst>
          </p:cNvPr>
          <p:cNvSpPr>
            <a:spLocks noGrp="1"/>
          </p:cNvSpPr>
          <p:nvPr>
            <p:ph type="dt" sz="half" idx="10"/>
          </p:nvPr>
        </p:nvSpPr>
        <p:spPr/>
        <p:txBody>
          <a:bodyPr/>
          <a:lstStyle/>
          <a:p>
            <a:fld id="{2D472A7B-04CB-4AB4-93B8-155986DCACD7}" type="datetimeFigureOut">
              <a:rPr lang="en-US" smtClean="0"/>
              <a:t>2/19/21</a:t>
            </a:fld>
            <a:endParaRPr lang="en-US"/>
          </a:p>
        </p:txBody>
      </p:sp>
      <p:sp>
        <p:nvSpPr>
          <p:cNvPr id="3" name="Footer Placeholder 2">
            <a:extLst>
              <a:ext uri="{FF2B5EF4-FFF2-40B4-BE49-F238E27FC236}">
                <a16:creationId xmlns:a16="http://schemas.microsoft.com/office/drawing/2014/main" id="{5E3B27E1-39B7-40D2-AA61-F5D532DAED7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C9B2D57-D75F-44FA-98DF-7C6C0CF8D6A6}"/>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10676168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D3871-97D8-4291-B25F-C5491C345E6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17DE847-74F1-478F-85EA-741A4240D24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B22CC09-55F8-409D-A2E5-2FA9E37353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8723B55-FB44-4B08-B8FE-5EC059176617}"/>
              </a:ext>
            </a:extLst>
          </p:cNvPr>
          <p:cNvSpPr>
            <a:spLocks noGrp="1"/>
          </p:cNvSpPr>
          <p:nvPr>
            <p:ph type="dt" sz="half" idx="10"/>
          </p:nvPr>
        </p:nvSpPr>
        <p:spPr/>
        <p:txBody>
          <a:bodyPr/>
          <a:lstStyle/>
          <a:p>
            <a:fld id="{2D472A7B-04CB-4AB4-93B8-155986DCACD7}" type="datetimeFigureOut">
              <a:rPr lang="en-US" smtClean="0"/>
              <a:t>2/19/21</a:t>
            </a:fld>
            <a:endParaRPr lang="en-US"/>
          </a:p>
        </p:txBody>
      </p:sp>
      <p:sp>
        <p:nvSpPr>
          <p:cNvPr id="6" name="Footer Placeholder 5">
            <a:extLst>
              <a:ext uri="{FF2B5EF4-FFF2-40B4-BE49-F238E27FC236}">
                <a16:creationId xmlns:a16="http://schemas.microsoft.com/office/drawing/2014/main" id="{AB8C702E-5361-495E-9117-D897E0D0203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E3DEAF2-09E0-44AD-87D7-533763319937}"/>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20237338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75B4AC-0D62-4F2F-AFFD-9503632ADAA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C2451EE-3DB6-4849-8D8F-10219A9A19F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08398DE-7EB8-4FB5-BA10-9747797B54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CD03CE6-FC1C-40E4-A244-510B83F56512}"/>
              </a:ext>
            </a:extLst>
          </p:cNvPr>
          <p:cNvSpPr>
            <a:spLocks noGrp="1"/>
          </p:cNvSpPr>
          <p:nvPr>
            <p:ph type="dt" sz="half" idx="10"/>
          </p:nvPr>
        </p:nvSpPr>
        <p:spPr/>
        <p:txBody>
          <a:bodyPr/>
          <a:lstStyle/>
          <a:p>
            <a:fld id="{2D472A7B-04CB-4AB4-93B8-155986DCACD7}" type="datetimeFigureOut">
              <a:rPr lang="en-US" smtClean="0"/>
              <a:t>2/19/21</a:t>
            </a:fld>
            <a:endParaRPr lang="en-US"/>
          </a:p>
        </p:txBody>
      </p:sp>
      <p:sp>
        <p:nvSpPr>
          <p:cNvPr id="6" name="Footer Placeholder 5">
            <a:extLst>
              <a:ext uri="{FF2B5EF4-FFF2-40B4-BE49-F238E27FC236}">
                <a16:creationId xmlns:a16="http://schemas.microsoft.com/office/drawing/2014/main" id="{B1B5A524-378C-4F76-8B3B-F52F4BE6536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0092C1-AA46-4905-A2D7-41B931814CD2}"/>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24963136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9B00E8-AE22-4307-A6EF-F254AFDA724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B1756C2-FD44-4C32-A5C6-C9EE8126A6F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0D76CAA-EC21-42D8-8699-340D215A526F}"/>
              </a:ext>
            </a:extLst>
          </p:cNvPr>
          <p:cNvSpPr>
            <a:spLocks noGrp="1"/>
          </p:cNvSpPr>
          <p:nvPr>
            <p:ph type="dt" sz="half" idx="10"/>
          </p:nvPr>
        </p:nvSpPr>
        <p:spPr/>
        <p:txBody>
          <a:bodyPr/>
          <a:lstStyle/>
          <a:p>
            <a:fld id="{2D472A7B-04CB-4AB4-93B8-155986DCACD7}" type="datetimeFigureOut">
              <a:rPr lang="en-US" smtClean="0"/>
              <a:t>2/19/21</a:t>
            </a:fld>
            <a:endParaRPr lang="en-US"/>
          </a:p>
        </p:txBody>
      </p:sp>
      <p:sp>
        <p:nvSpPr>
          <p:cNvPr id="5" name="Footer Placeholder 4">
            <a:extLst>
              <a:ext uri="{FF2B5EF4-FFF2-40B4-BE49-F238E27FC236}">
                <a16:creationId xmlns:a16="http://schemas.microsoft.com/office/drawing/2014/main" id="{C51D1A7B-2D3D-4004-ABDE-42B5FB600F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2FEE0E-20D3-4F1F-9AC4-ABED4524FCC0}"/>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17591740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E78DD4E-7D19-441D-A80C-B45A329B21C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6971194-FA92-4A29-92CE-CC2C25FC6D6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78F248-47CB-4765-8058-B0CEA4C4DDA6}"/>
              </a:ext>
            </a:extLst>
          </p:cNvPr>
          <p:cNvSpPr>
            <a:spLocks noGrp="1"/>
          </p:cNvSpPr>
          <p:nvPr>
            <p:ph type="dt" sz="half" idx="10"/>
          </p:nvPr>
        </p:nvSpPr>
        <p:spPr/>
        <p:txBody>
          <a:bodyPr/>
          <a:lstStyle/>
          <a:p>
            <a:fld id="{2D472A7B-04CB-4AB4-93B8-155986DCACD7}" type="datetimeFigureOut">
              <a:rPr lang="en-US" smtClean="0"/>
              <a:t>2/19/21</a:t>
            </a:fld>
            <a:endParaRPr lang="en-US"/>
          </a:p>
        </p:txBody>
      </p:sp>
      <p:sp>
        <p:nvSpPr>
          <p:cNvPr id="5" name="Footer Placeholder 4">
            <a:extLst>
              <a:ext uri="{FF2B5EF4-FFF2-40B4-BE49-F238E27FC236}">
                <a16:creationId xmlns:a16="http://schemas.microsoft.com/office/drawing/2014/main" id="{ABCBD54E-BBFC-424B-BD15-A9668DFC6B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8D822E-FEB8-4E0A-B902-5AE0303F2168}"/>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416956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232F876-E625-46A3-ADCA-12F54007A02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A2A39AC-BEEB-421D-B856-54DE6AF10A8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11A23F-04EB-40B6-8E26-D8EF8E2A3C7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472A7B-04CB-4AB4-93B8-155986DCACD7}" type="datetimeFigureOut">
              <a:rPr lang="en-US" smtClean="0"/>
              <a:t>2/19/21</a:t>
            </a:fld>
            <a:endParaRPr lang="en-US"/>
          </a:p>
        </p:txBody>
      </p:sp>
      <p:sp>
        <p:nvSpPr>
          <p:cNvPr id="5" name="Footer Placeholder 4">
            <a:extLst>
              <a:ext uri="{FF2B5EF4-FFF2-40B4-BE49-F238E27FC236}">
                <a16:creationId xmlns:a16="http://schemas.microsoft.com/office/drawing/2014/main" id="{8B066902-0021-4B1D-A062-414101962F9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1CB9BFE-D7EC-4C55-A502-20D106E6801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C4225B9-28A9-454C-A7F6-1D7FAF177E2D}" type="slidenum">
              <a:rPr lang="en-US" smtClean="0"/>
              <a:t>‹#›</a:t>
            </a:fld>
            <a:endParaRPr lang="en-US"/>
          </a:p>
        </p:txBody>
      </p:sp>
    </p:spTree>
    <p:extLst>
      <p:ext uri="{BB962C8B-B14F-4D97-AF65-F5344CB8AC3E}">
        <p14:creationId xmlns:p14="http://schemas.microsoft.com/office/powerpoint/2010/main" val="38489317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2.xml"/><Relationship Id="rId4" Type="http://schemas.openxmlformats.org/officeDocument/2006/relationships/image" Target="../media/image5.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sv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www.dropbox.com/sh/7m5zdww0a3rnu6k/AACgaKXxg5G6yI1rK5JYQkZta?dl=0"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E45D9-EF59-4326-89DB-746B0647DFD5}"/>
              </a:ext>
            </a:extLst>
          </p:cNvPr>
          <p:cNvSpPr>
            <a:spLocks noGrp="1"/>
          </p:cNvSpPr>
          <p:nvPr>
            <p:ph type="ctrTitle"/>
          </p:nvPr>
        </p:nvSpPr>
        <p:spPr>
          <a:xfrm>
            <a:off x="1524000" y="1122363"/>
            <a:ext cx="9144000" cy="1773237"/>
          </a:xfrm>
        </p:spPr>
        <p:txBody>
          <a:bodyPr>
            <a:normAutofit fontScale="90000"/>
          </a:bodyPr>
          <a:lstStyle/>
          <a:p>
            <a:pPr>
              <a:lnSpc>
                <a:spcPct val="100000"/>
              </a:lnSpc>
            </a:pPr>
            <a:r>
              <a:rPr lang="en-US" dirty="0">
                <a:latin typeface="Tw Cen MT" panose="020B0602020104020603" pitchFamily="34" charset="0"/>
              </a:rPr>
              <a:t>Food Production and Consumption Patterns in Namibia</a:t>
            </a:r>
          </a:p>
        </p:txBody>
      </p:sp>
      <p:sp>
        <p:nvSpPr>
          <p:cNvPr id="3" name="Subtitle 2">
            <a:extLst>
              <a:ext uri="{FF2B5EF4-FFF2-40B4-BE49-F238E27FC236}">
                <a16:creationId xmlns:a16="http://schemas.microsoft.com/office/drawing/2014/main" id="{E6F955F5-05FA-407F-9405-F3DF99A78B54}"/>
              </a:ext>
            </a:extLst>
          </p:cNvPr>
          <p:cNvSpPr>
            <a:spLocks noGrp="1"/>
          </p:cNvSpPr>
          <p:nvPr>
            <p:ph type="subTitle" idx="1"/>
          </p:nvPr>
        </p:nvSpPr>
        <p:spPr>
          <a:xfrm>
            <a:off x="1524000" y="4204362"/>
            <a:ext cx="9144000" cy="893762"/>
          </a:xfrm>
        </p:spPr>
        <p:txBody>
          <a:bodyPr>
            <a:noAutofit/>
          </a:bodyPr>
          <a:lstStyle/>
          <a:p>
            <a:pPr>
              <a:lnSpc>
                <a:spcPct val="150000"/>
              </a:lnSpc>
            </a:pPr>
            <a:r>
              <a:rPr lang="en-US" dirty="0">
                <a:latin typeface="+mj-lt"/>
              </a:rPr>
              <a:t>Secondary analysis of NHIES 2015/16 data to support the design and implementation of national food and nutrition policies</a:t>
            </a:r>
          </a:p>
        </p:txBody>
      </p:sp>
      <p:sp>
        <p:nvSpPr>
          <p:cNvPr id="4" name="TextBox 3">
            <a:extLst>
              <a:ext uri="{FF2B5EF4-FFF2-40B4-BE49-F238E27FC236}">
                <a16:creationId xmlns:a16="http://schemas.microsoft.com/office/drawing/2014/main" id="{395562CE-C257-4028-A2F8-905F2940D66C}"/>
              </a:ext>
            </a:extLst>
          </p:cNvPr>
          <p:cNvSpPr txBox="1"/>
          <p:nvPr/>
        </p:nvSpPr>
        <p:spPr>
          <a:xfrm>
            <a:off x="1524000" y="6012524"/>
            <a:ext cx="9144000" cy="369332"/>
          </a:xfrm>
          <a:prstGeom prst="rect">
            <a:avLst/>
          </a:prstGeom>
          <a:noFill/>
        </p:spPr>
        <p:txBody>
          <a:bodyPr wrap="square" rtlCol="0">
            <a:spAutoFit/>
          </a:bodyPr>
          <a:lstStyle/>
          <a:p>
            <a:pPr algn="ctr"/>
            <a:r>
              <a:rPr lang="en-US" dirty="0">
                <a:latin typeface="+mj-lt"/>
              </a:rPr>
              <a:t>9 November 2020</a:t>
            </a:r>
          </a:p>
        </p:txBody>
      </p:sp>
      <p:sp>
        <p:nvSpPr>
          <p:cNvPr id="5" name="TextBox 4">
            <a:extLst>
              <a:ext uri="{FF2B5EF4-FFF2-40B4-BE49-F238E27FC236}">
                <a16:creationId xmlns:a16="http://schemas.microsoft.com/office/drawing/2014/main" id="{FAF1A56F-655E-4AED-8650-FCB49B6F8779}"/>
              </a:ext>
            </a:extLst>
          </p:cNvPr>
          <p:cNvSpPr txBox="1"/>
          <p:nvPr/>
        </p:nvSpPr>
        <p:spPr>
          <a:xfrm>
            <a:off x="1524000" y="3192087"/>
            <a:ext cx="9144000" cy="707886"/>
          </a:xfrm>
          <a:prstGeom prst="rect">
            <a:avLst/>
          </a:prstGeom>
          <a:noFill/>
        </p:spPr>
        <p:txBody>
          <a:bodyPr wrap="square" rtlCol="0">
            <a:spAutoFit/>
          </a:bodyPr>
          <a:lstStyle/>
          <a:p>
            <a:pPr algn="ctr"/>
            <a:r>
              <a:rPr lang="en-US" sz="4000" dirty="0">
                <a:latin typeface="Tw Cen MT" panose="020B0602020104020603" pitchFamily="34" charset="0"/>
              </a:rPr>
              <a:t>Tasks 1-2</a:t>
            </a:r>
          </a:p>
        </p:txBody>
      </p:sp>
    </p:spTree>
    <p:extLst>
      <p:ext uri="{BB962C8B-B14F-4D97-AF65-F5344CB8AC3E}">
        <p14:creationId xmlns:p14="http://schemas.microsoft.com/office/powerpoint/2010/main" val="14628268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0847F-3F91-4543-93A3-0A217718163D}"/>
              </a:ext>
            </a:extLst>
          </p:cNvPr>
          <p:cNvSpPr>
            <a:spLocks noGrp="1"/>
          </p:cNvSpPr>
          <p:nvPr>
            <p:ph type="title"/>
          </p:nvPr>
        </p:nvSpPr>
        <p:spPr/>
        <p:txBody>
          <a:bodyPr/>
          <a:lstStyle/>
          <a:p>
            <a:pPr>
              <a:lnSpc>
                <a:spcPct val="125000"/>
              </a:lnSpc>
            </a:pPr>
            <a:r>
              <a:rPr lang="en-US" dirty="0">
                <a:latin typeface="Tw Cen MT" panose="020B0602020104020603" pitchFamily="34" charset="0"/>
              </a:rPr>
              <a:t>Overview</a:t>
            </a:r>
          </a:p>
        </p:txBody>
      </p:sp>
      <p:sp>
        <p:nvSpPr>
          <p:cNvPr id="3" name="Content Placeholder 2">
            <a:extLst>
              <a:ext uri="{FF2B5EF4-FFF2-40B4-BE49-F238E27FC236}">
                <a16:creationId xmlns:a16="http://schemas.microsoft.com/office/drawing/2014/main" id="{23AB41CB-39A0-46B4-8AD5-8979E96B3D20}"/>
              </a:ext>
            </a:extLst>
          </p:cNvPr>
          <p:cNvSpPr>
            <a:spLocks noGrp="1"/>
          </p:cNvSpPr>
          <p:nvPr>
            <p:ph idx="1"/>
          </p:nvPr>
        </p:nvSpPr>
        <p:spPr/>
        <p:txBody>
          <a:bodyPr>
            <a:normAutofit/>
          </a:bodyPr>
          <a:lstStyle/>
          <a:p>
            <a:pPr marL="571500" indent="-571500">
              <a:spcBef>
                <a:spcPts val="600"/>
              </a:spcBef>
              <a:spcAft>
                <a:spcPts val="1200"/>
              </a:spcAft>
              <a:buFont typeface="+mj-lt"/>
              <a:buAutoNum type="romanUcPeriod"/>
            </a:pPr>
            <a:r>
              <a:rPr lang="en-US" sz="2400" dirty="0">
                <a:latin typeface="+mj-lt"/>
              </a:rPr>
              <a:t>Background</a:t>
            </a:r>
          </a:p>
          <a:p>
            <a:pPr marL="571500" indent="-571500">
              <a:spcBef>
                <a:spcPts val="600"/>
              </a:spcBef>
              <a:spcAft>
                <a:spcPts val="1200"/>
              </a:spcAft>
              <a:buFont typeface="+mj-lt"/>
              <a:buAutoNum type="romanUcPeriod"/>
            </a:pPr>
            <a:r>
              <a:rPr lang="en-US" sz="2400" dirty="0">
                <a:latin typeface="+mj-lt"/>
              </a:rPr>
              <a:t>Methodology</a:t>
            </a:r>
          </a:p>
          <a:p>
            <a:pPr marL="571500" indent="-571500">
              <a:spcBef>
                <a:spcPts val="600"/>
              </a:spcBef>
              <a:spcAft>
                <a:spcPts val="1200"/>
              </a:spcAft>
              <a:buFont typeface="+mj-lt"/>
              <a:buAutoNum type="romanUcPeriod"/>
            </a:pPr>
            <a:r>
              <a:rPr lang="en-US" sz="2400" dirty="0">
                <a:latin typeface="+mj-lt"/>
              </a:rPr>
              <a:t>Key Findings</a:t>
            </a:r>
          </a:p>
          <a:p>
            <a:pPr marL="571500" indent="-571500">
              <a:spcBef>
                <a:spcPts val="600"/>
              </a:spcBef>
              <a:spcAft>
                <a:spcPts val="1200"/>
              </a:spcAft>
              <a:buFont typeface="+mj-lt"/>
              <a:buAutoNum type="romanUcPeriod"/>
            </a:pPr>
            <a:r>
              <a:rPr lang="en-US" sz="2400" dirty="0">
                <a:latin typeface="+mj-lt"/>
              </a:rPr>
              <a:t>Appendix</a:t>
            </a:r>
          </a:p>
          <a:p>
            <a:pPr marL="1028700" lvl="1" indent="-571500">
              <a:spcBef>
                <a:spcPts val="600"/>
              </a:spcBef>
              <a:spcAft>
                <a:spcPts val="1200"/>
              </a:spcAft>
              <a:buFont typeface="+mj-lt"/>
              <a:buAutoNum type="alphaUcPeriod"/>
            </a:pPr>
            <a:r>
              <a:rPr lang="en-US" sz="2000" dirty="0">
                <a:latin typeface="+mj-lt"/>
              </a:rPr>
              <a:t>Summary of Methods</a:t>
            </a:r>
          </a:p>
          <a:p>
            <a:pPr marL="1028700" lvl="1" indent="-571500">
              <a:spcBef>
                <a:spcPts val="600"/>
              </a:spcBef>
              <a:spcAft>
                <a:spcPts val="1200"/>
              </a:spcAft>
              <a:buFont typeface="+mj-lt"/>
              <a:buAutoNum type="alphaUcPeriod"/>
            </a:pPr>
            <a:r>
              <a:rPr lang="en-US" sz="2000" dirty="0">
                <a:latin typeface="+mj-lt"/>
              </a:rPr>
              <a:t>Data Tables</a:t>
            </a:r>
          </a:p>
        </p:txBody>
      </p:sp>
    </p:spTree>
    <p:extLst>
      <p:ext uri="{BB962C8B-B14F-4D97-AF65-F5344CB8AC3E}">
        <p14:creationId xmlns:p14="http://schemas.microsoft.com/office/powerpoint/2010/main" val="37702497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93344-66D7-404A-AF21-C96ECAB1E6F9}"/>
              </a:ext>
            </a:extLst>
          </p:cNvPr>
          <p:cNvSpPr>
            <a:spLocks noGrp="1"/>
          </p:cNvSpPr>
          <p:nvPr>
            <p:ph type="title"/>
          </p:nvPr>
        </p:nvSpPr>
        <p:spPr/>
        <p:txBody>
          <a:bodyPr/>
          <a:lstStyle/>
          <a:p>
            <a:r>
              <a:rPr lang="en-US" dirty="0">
                <a:latin typeface="Tw Cen MT" panose="020B0602020104020603" pitchFamily="34" charset="0"/>
              </a:rPr>
              <a:t>I. Background</a:t>
            </a:r>
          </a:p>
        </p:txBody>
      </p:sp>
      <p:sp>
        <p:nvSpPr>
          <p:cNvPr id="3" name="Content Placeholder 2">
            <a:extLst>
              <a:ext uri="{FF2B5EF4-FFF2-40B4-BE49-F238E27FC236}">
                <a16:creationId xmlns:a16="http://schemas.microsoft.com/office/drawing/2014/main" id="{8055D9AA-177C-491D-81DC-77F483EFB1C5}"/>
              </a:ext>
            </a:extLst>
          </p:cNvPr>
          <p:cNvSpPr>
            <a:spLocks noGrp="1"/>
          </p:cNvSpPr>
          <p:nvPr>
            <p:ph idx="1"/>
          </p:nvPr>
        </p:nvSpPr>
        <p:spPr>
          <a:xfrm>
            <a:off x="838200" y="1825624"/>
            <a:ext cx="10515600" cy="4841875"/>
          </a:xfrm>
        </p:spPr>
        <p:txBody>
          <a:bodyPr>
            <a:normAutofit/>
          </a:bodyPr>
          <a:lstStyle/>
          <a:p>
            <a:pPr marL="283464" indent="-283464">
              <a:lnSpc>
                <a:spcPct val="100000"/>
              </a:lnSpc>
              <a:spcBef>
                <a:spcPts val="1800"/>
              </a:spcBef>
            </a:pPr>
            <a:r>
              <a:rPr lang="en-US" sz="2400" dirty="0">
                <a:latin typeface="+mj-lt"/>
              </a:rPr>
              <a:t>The Food and Nutrition Security Policy and Implementation Action Plan (2019-2024) includes strategies to implement and strengthen mandatory fortification of staple foods and condiments.</a:t>
            </a:r>
          </a:p>
          <a:p>
            <a:pPr marL="283464" indent="-283464">
              <a:lnSpc>
                <a:spcPct val="100000"/>
              </a:lnSpc>
              <a:spcBef>
                <a:spcPts val="1800"/>
              </a:spcBef>
            </a:pPr>
            <a:r>
              <a:rPr lang="en-US" sz="2400" dirty="0">
                <a:latin typeface="+mj-lt"/>
              </a:rPr>
              <a:t>Data and analyses on food production and consumption within households are required to appropriately inform the design and implementation of food and nutrition security policies.</a:t>
            </a:r>
          </a:p>
          <a:p>
            <a:pPr marL="283464" indent="-283464">
              <a:lnSpc>
                <a:spcPct val="100000"/>
              </a:lnSpc>
              <a:spcBef>
                <a:spcPts val="1800"/>
              </a:spcBef>
            </a:pPr>
            <a:r>
              <a:rPr lang="en-US" sz="2400" dirty="0">
                <a:latin typeface="+mj-lt"/>
              </a:rPr>
              <a:t>From April 2015 to March 2016, the Namibia Statistics Agency undertook the Household Income and Expenditure Survey (NHIES).</a:t>
            </a:r>
          </a:p>
          <a:p>
            <a:pPr marL="566928" lvl="1" indent="-283464">
              <a:lnSpc>
                <a:spcPct val="100000"/>
              </a:lnSpc>
              <a:spcBef>
                <a:spcPts val="1200"/>
              </a:spcBef>
              <a:buFont typeface="Calibri Light" panose="020F0302020204030204" pitchFamily="34" charset="0"/>
              <a:buChar char="­"/>
            </a:pPr>
            <a:r>
              <a:rPr lang="en-US" dirty="0">
                <a:latin typeface="+mj-lt"/>
              </a:rPr>
              <a:t>The survey collected valuable information on household food production and consumption throughout the country, including a 7-day food diary.</a:t>
            </a:r>
          </a:p>
        </p:txBody>
      </p:sp>
    </p:spTree>
    <p:extLst>
      <p:ext uri="{BB962C8B-B14F-4D97-AF65-F5344CB8AC3E}">
        <p14:creationId xmlns:p14="http://schemas.microsoft.com/office/powerpoint/2010/main" val="27917636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4BDDB-2FE7-4780-ACD3-2DFDA7828160}"/>
              </a:ext>
            </a:extLst>
          </p:cNvPr>
          <p:cNvSpPr>
            <a:spLocks noGrp="1"/>
          </p:cNvSpPr>
          <p:nvPr>
            <p:ph type="title"/>
          </p:nvPr>
        </p:nvSpPr>
        <p:spPr/>
        <p:txBody>
          <a:bodyPr/>
          <a:lstStyle/>
          <a:p>
            <a:r>
              <a:rPr lang="en-US" dirty="0">
                <a:latin typeface="Tw Cen MT" panose="020B0602020104020603" pitchFamily="34" charset="0"/>
              </a:rPr>
              <a:t>II. Methodology</a:t>
            </a:r>
          </a:p>
        </p:txBody>
      </p:sp>
      <p:sp>
        <p:nvSpPr>
          <p:cNvPr id="3" name="Content Placeholder 2">
            <a:extLst>
              <a:ext uri="{FF2B5EF4-FFF2-40B4-BE49-F238E27FC236}">
                <a16:creationId xmlns:a16="http://schemas.microsoft.com/office/drawing/2014/main" id="{55222D8C-7CBF-4057-8AA8-381FD28ABBE5}"/>
              </a:ext>
            </a:extLst>
          </p:cNvPr>
          <p:cNvSpPr>
            <a:spLocks noGrp="1"/>
          </p:cNvSpPr>
          <p:nvPr>
            <p:ph idx="1"/>
          </p:nvPr>
        </p:nvSpPr>
        <p:spPr/>
        <p:txBody>
          <a:bodyPr>
            <a:normAutofit/>
          </a:bodyPr>
          <a:lstStyle/>
          <a:p>
            <a:pPr marL="283464" indent="-283464">
              <a:lnSpc>
                <a:spcPct val="100000"/>
              </a:lnSpc>
              <a:spcBef>
                <a:spcPts val="1800"/>
              </a:spcBef>
            </a:pPr>
            <a:r>
              <a:rPr lang="en-US" sz="2400" dirty="0">
                <a:latin typeface="+mj-lt"/>
              </a:rPr>
              <a:t>To better understand the household food production and consumption patterns within Namibia, a series of analyses were performed:</a:t>
            </a:r>
          </a:p>
          <a:p>
            <a:pPr marL="566928" indent="-283464">
              <a:lnSpc>
                <a:spcPct val="100000"/>
              </a:lnSpc>
              <a:spcBef>
                <a:spcPts val="1200"/>
              </a:spcBef>
              <a:buFont typeface="+mj-lt"/>
              <a:buAutoNum type="alphaUcPeriod"/>
            </a:pPr>
            <a:r>
              <a:rPr lang="en-US" sz="2400" dirty="0">
                <a:latin typeface="+mj-lt"/>
              </a:rPr>
              <a:t>Analysis of household-level food consumption</a:t>
            </a:r>
            <a:r>
              <a:rPr lang="en-US" sz="2400" baseline="30000" dirty="0">
                <a:latin typeface="+mj-lt"/>
              </a:rPr>
              <a:t>1</a:t>
            </a:r>
            <a:r>
              <a:rPr lang="en-US" sz="2400" dirty="0">
                <a:latin typeface="+mj-lt"/>
              </a:rPr>
              <a:t> and grain production</a:t>
            </a:r>
            <a:r>
              <a:rPr lang="en-US" sz="2400" baseline="30000" dirty="0">
                <a:latin typeface="+mj-lt"/>
              </a:rPr>
              <a:t>2</a:t>
            </a:r>
            <a:r>
              <a:rPr lang="en-US" sz="2400" dirty="0">
                <a:latin typeface="+mj-lt"/>
              </a:rPr>
              <a:t> according to key demographics;</a:t>
            </a:r>
          </a:p>
          <a:p>
            <a:pPr marL="566928" indent="-283464">
              <a:lnSpc>
                <a:spcPct val="100000"/>
              </a:lnSpc>
              <a:spcBef>
                <a:spcPts val="1200"/>
              </a:spcBef>
              <a:buFont typeface="+mj-lt"/>
              <a:buAutoNum type="alphaUcPeriod"/>
            </a:pPr>
            <a:r>
              <a:rPr lang="en-US" sz="2400" dirty="0">
                <a:latin typeface="+mj-lt"/>
              </a:rPr>
              <a:t>Comparison of regional cereal production data from MAWF and NHIES-derived estimates;</a:t>
            </a:r>
          </a:p>
          <a:p>
            <a:pPr marL="566928" indent="-283464">
              <a:lnSpc>
                <a:spcPct val="100000"/>
              </a:lnSpc>
              <a:spcBef>
                <a:spcPts val="1200"/>
              </a:spcBef>
              <a:buFont typeface="+mj-lt"/>
              <a:buAutoNum type="alphaUcPeriod"/>
            </a:pPr>
            <a:r>
              <a:rPr lang="en-US" sz="2400" dirty="0">
                <a:latin typeface="+mj-lt"/>
              </a:rPr>
              <a:t>Mapping of regional and temporal variations in household-level grain consumption.</a:t>
            </a:r>
          </a:p>
        </p:txBody>
      </p:sp>
      <p:sp>
        <p:nvSpPr>
          <p:cNvPr id="6" name="TextBox 5">
            <a:extLst>
              <a:ext uri="{FF2B5EF4-FFF2-40B4-BE49-F238E27FC236}">
                <a16:creationId xmlns:a16="http://schemas.microsoft.com/office/drawing/2014/main" id="{FA40FFF8-D943-4419-8A73-95732C3C631D}"/>
              </a:ext>
            </a:extLst>
          </p:cNvPr>
          <p:cNvSpPr txBox="1"/>
          <p:nvPr/>
        </p:nvSpPr>
        <p:spPr>
          <a:xfrm>
            <a:off x="838200" y="6334780"/>
            <a:ext cx="10515600" cy="369332"/>
          </a:xfrm>
          <a:prstGeom prst="rect">
            <a:avLst/>
          </a:prstGeom>
          <a:noFill/>
        </p:spPr>
        <p:txBody>
          <a:bodyPr wrap="square" rtlCol="0">
            <a:spAutoFit/>
          </a:bodyPr>
          <a:lstStyle/>
          <a:p>
            <a:r>
              <a:rPr lang="en-US" sz="900" baseline="30000" dirty="0">
                <a:latin typeface="+mj-lt"/>
              </a:rPr>
              <a:t>1</a:t>
            </a:r>
            <a:r>
              <a:rPr lang="en-US" sz="900" dirty="0">
                <a:latin typeface="+mj-lt"/>
              </a:rPr>
              <a:t> Wheat, other cereals, rice, oil, and spices.</a:t>
            </a:r>
          </a:p>
          <a:p>
            <a:r>
              <a:rPr lang="en-US" sz="900" baseline="30000" dirty="0">
                <a:latin typeface="+mj-lt"/>
              </a:rPr>
              <a:t>2</a:t>
            </a:r>
            <a:r>
              <a:rPr lang="en-US" sz="900" dirty="0">
                <a:latin typeface="+mj-lt"/>
              </a:rPr>
              <a:t> Maize, </a:t>
            </a:r>
            <a:r>
              <a:rPr lang="en-US" sz="900" dirty="0" err="1">
                <a:latin typeface="+mj-lt"/>
              </a:rPr>
              <a:t>mahangu</a:t>
            </a:r>
            <a:r>
              <a:rPr lang="en-US" sz="900" dirty="0">
                <a:latin typeface="+mj-lt"/>
              </a:rPr>
              <a:t> (millet), sorghum, wheat, and other grains</a:t>
            </a:r>
            <a:endParaRPr lang="en-US" sz="900" dirty="0"/>
          </a:p>
        </p:txBody>
      </p:sp>
    </p:spTree>
    <p:extLst>
      <p:ext uri="{BB962C8B-B14F-4D97-AF65-F5344CB8AC3E}">
        <p14:creationId xmlns:p14="http://schemas.microsoft.com/office/powerpoint/2010/main" val="7241295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58021-ACC3-4B82-A5AB-BC24BCB44C82}"/>
              </a:ext>
            </a:extLst>
          </p:cNvPr>
          <p:cNvSpPr>
            <a:spLocks noGrp="1"/>
          </p:cNvSpPr>
          <p:nvPr>
            <p:ph type="title"/>
          </p:nvPr>
        </p:nvSpPr>
        <p:spPr/>
        <p:txBody>
          <a:bodyPr/>
          <a:lstStyle/>
          <a:p>
            <a:r>
              <a:rPr lang="en-US" dirty="0">
                <a:latin typeface="Tw Cen MT" panose="020B0602020104020603" pitchFamily="34" charset="0"/>
              </a:rPr>
              <a:t>III. Key Findings</a:t>
            </a:r>
          </a:p>
        </p:txBody>
      </p:sp>
      <p:sp>
        <p:nvSpPr>
          <p:cNvPr id="3" name="Content Placeholder 2">
            <a:extLst>
              <a:ext uri="{FF2B5EF4-FFF2-40B4-BE49-F238E27FC236}">
                <a16:creationId xmlns:a16="http://schemas.microsoft.com/office/drawing/2014/main" id="{5955E1D6-776A-4A16-A473-76B2ED3FC25F}"/>
              </a:ext>
            </a:extLst>
          </p:cNvPr>
          <p:cNvSpPr>
            <a:spLocks noGrp="1"/>
          </p:cNvSpPr>
          <p:nvPr>
            <p:ph idx="1"/>
          </p:nvPr>
        </p:nvSpPr>
        <p:spPr>
          <a:xfrm>
            <a:off x="838200" y="1441450"/>
            <a:ext cx="10515600" cy="498475"/>
          </a:xfrm>
        </p:spPr>
        <p:txBody>
          <a:bodyPr>
            <a:normAutofit/>
          </a:bodyPr>
          <a:lstStyle/>
          <a:p>
            <a:pPr marL="0" indent="0">
              <a:buNone/>
            </a:pPr>
            <a:r>
              <a:rPr lang="en-US" sz="2000" b="1" dirty="0">
                <a:latin typeface="+mj-lt"/>
              </a:rPr>
              <a:t>A. Analysis of household-level food consumption and grain production</a:t>
            </a:r>
            <a:r>
              <a:rPr lang="en-US" sz="2000" baseline="30000" dirty="0">
                <a:latin typeface="+mj-lt"/>
              </a:rPr>
              <a:t>3</a:t>
            </a:r>
            <a:endParaRPr lang="en-US" sz="2000" baseline="30000" dirty="0"/>
          </a:p>
        </p:txBody>
      </p:sp>
      <p:sp>
        <p:nvSpPr>
          <p:cNvPr id="4" name="TextBox 3">
            <a:extLst>
              <a:ext uri="{FF2B5EF4-FFF2-40B4-BE49-F238E27FC236}">
                <a16:creationId xmlns:a16="http://schemas.microsoft.com/office/drawing/2014/main" id="{820134E9-7F28-4D0E-A51A-1D1351A22672}"/>
              </a:ext>
            </a:extLst>
          </p:cNvPr>
          <p:cNvSpPr txBox="1"/>
          <p:nvPr/>
        </p:nvSpPr>
        <p:spPr>
          <a:xfrm>
            <a:off x="838200" y="1949450"/>
            <a:ext cx="3743326" cy="3847207"/>
          </a:xfrm>
          <a:prstGeom prst="rect">
            <a:avLst/>
          </a:prstGeom>
          <a:noFill/>
        </p:spPr>
        <p:txBody>
          <a:bodyPr wrap="square" rtlCol="0">
            <a:spAutoFit/>
          </a:bodyPr>
          <a:lstStyle/>
          <a:p>
            <a:pPr marL="285750" indent="-285750">
              <a:spcBef>
                <a:spcPts val="1800"/>
              </a:spcBef>
              <a:buFont typeface="Arial" panose="020B0604020202020204" pitchFamily="34" charset="0"/>
              <a:buChar char="•"/>
            </a:pPr>
            <a:r>
              <a:rPr lang="en-US" dirty="0">
                <a:latin typeface="+mj-lt"/>
              </a:rPr>
              <a:t>In the NHIES 2015/16, households were asked to report:</a:t>
            </a:r>
          </a:p>
          <a:p>
            <a:pPr marL="566928" lvl="1" indent="-285750">
              <a:buFont typeface="Calibri Light" panose="020F0302020204030204" pitchFamily="34" charset="0"/>
              <a:buChar char="-"/>
            </a:pPr>
            <a:r>
              <a:rPr lang="en-US" dirty="0">
                <a:latin typeface="+mj-lt"/>
              </a:rPr>
              <a:t>Foods consumed over the previous 7 days (and their source)</a:t>
            </a:r>
          </a:p>
          <a:p>
            <a:pPr marL="566928" lvl="1" indent="-285750">
              <a:buFont typeface="Calibri Light" panose="020F0302020204030204" pitchFamily="34" charset="0"/>
              <a:buChar char="-"/>
            </a:pPr>
            <a:r>
              <a:rPr lang="en-US" dirty="0">
                <a:latin typeface="+mj-lt"/>
              </a:rPr>
              <a:t>Detailed crop production information (if grown and quantities consumed, given away and sold)</a:t>
            </a:r>
          </a:p>
          <a:p>
            <a:pPr marL="285750" indent="-285750">
              <a:spcBef>
                <a:spcPts val="1200"/>
              </a:spcBef>
              <a:buFont typeface="Arial" panose="020B0604020202020204" pitchFamily="34" charset="0"/>
              <a:buChar char="•"/>
            </a:pPr>
            <a:r>
              <a:rPr lang="en-US" b="1" dirty="0" err="1">
                <a:latin typeface="+mj-lt"/>
              </a:rPr>
              <a:t>Mahangu</a:t>
            </a:r>
            <a:r>
              <a:rPr lang="en-US" dirty="0">
                <a:latin typeface="+mj-lt"/>
              </a:rPr>
              <a:t> (millet), </a:t>
            </a:r>
            <a:r>
              <a:rPr lang="en-US" b="1" dirty="0">
                <a:latin typeface="+mj-lt"/>
              </a:rPr>
              <a:t>sorghum</a:t>
            </a:r>
            <a:r>
              <a:rPr lang="en-US" dirty="0">
                <a:latin typeface="+mj-lt"/>
              </a:rPr>
              <a:t>, and </a:t>
            </a:r>
            <a:r>
              <a:rPr lang="en-US" b="1" dirty="0">
                <a:latin typeface="+mj-lt"/>
              </a:rPr>
              <a:t>maize</a:t>
            </a:r>
            <a:r>
              <a:rPr lang="en-US" dirty="0">
                <a:latin typeface="+mj-lt"/>
              </a:rPr>
              <a:t> were grown by 22, 7, and 6 percent of NHIES households, respectively.</a:t>
            </a:r>
            <a:r>
              <a:rPr lang="en-US" sz="2400" baseline="30000" dirty="0">
                <a:latin typeface="+mj-lt"/>
              </a:rPr>
              <a:t>4</a:t>
            </a:r>
          </a:p>
        </p:txBody>
      </p:sp>
      <p:sp>
        <p:nvSpPr>
          <p:cNvPr id="5" name="TextBox 4">
            <a:extLst>
              <a:ext uri="{FF2B5EF4-FFF2-40B4-BE49-F238E27FC236}">
                <a16:creationId xmlns:a16="http://schemas.microsoft.com/office/drawing/2014/main" id="{C4AE3F82-2D6D-4F65-B0B0-AC23B34729A4}"/>
              </a:ext>
            </a:extLst>
          </p:cNvPr>
          <p:cNvSpPr txBox="1"/>
          <p:nvPr/>
        </p:nvSpPr>
        <p:spPr>
          <a:xfrm>
            <a:off x="838200" y="6439885"/>
            <a:ext cx="10515600" cy="369332"/>
          </a:xfrm>
          <a:prstGeom prst="rect">
            <a:avLst/>
          </a:prstGeom>
          <a:noFill/>
        </p:spPr>
        <p:txBody>
          <a:bodyPr wrap="square" rtlCol="0">
            <a:spAutoFit/>
          </a:bodyPr>
          <a:lstStyle/>
          <a:p>
            <a:r>
              <a:rPr lang="en-US" sz="900" baseline="30000" dirty="0">
                <a:latin typeface="+mj-lt"/>
              </a:rPr>
              <a:t>3</a:t>
            </a:r>
            <a:r>
              <a:rPr lang="en-US" sz="900" dirty="0">
                <a:latin typeface="+mj-lt"/>
              </a:rPr>
              <a:t> Data in Figure 1 based on analysis of information collected in the NHIES 2015/16 NHIES household questionnaire. A summary of data presented in chart can be found in Appendix B, Table 1.</a:t>
            </a:r>
          </a:p>
          <a:p>
            <a:r>
              <a:rPr lang="en-US" sz="900" baseline="30000" dirty="0">
                <a:latin typeface="+mj-lt"/>
              </a:rPr>
              <a:t>4 </a:t>
            </a:r>
            <a:r>
              <a:rPr lang="en-US" sz="900" dirty="0">
                <a:latin typeface="+mj-lt"/>
              </a:rPr>
              <a:t>A negligible proportion of households reported growing wheat (0.05%)</a:t>
            </a:r>
          </a:p>
        </p:txBody>
      </p:sp>
      <p:pic>
        <p:nvPicPr>
          <p:cNvPr id="8" name="Picture 7" descr="Chart, bar chart&#10;&#10;Description automatically generated">
            <a:extLst>
              <a:ext uri="{FF2B5EF4-FFF2-40B4-BE49-F238E27FC236}">
                <a16:creationId xmlns:a16="http://schemas.microsoft.com/office/drawing/2014/main" id="{E8CDB5A7-3C49-410B-B9D2-9BE74713B5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49123" y="2114639"/>
            <a:ext cx="6902335" cy="3652058"/>
          </a:xfrm>
          <a:prstGeom prst="rect">
            <a:avLst/>
          </a:prstGeom>
        </p:spPr>
      </p:pic>
      <p:sp>
        <p:nvSpPr>
          <p:cNvPr id="9" name="TextBox 8">
            <a:extLst>
              <a:ext uri="{FF2B5EF4-FFF2-40B4-BE49-F238E27FC236}">
                <a16:creationId xmlns:a16="http://schemas.microsoft.com/office/drawing/2014/main" id="{E7B24886-4000-483A-B318-6C39093D34FD}"/>
              </a:ext>
            </a:extLst>
          </p:cNvPr>
          <p:cNvSpPr txBox="1"/>
          <p:nvPr/>
        </p:nvSpPr>
        <p:spPr>
          <a:xfrm>
            <a:off x="5156833" y="1888782"/>
            <a:ext cx="6124192" cy="276999"/>
          </a:xfrm>
          <a:prstGeom prst="rect">
            <a:avLst/>
          </a:prstGeom>
          <a:noFill/>
        </p:spPr>
        <p:txBody>
          <a:bodyPr wrap="square" rtlCol="0">
            <a:spAutoFit/>
          </a:bodyPr>
          <a:lstStyle/>
          <a:p>
            <a:r>
              <a:rPr lang="en-US" sz="1200" b="1" dirty="0"/>
              <a:t>Figure 1. Proportion of households growing maize, mahangu and sorghum</a:t>
            </a:r>
            <a:r>
              <a:rPr lang="en-NA" sz="1200" dirty="0"/>
              <a:t> </a:t>
            </a:r>
            <a:endParaRPr lang="en-US" sz="1200" b="1" dirty="0"/>
          </a:p>
        </p:txBody>
      </p:sp>
    </p:spTree>
    <p:extLst>
      <p:ext uri="{BB962C8B-B14F-4D97-AF65-F5344CB8AC3E}">
        <p14:creationId xmlns:p14="http://schemas.microsoft.com/office/powerpoint/2010/main" val="23793631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58021-ACC3-4B82-A5AB-BC24BCB44C82}"/>
              </a:ext>
            </a:extLst>
          </p:cNvPr>
          <p:cNvSpPr>
            <a:spLocks noGrp="1"/>
          </p:cNvSpPr>
          <p:nvPr>
            <p:ph type="title"/>
          </p:nvPr>
        </p:nvSpPr>
        <p:spPr/>
        <p:txBody>
          <a:bodyPr/>
          <a:lstStyle/>
          <a:p>
            <a:r>
              <a:rPr lang="en-US" dirty="0">
                <a:latin typeface="Tw Cen MT" panose="020B0602020104020603" pitchFamily="34" charset="0"/>
              </a:rPr>
              <a:t>III. Key Findings</a:t>
            </a:r>
          </a:p>
        </p:txBody>
      </p:sp>
      <p:sp>
        <p:nvSpPr>
          <p:cNvPr id="3" name="Content Placeholder 2">
            <a:extLst>
              <a:ext uri="{FF2B5EF4-FFF2-40B4-BE49-F238E27FC236}">
                <a16:creationId xmlns:a16="http://schemas.microsoft.com/office/drawing/2014/main" id="{5955E1D6-776A-4A16-A473-76B2ED3FC25F}"/>
              </a:ext>
            </a:extLst>
          </p:cNvPr>
          <p:cNvSpPr>
            <a:spLocks noGrp="1"/>
          </p:cNvSpPr>
          <p:nvPr>
            <p:ph idx="1"/>
          </p:nvPr>
        </p:nvSpPr>
        <p:spPr>
          <a:xfrm>
            <a:off x="838200" y="1441450"/>
            <a:ext cx="10515600" cy="498475"/>
          </a:xfrm>
        </p:spPr>
        <p:txBody>
          <a:bodyPr>
            <a:normAutofit/>
          </a:bodyPr>
          <a:lstStyle/>
          <a:p>
            <a:pPr marL="0" indent="0">
              <a:buNone/>
            </a:pPr>
            <a:r>
              <a:rPr lang="en-US" sz="2000" b="1" dirty="0">
                <a:latin typeface="+mj-lt"/>
              </a:rPr>
              <a:t>A. Analysis of household-level food consumption and grain production</a:t>
            </a:r>
            <a:endParaRPr lang="en-US" sz="2000" b="1" dirty="0"/>
          </a:p>
        </p:txBody>
      </p:sp>
      <p:sp>
        <p:nvSpPr>
          <p:cNvPr id="4" name="TextBox 3">
            <a:extLst>
              <a:ext uri="{FF2B5EF4-FFF2-40B4-BE49-F238E27FC236}">
                <a16:creationId xmlns:a16="http://schemas.microsoft.com/office/drawing/2014/main" id="{820134E9-7F28-4D0E-A51A-1D1351A22672}"/>
              </a:ext>
            </a:extLst>
          </p:cNvPr>
          <p:cNvSpPr txBox="1"/>
          <p:nvPr/>
        </p:nvSpPr>
        <p:spPr>
          <a:xfrm>
            <a:off x="838199" y="2767013"/>
            <a:ext cx="3867151" cy="3046988"/>
          </a:xfrm>
          <a:prstGeom prst="rect">
            <a:avLst/>
          </a:prstGeom>
          <a:noFill/>
        </p:spPr>
        <p:txBody>
          <a:bodyPr wrap="square" rtlCol="0">
            <a:spAutoFit/>
          </a:bodyPr>
          <a:lstStyle/>
          <a:p>
            <a:pPr marL="285750" indent="-285750">
              <a:spcBef>
                <a:spcPts val="1800"/>
              </a:spcBef>
              <a:buFont typeface="Arial" panose="020B0604020202020204" pitchFamily="34" charset="0"/>
              <a:buChar char="•"/>
            </a:pPr>
            <a:r>
              <a:rPr lang="en-US" sz="1600" dirty="0">
                <a:latin typeface="+mj-lt"/>
              </a:rPr>
              <a:t>The main source of these “other cereals” varied by location, income, and ethnic group:</a:t>
            </a:r>
          </a:p>
          <a:p>
            <a:pPr marL="566928" lvl="1" indent="-285750">
              <a:buFont typeface="Calibri Light" panose="020F0302020204030204" pitchFamily="34" charset="0"/>
              <a:buChar char="-"/>
            </a:pPr>
            <a:r>
              <a:rPr lang="en-US" sz="1600" dirty="0">
                <a:latin typeface="+mj-lt"/>
              </a:rPr>
              <a:t>Households in regions with low overall grain production more often purchased “other cereals”</a:t>
            </a:r>
          </a:p>
          <a:p>
            <a:pPr marL="566928" lvl="1" indent="-285750">
              <a:buFont typeface="Calibri Light" panose="020F0302020204030204" pitchFamily="34" charset="0"/>
              <a:buChar char="-"/>
            </a:pPr>
            <a:r>
              <a:rPr lang="en-US" sz="1600" dirty="0">
                <a:latin typeface="+mj-lt"/>
              </a:rPr>
              <a:t>87 percent of households in the highest income bracket reported buying these “other cereals” with cash compared to just 59 percent of households in the lowest income bracket.</a:t>
            </a:r>
          </a:p>
        </p:txBody>
      </p:sp>
      <p:sp>
        <p:nvSpPr>
          <p:cNvPr id="7" name="TextBox 6">
            <a:extLst>
              <a:ext uri="{FF2B5EF4-FFF2-40B4-BE49-F238E27FC236}">
                <a16:creationId xmlns:a16="http://schemas.microsoft.com/office/drawing/2014/main" id="{2B3FC070-F65E-4D3D-8427-A135ADF3FF7F}"/>
              </a:ext>
            </a:extLst>
          </p:cNvPr>
          <p:cNvSpPr txBox="1"/>
          <p:nvPr/>
        </p:nvSpPr>
        <p:spPr>
          <a:xfrm>
            <a:off x="838200" y="6414691"/>
            <a:ext cx="10515600" cy="369332"/>
          </a:xfrm>
          <a:prstGeom prst="rect">
            <a:avLst/>
          </a:prstGeom>
          <a:noFill/>
        </p:spPr>
        <p:txBody>
          <a:bodyPr wrap="square" rtlCol="0">
            <a:spAutoFit/>
          </a:bodyPr>
          <a:lstStyle/>
          <a:p>
            <a:r>
              <a:rPr lang="en-US" sz="900" baseline="30000" dirty="0">
                <a:latin typeface="+mj-lt"/>
              </a:rPr>
              <a:t>5 </a:t>
            </a:r>
            <a:r>
              <a:rPr lang="en-US" sz="900" dirty="0">
                <a:latin typeface="+mj-lt"/>
              </a:rPr>
              <a:t>“Other cereals” is defined in the household questionnaire, Module 2E, as “maize, sorghum, millet, barley…” NB: The “other cereals” category does </a:t>
            </a:r>
            <a:r>
              <a:rPr lang="en-US" sz="900" u="sng" dirty="0">
                <a:latin typeface="+mj-lt"/>
              </a:rPr>
              <a:t>not</a:t>
            </a:r>
            <a:r>
              <a:rPr lang="en-US" sz="900" dirty="0">
                <a:latin typeface="+mj-lt"/>
              </a:rPr>
              <a:t> include wheat flour/bread and rice – these are captured separately. </a:t>
            </a:r>
          </a:p>
          <a:p>
            <a:r>
              <a:rPr lang="en-US" sz="900" baseline="30000" dirty="0">
                <a:latin typeface="+mj-lt"/>
              </a:rPr>
              <a:t>6</a:t>
            </a:r>
            <a:r>
              <a:rPr lang="en-US" sz="900" dirty="0">
                <a:latin typeface="+mj-lt"/>
              </a:rPr>
              <a:t> See Appendix A for limitations of this analysis and Appendix B, Table 2 for summary of data presented in chart.</a:t>
            </a:r>
            <a:endParaRPr lang="en-US" sz="900" dirty="0"/>
          </a:p>
        </p:txBody>
      </p:sp>
      <p:sp>
        <p:nvSpPr>
          <p:cNvPr id="9" name="TextBox 8">
            <a:extLst>
              <a:ext uri="{FF2B5EF4-FFF2-40B4-BE49-F238E27FC236}">
                <a16:creationId xmlns:a16="http://schemas.microsoft.com/office/drawing/2014/main" id="{F56683BB-E45E-40D5-A1BB-8FA0F57214E5}"/>
              </a:ext>
            </a:extLst>
          </p:cNvPr>
          <p:cNvSpPr txBox="1"/>
          <p:nvPr/>
        </p:nvSpPr>
        <p:spPr>
          <a:xfrm>
            <a:off x="838201" y="1924050"/>
            <a:ext cx="10515600" cy="1107996"/>
          </a:xfrm>
          <a:prstGeom prst="rect">
            <a:avLst/>
          </a:prstGeom>
          <a:noFill/>
        </p:spPr>
        <p:txBody>
          <a:bodyPr wrap="square" rtlCol="0">
            <a:spAutoFit/>
          </a:bodyPr>
          <a:lstStyle/>
          <a:p>
            <a:pPr marL="285750" indent="-285750">
              <a:buFont typeface="Arial" panose="020B0604020202020204" pitchFamily="34" charset="0"/>
              <a:buChar char="•"/>
            </a:pPr>
            <a:r>
              <a:rPr lang="en-US" sz="1600" dirty="0">
                <a:latin typeface="+mj-lt"/>
              </a:rPr>
              <a:t>A large majority of households in the NHIES 2015/16 reported consuming “other cereals”</a:t>
            </a:r>
            <a:r>
              <a:rPr lang="en-US" sz="1600" baseline="30000" dirty="0">
                <a:latin typeface="+mj-lt"/>
              </a:rPr>
              <a:t>5</a:t>
            </a:r>
            <a:r>
              <a:rPr lang="en-US" sz="1600" dirty="0">
                <a:latin typeface="+mj-lt"/>
              </a:rPr>
              <a:t> in the week prior to the survey (82 percent).</a:t>
            </a:r>
            <a:r>
              <a:rPr lang="en-US" sz="1600" baseline="30000" dirty="0">
                <a:latin typeface="+mj-lt"/>
              </a:rPr>
              <a:t>6 </a:t>
            </a:r>
            <a:r>
              <a:rPr lang="en-US" sz="1600" dirty="0">
                <a:latin typeface="+mj-lt"/>
              </a:rPr>
              <a:t>By comparison, the proportions which consumed wheat flour/bread and rice were 72 percent and 52 percent, respectively. </a:t>
            </a:r>
          </a:p>
          <a:p>
            <a:endParaRPr lang="en-US" dirty="0"/>
          </a:p>
        </p:txBody>
      </p:sp>
      <p:pic>
        <p:nvPicPr>
          <p:cNvPr id="6" name="Picture 5" descr="Chart, bar chart&#10;&#10;Description automatically generated">
            <a:extLst>
              <a:ext uri="{FF2B5EF4-FFF2-40B4-BE49-F238E27FC236}">
                <a16:creationId xmlns:a16="http://schemas.microsoft.com/office/drawing/2014/main" id="{8107357A-FF20-4818-A261-EBFEF2CD2C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05350" y="2747542"/>
            <a:ext cx="6902335" cy="3646516"/>
          </a:xfrm>
          <a:prstGeom prst="rect">
            <a:avLst/>
          </a:prstGeom>
        </p:spPr>
      </p:pic>
      <p:sp>
        <p:nvSpPr>
          <p:cNvPr id="11" name="TextBox 10">
            <a:extLst>
              <a:ext uri="{FF2B5EF4-FFF2-40B4-BE49-F238E27FC236}">
                <a16:creationId xmlns:a16="http://schemas.microsoft.com/office/drawing/2014/main" id="{CA095737-04AA-4464-A57F-E46305C2900F}"/>
              </a:ext>
            </a:extLst>
          </p:cNvPr>
          <p:cNvSpPr txBox="1"/>
          <p:nvPr/>
        </p:nvSpPr>
        <p:spPr>
          <a:xfrm>
            <a:off x="5267668" y="2498305"/>
            <a:ext cx="6629805" cy="276999"/>
          </a:xfrm>
          <a:prstGeom prst="rect">
            <a:avLst/>
          </a:prstGeom>
          <a:noFill/>
        </p:spPr>
        <p:txBody>
          <a:bodyPr wrap="square" rtlCol="0">
            <a:spAutoFit/>
          </a:bodyPr>
          <a:lstStyle/>
          <a:p>
            <a:r>
              <a:rPr lang="en-US" sz="1200" b="1" dirty="0"/>
              <a:t>Figure 2. Proportion of households consuming "other cereals" and source of "other cereals” by region</a:t>
            </a:r>
            <a:r>
              <a:rPr lang="en-NA" sz="1200" b="1" dirty="0"/>
              <a:t> </a:t>
            </a:r>
            <a:endParaRPr lang="en-US" sz="1200" b="1" dirty="0"/>
          </a:p>
        </p:txBody>
      </p:sp>
    </p:spTree>
    <p:extLst>
      <p:ext uri="{BB962C8B-B14F-4D97-AF65-F5344CB8AC3E}">
        <p14:creationId xmlns:p14="http://schemas.microsoft.com/office/powerpoint/2010/main" val="26601036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58021-ACC3-4B82-A5AB-BC24BCB44C82}"/>
              </a:ext>
            </a:extLst>
          </p:cNvPr>
          <p:cNvSpPr>
            <a:spLocks noGrp="1"/>
          </p:cNvSpPr>
          <p:nvPr>
            <p:ph type="title"/>
          </p:nvPr>
        </p:nvSpPr>
        <p:spPr/>
        <p:txBody>
          <a:bodyPr/>
          <a:lstStyle/>
          <a:p>
            <a:r>
              <a:rPr lang="en-US" dirty="0">
                <a:latin typeface="Tw Cen MT" panose="020B0602020104020603" pitchFamily="34" charset="0"/>
              </a:rPr>
              <a:t>III. Key Findings</a:t>
            </a:r>
          </a:p>
        </p:txBody>
      </p:sp>
      <p:sp>
        <p:nvSpPr>
          <p:cNvPr id="3" name="Content Placeholder 2">
            <a:extLst>
              <a:ext uri="{FF2B5EF4-FFF2-40B4-BE49-F238E27FC236}">
                <a16:creationId xmlns:a16="http://schemas.microsoft.com/office/drawing/2014/main" id="{5955E1D6-776A-4A16-A473-76B2ED3FC25F}"/>
              </a:ext>
            </a:extLst>
          </p:cNvPr>
          <p:cNvSpPr>
            <a:spLocks noGrp="1"/>
          </p:cNvSpPr>
          <p:nvPr>
            <p:ph idx="1"/>
          </p:nvPr>
        </p:nvSpPr>
        <p:spPr>
          <a:xfrm>
            <a:off x="838200" y="1441450"/>
            <a:ext cx="5581650" cy="901700"/>
          </a:xfrm>
        </p:spPr>
        <p:txBody>
          <a:bodyPr>
            <a:normAutofit/>
          </a:bodyPr>
          <a:lstStyle/>
          <a:p>
            <a:pPr marL="0" indent="0">
              <a:buNone/>
            </a:pPr>
            <a:r>
              <a:rPr lang="en-US" sz="2000" b="1" dirty="0">
                <a:latin typeface="+mj-lt"/>
              </a:rPr>
              <a:t>B. Comparison of regional cereal production data: MAWF and NHIES (est.)</a:t>
            </a:r>
            <a:r>
              <a:rPr lang="en-US" sz="2000" b="1" baseline="30000" dirty="0">
                <a:latin typeface="+mj-lt"/>
              </a:rPr>
              <a:t>7</a:t>
            </a:r>
            <a:endParaRPr lang="en-US" sz="2000" b="1" baseline="30000" dirty="0"/>
          </a:p>
        </p:txBody>
      </p:sp>
      <p:sp>
        <p:nvSpPr>
          <p:cNvPr id="7" name="TextBox 6">
            <a:extLst>
              <a:ext uri="{FF2B5EF4-FFF2-40B4-BE49-F238E27FC236}">
                <a16:creationId xmlns:a16="http://schemas.microsoft.com/office/drawing/2014/main" id="{93B7C7F0-7F40-4974-A63D-F2B11722D633}"/>
              </a:ext>
            </a:extLst>
          </p:cNvPr>
          <p:cNvSpPr txBox="1"/>
          <p:nvPr/>
        </p:nvSpPr>
        <p:spPr>
          <a:xfrm>
            <a:off x="838198" y="2219146"/>
            <a:ext cx="5581649" cy="923330"/>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mj-lt"/>
              </a:rPr>
              <a:t>Estimates of regional crop production (MT) from NHIES correlated reasonably well with communal crop production data collected by MAWF.</a:t>
            </a:r>
          </a:p>
        </p:txBody>
      </p:sp>
      <p:sp>
        <p:nvSpPr>
          <p:cNvPr id="4" name="TextBox 3">
            <a:extLst>
              <a:ext uri="{FF2B5EF4-FFF2-40B4-BE49-F238E27FC236}">
                <a16:creationId xmlns:a16="http://schemas.microsoft.com/office/drawing/2014/main" id="{E6339473-AD0E-4036-9919-D98072C19482}"/>
              </a:ext>
            </a:extLst>
          </p:cNvPr>
          <p:cNvSpPr txBox="1"/>
          <p:nvPr/>
        </p:nvSpPr>
        <p:spPr>
          <a:xfrm>
            <a:off x="838199" y="6490891"/>
            <a:ext cx="10715625" cy="369332"/>
          </a:xfrm>
          <a:prstGeom prst="rect">
            <a:avLst/>
          </a:prstGeom>
          <a:noFill/>
        </p:spPr>
        <p:txBody>
          <a:bodyPr wrap="square" rtlCol="0">
            <a:spAutoFit/>
          </a:bodyPr>
          <a:lstStyle/>
          <a:p>
            <a:r>
              <a:rPr lang="en-US" sz="900" baseline="30000" dirty="0">
                <a:latin typeface="+mj-lt"/>
              </a:rPr>
              <a:t>7 </a:t>
            </a:r>
            <a:r>
              <a:rPr lang="en-US" sz="900" dirty="0">
                <a:latin typeface="+mj-lt"/>
              </a:rPr>
              <a:t>Because the NHIES began collecting data in late April/early May 2015 -- just before the main harvest period – the derived production estimates were compared with 2014/15 MAWF crop production statistics (see Appendix A for details on methodology and Appendix B, Table 3 for summary of data presented in charts). </a:t>
            </a:r>
          </a:p>
        </p:txBody>
      </p:sp>
      <p:pic>
        <p:nvPicPr>
          <p:cNvPr id="8" name="Picture 7" descr="Chart, bar chart&#10;&#10;Description automatically generated">
            <a:extLst>
              <a:ext uri="{FF2B5EF4-FFF2-40B4-BE49-F238E27FC236}">
                <a16:creationId xmlns:a16="http://schemas.microsoft.com/office/drawing/2014/main" id="{CE7111E6-2E39-4CD7-B91E-2C498340C1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198" y="3638030"/>
            <a:ext cx="4701260" cy="2743200"/>
          </a:xfrm>
          <a:prstGeom prst="rect">
            <a:avLst/>
          </a:prstGeom>
        </p:spPr>
      </p:pic>
      <p:pic>
        <p:nvPicPr>
          <p:cNvPr id="10" name="Picture 9" descr="Chart, bar chart&#10;&#10;Description automatically generated">
            <a:extLst>
              <a:ext uri="{FF2B5EF4-FFF2-40B4-BE49-F238E27FC236}">
                <a16:creationId xmlns:a16="http://schemas.microsoft.com/office/drawing/2014/main" id="{5399B525-A884-4F9E-8AC0-4361FE29AF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48458" y="645319"/>
            <a:ext cx="4705366" cy="2743200"/>
          </a:xfrm>
          <a:prstGeom prst="rect">
            <a:avLst/>
          </a:prstGeom>
        </p:spPr>
      </p:pic>
      <p:pic>
        <p:nvPicPr>
          <p:cNvPr id="12" name="Picture 11" descr="Chart, bar chart&#10;&#10;Description automatically generated">
            <a:extLst>
              <a:ext uri="{FF2B5EF4-FFF2-40B4-BE49-F238E27FC236}">
                <a16:creationId xmlns:a16="http://schemas.microsoft.com/office/drawing/2014/main" id="{6AB88CCA-1537-43BA-A49F-842D4167556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48458" y="3639734"/>
            <a:ext cx="4705366" cy="2743200"/>
          </a:xfrm>
          <a:prstGeom prst="rect">
            <a:avLst/>
          </a:prstGeom>
        </p:spPr>
      </p:pic>
      <p:sp>
        <p:nvSpPr>
          <p:cNvPr id="14" name="TextBox 13">
            <a:extLst>
              <a:ext uri="{FF2B5EF4-FFF2-40B4-BE49-F238E27FC236}">
                <a16:creationId xmlns:a16="http://schemas.microsoft.com/office/drawing/2014/main" id="{0114402D-A727-4B8F-A422-86870180A9A1}"/>
              </a:ext>
            </a:extLst>
          </p:cNvPr>
          <p:cNvSpPr txBox="1"/>
          <p:nvPr/>
        </p:nvSpPr>
        <p:spPr>
          <a:xfrm>
            <a:off x="1056395" y="3290500"/>
            <a:ext cx="4287148" cy="430887"/>
          </a:xfrm>
          <a:prstGeom prst="rect">
            <a:avLst/>
          </a:prstGeom>
          <a:noFill/>
        </p:spPr>
        <p:txBody>
          <a:bodyPr wrap="square" rtlCol="0">
            <a:spAutoFit/>
          </a:bodyPr>
          <a:lstStyle/>
          <a:p>
            <a:r>
              <a:rPr lang="en-US" sz="1050" b="1" dirty="0"/>
              <a:t>Figure 3. Comparison of MAWF and NHIES (est.) communal maize production</a:t>
            </a:r>
          </a:p>
        </p:txBody>
      </p:sp>
      <p:sp>
        <p:nvSpPr>
          <p:cNvPr id="18" name="TextBox 17">
            <a:extLst>
              <a:ext uri="{FF2B5EF4-FFF2-40B4-BE49-F238E27FC236}">
                <a16:creationId xmlns:a16="http://schemas.microsoft.com/office/drawing/2014/main" id="{2B7F2D11-18FE-42CD-A150-0198AEF4D68F}"/>
              </a:ext>
            </a:extLst>
          </p:cNvPr>
          <p:cNvSpPr txBox="1"/>
          <p:nvPr/>
        </p:nvSpPr>
        <p:spPr>
          <a:xfrm>
            <a:off x="7054524" y="336566"/>
            <a:ext cx="4299276" cy="430887"/>
          </a:xfrm>
          <a:prstGeom prst="rect">
            <a:avLst/>
          </a:prstGeom>
          <a:noFill/>
        </p:spPr>
        <p:txBody>
          <a:bodyPr wrap="square" rtlCol="0">
            <a:spAutoFit/>
          </a:bodyPr>
          <a:lstStyle/>
          <a:p>
            <a:r>
              <a:rPr lang="en-US" sz="1050" b="1" dirty="0"/>
              <a:t>Figure 4. Comparison of MAWF and NHIES (est.) communal </a:t>
            </a:r>
            <a:r>
              <a:rPr lang="en-US" sz="1050" b="1" dirty="0" err="1"/>
              <a:t>mahangu</a:t>
            </a:r>
            <a:r>
              <a:rPr lang="en-US" sz="1050" b="1" dirty="0"/>
              <a:t> production</a:t>
            </a:r>
          </a:p>
        </p:txBody>
      </p:sp>
      <p:sp>
        <p:nvSpPr>
          <p:cNvPr id="20" name="TextBox 19">
            <a:extLst>
              <a:ext uri="{FF2B5EF4-FFF2-40B4-BE49-F238E27FC236}">
                <a16:creationId xmlns:a16="http://schemas.microsoft.com/office/drawing/2014/main" id="{D96EDDB9-D3FB-4426-8592-72F6873CE529}"/>
              </a:ext>
            </a:extLst>
          </p:cNvPr>
          <p:cNvSpPr txBox="1"/>
          <p:nvPr/>
        </p:nvSpPr>
        <p:spPr>
          <a:xfrm>
            <a:off x="6987412" y="3393277"/>
            <a:ext cx="4827869" cy="253916"/>
          </a:xfrm>
          <a:prstGeom prst="rect">
            <a:avLst/>
          </a:prstGeom>
          <a:noFill/>
        </p:spPr>
        <p:txBody>
          <a:bodyPr wrap="square" rtlCol="0">
            <a:spAutoFit/>
          </a:bodyPr>
          <a:lstStyle/>
          <a:p>
            <a:r>
              <a:rPr lang="en-US" sz="1050" b="1" dirty="0">
                <a:latin typeface="Tw Cen MT" panose="020B0602020104020603" pitchFamily="34" charset="0"/>
              </a:rPr>
              <a:t>Figure 5. Comparison of MAWF and NHIES (est.) communal sorghum production</a:t>
            </a:r>
            <a:endParaRPr lang="en-US" sz="1050" b="1" dirty="0"/>
          </a:p>
        </p:txBody>
      </p:sp>
    </p:spTree>
    <p:extLst>
      <p:ext uri="{BB962C8B-B14F-4D97-AF65-F5344CB8AC3E}">
        <p14:creationId xmlns:p14="http://schemas.microsoft.com/office/powerpoint/2010/main" val="40606710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58021-ACC3-4B82-A5AB-BC24BCB44C82}"/>
              </a:ext>
            </a:extLst>
          </p:cNvPr>
          <p:cNvSpPr>
            <a:spLocks noGrp="1"/>
          </p:cNvSpPr>
          <p:nvPr>
            <p:ph type="title"/>
          </p:nvPr>
        </p:nvSpPr>
        <p:spPr>
          <a:xfrm>
            <a:off x="838200" y="62811"/>
            <a:ext cx="10515600" cy="1325563"/>
          </a:xfrm>
        </p:spPr>
        <p:txBody>
          <a:bodyPr/>
          <a:lstStyle/>
          <a:p>
            <a:r>
              <a:rPr lang="en-US" dirty="0">
                <a:latin typeface="Tw Cen MT" panose="020B0602020104020603" pitchFamily="34" charset="0"/>
              </a:rPr>
              <a:t>III. Key Findings</a:t>
            </a:r>
          </a:p>
        </p:txBody>
      </p:sp>
      <p:sp>
        <p:nvSpPr>
          <p:cNvPr id="3" name="Content Placeholder 2">
            <a:extLst>
              <a:ext uri="{FF2B5EF4-FFF2-40B4-BE49-F238E27FC236}">
                <a16:creationId xmlns:a16="http://schemas.microsoft.com/office/drawing/2014/main" id="{5955E1D6-776A-4A16-A473-76B2ED3FC25F}"/>
              </a:ext>
            </a:extLst>
          </p:cNvPr>
          <p:cNvSpPr>
            <a:spLocks noGrp="1"/>
          </p:cNvSpPr>
          <p:nvPr>
            <p:ph idx="1"/>
          </p:nvPr>
        </p:nvSpPr>
        <p:spPr>
          <a:xfrm>
            <a:off x="838200" y="1165675"/>
            <a:ext cx="10515600" cy="498475"/>
          </a:xfrm>
        </p:spPr>
        <p:txBody>
          <a:bodyPr>
            <a:normAutofit/>
          </a:bodyPr>
          <a:lstStyle/>
          <a:p>
            <a:pPr marL="0" indent="0">
              <a:buNone/>
            </a:pPr>
            <a:r>
              <a:rPr lang="en-US" sz="2000" b="1" dirty="0">
                <a:latin typeface="+mj-lt"/>
              </a:rPr>
              <a:t>C. Regional and temporal variations in “other cereals” and grain consumption</a:t>
            </a:r>
            <a:endParaRPr lang="en-US" sz="2000" b="1" dirty="0"/>
          </a:p>
        </p:txBody>
      </p:sp>
      <p:sp>
        <p:nvSpPr>
          <p:cNvPr id="7" name="TextBox 6">
            <a:extLst>
              <a:ext uri="{FF2B5EF4-FFF2-40B4-BE49-F238E27FC236}">
                <a16:creationId xmlns:a16="http://schemas.microsoft.com/office/drawing/2014/main" id="{2B3FC070-F65E-4D3D-8427-A135ADF3FF7F}"/>
              </a:ext>
            </a:extLst>
          </p:cNvPr>
          <p:cNvSpPr txBox="1"/>
          <p:nvPr/>
        </p:nvSpPr>
        <p:spPr>
          <a:xfrm>
            <a:off x="838200" y="6259893"/>
            <a:ext cx="10915650" cy="553998"/>
          </a:xfrm>
          <a:prstGeom prst="rect">
            <a:avLst/>
          </a:prstGeom>
          <a:noFill/>
        </p:spPr>
        <p:txBody>
          <a:bodyPr wrap="square" rtlCol="0">
            <a:spAutoFit/>
          </a:bodyPr>
          <a:lstStyle/>
          <a:p>
            <a:r>
              <a:rPr lang="en-US" sz="1000" baseline="30000" dirty="0">
                <a:latin typeface="+mj-lt"/>
              </a:rPr>
              <a:t>8</a:t>
            </a:r>
            <a:r>
              <a:rPr lang="en-US" sz="1000" dirty="0">
                <a:latin typeface="+mj-lt"/>
              </a:rPr>
              <a:t>. See NAB annual reports for more details</a:t>
            </a:r>
          </a:p>
          <a:p>
            <a:r>
              <a:rPr lang="en-US" sz="1000" baseline="30000" dirty="0">
                <a:latin typeface="+mj-lt"/>
              </a:rPr>
              <a:t>9</a:t>
            </a:r>
            <a:r>
              <a:rPr lang="en-US" sz="1000" dirty="0">
                <a:latin typeface="+mj-lt"/>
              </a:rPr>
              <a:t> In Namibia, rainfed maize, </a:t>
            </a:r>
            <a:r>
              <a:rPr lang="en-US" sz="1000" dirty="0" err="1">
                <a:latin typeface="+mj-lt"/>
              </a:rPr>
              <a:t>mahangu</a:t>
            </a:r>
            <a:r>
              <a:rPr lang="en-US" sz="1000" dirty="0">
                <a:latin typeface="+mj-lt"/>
              </a:rPr>
              <a:t> and sorghum -- which represent the primary grains consumed in Namibia (and, thus, the main components of “other cereals”) – are normally harvested between May and August</a:t>
            </a:r>
            <a:endParaRPr lang="en-US" sz="1000" dirty="0"/>
          </a:p>
        </p:txBody>
      </p:sp>
      <p:sp>
        <p:nvSpPr>
          <p:cNvPr id="6" name="TextBox 5">
            <a:extLst>
              <a:ext uri="{FF2B5EF4-FFF2-40B4-BE49-F238E27FC236}">
                <a16:creationId xmlns:a16="http://schemas.microsoft.com/office/drawing/2014/main" id="{B652C5E0-321A-4B13-8A58-4CEE9662A61C}"/>
              </a:ext>
            </a:extLst>
          </p:cNvPr>
          <p:cNvSpPr txBox="1"/>
          <p:nvPr/>
        </p:nvSpPr>
        <p:spPr>
          <a:xfrm>
            <a:off x="838200" y="1507504"/>
            <a:ext cx="10264902" cy="4909036"/>
          </a:xfrm>
          <a:prstGeom prst="rect">
            <a:avLst/>
          </a:prstGeom>
          <a:noFill/>
        </p:spPr>
        <p:txBody>
          <a:bodyPr wrap="square" rtlCol="0">
            <a:spAutoFit/>
          </a:bodyPr>
          <a:lstStyle/>
          <a:p>
            <a:pPr marL="285750" indent="-285750">
              <a:spcBef>
                <a:spcPts val="600"/>
              </a:spcBef>
              <a:buFont typeface="Arial" panose="020B0604020202020204" pitchFamily="34" charset="0"/>
              <a:buChar char="•"/>
            </a:pPr>
            <a:r>
              <a:rPr lang="en-US" dirty="0">
                <a:latin typeface="+mj-lt"/>
              </a:rPr>
              <a:t>A majority of households purchased the “other cereals” (grains) they consumed, rather than consuming own production, because most communal maize, </a:t>
            </a:r>
            <a:r>
              <a:rPr lang="en-US" dirty="0" err="1">
                <a:latin typeface="+mj-lt"/>
              </a:rPr>
              <a:t>manahgu</a:t>
            </a:r>
            <a:r>
              <a:rPr lang="en-US" dirty="0">
                <a:latin typeface="+mj-lt"/>
              </a:rPr>
              <a:t> and sorghum production in Namibia is rainfed and small-scale (see Fig. 2) </a:t>
            </a:r>
            <a:endParaRPr lang="en-US" baseline="30000" dirty="0">
              <a:latin typeface="+mj-lt"/>
            </a:endParaRPr>
          </a:p>
          <a:p>
            <a:pPr marL="742950" lvl="1" indent="-285750">
              <a:spcBef>
                <a:spcPts val="600"/>
              </a:spcBef>
              <a:buFont typeface="Arial" panose="020B0604020202020204" pitchFamily="34" charset="0"/>
              <a:buChar char="•"/>
            </a:pPr>
            <a:r>
              <a:rPr lang="en-US" dirty="0">
                <a:latin typeface="+mj-lt"/>
              </a:rPr>
              <a:t>Wheat, which is almost exclusively imported, is commercially milled and the majority is purchased and consumed as bread or other derived products;</a:t>
            </a:r>
          </a:p>
          <a:p>
            <a:pPr marL="742950" lvl="1" indent="-285750">
              <a:spcBef>
                <a:spcPts val="600"/>
              </a:spcBef>
              <a:buFont typeface="Arial" panose="020B0604020202020204" pitchFamily="34" charset="0"/>
              <a:buChar char="•"/>
            </a:pPr>
            <a:r>
              <a:rPr lang="en-US" sz="1800" dirty="0">
                <a:effectLst/>
                <a:latin typeface="+mj-lt"/>
              </a:rPr>
              <a:t>Maize is both commercially (rainfed and irrigated) and communally grown but a significant proportion is also imported. Imported and commercially grown maize make up the majority of maize for consumption</a:t>
            </a:r>
            <a:r>
              <a:rPr lang="en-US" sz="1800" dirty="0">
                <a:latin typeface="+mj-lt"/>
              </a:rPr>
              <a:t>;</a:t>
            </a:r>
            <a:r>
              <a:rPr lang="en-US" sz="1800" baseline="30000" dirty="0">
                <a:latin typeface="+mj-lt"/>
              </a:rPr>
              <a:t>8</a:t>
            </a:r>
            <a:endParaRPr lang="en-US" baseline="30000" dirty="0">
              <a:latin typeface="+mj-lt"/>
            </a:endParaRPr>
          </a:p>
          <a:p>
            <a:pPr marL="742950" lvl="1" indent="-285750">
              <a:spcBef>
                <a:spcPts val="600"/>
              </a:spcBef>
              <a:buFont typeface="Arial" panose="020B0604020202020204" pitchFamily="34" charset="0"/>
              <a:buChar char="•"/>
            </a:pPr>
            <a:r>
              <a:rPr lang="en-US" dirty="0">
                <a:latin typeface="+mj-lt"/>
              </a:rPr>
              <a:t>Most available </a:t>
            </a:r>
            <a:r>
              <a:rPr lang="en-US" dirty="0" err="1">
                <a:latin typeface="+mj-lt"/>
              </a:rPr>
              <a:t>mahangu</a:t>
            </a:r>
            <a:r>
              <a:rPr lang="en-US" dirty="0">
                <a:latin typeface="+mj-lt"/>
              </a:rPr>
              <a:t> is from communal production (with limited imports) but is primarily grown in the 6 northern regions where growing conditions are </a:t>
            </a:r>
            <a:r>
              <a:rPr lang="en-US" dirty="0" err="1">
                <a:latin typeface="+mj-lt"/>
              </a:rPr>
              <a:t>favourable</a:t>
            </a:r>
            <a:r>
              <a:rPr lang="en-US" dirty="0">
                <a:latin typeface="+mj-lt"/>
              </a:rPr>
              <a:t>.</a:t>
            </a:r>
          </a:p>
          <a:p>
            <a:pPr marL="285750" indent="-285750">
              <a:spcBef>
                <a:spcPts val="600"/>
              </a:spcBef>
              <a:buFont typeface="Arial" panose="020B0604020202020204" pitchFamily="34" charset="0"/>
              <a:buChar char="•"/>
            </a:pPr>
            <a:r>
              <a:rPr lang="en-US" dirty="0">
                <a:latin typeface="+mj-lt"/>
              </a:rPr>
              <a:t>A concern is that in the regions where communal production is common, </a:t>
            </a:r>
            <a:r>
              <a:rPr lang="en-US" u="sng" dirty="0">
                <a:latin typeface="+mj-lt"/>
              </a:rPr>
              <a:t>especially during and after the harvest season</a:t>
            </a:r>
            <a:r>
              <a:rPr lang="en-US" dirty="0">
                <a:latin typeface="+mj-lt"/>
              </a:rPr>
              <a:t>,</a:t>
            </a:r>
            <a:r>
              <a:rPr lang="en-US" baseline="30000" dirty="0">
                <a:latin typeface="+mj-lt"/>
              </a:rPr>
              <a:t>9</a:t>
            </a:r>
            <a:r>
              <a:rPr lang="en-US" dirty="0">
                <a:latin typeface="+mj-lt"/>
              </a:rPr>
              <a:t> a micronutrient fortification programme which targets imports and commercially milled grain might not reach key segments of the population.</a:t>
            </a:r>
          </a:p>
          <a:p>
            <a:pPr marL="285750" indent="-285750">
              <a:spcBef>
                <a:spcPts val="600"/>
              </a:spcBef>
              <a:buFont typeface="Arial" panose="020B0604020202020204" pitchFamily="34" charset="0"/>
              <a:buChar char="•"/>
            </a:pPr>
            <a:r>
              <a:rPr lang="en-US" dirty="0">
                <a:latin typeface="+mj-lt"/>
              </a:rPr>
              <a:t>To explore this issue, data from the household questionnaire and 7-day food diary were aggregated and </a:t>
            </a:r>
            <a:r>
              <a:rPr lang="en-US" dirty="0" err="1">
                <a:latin typeface="+mj-lt"/>
              </a:rPr>
              <a:t>analysed</a:t>
            </a:r>
            <a:r>
              <a:rPr lang="en-US" dirty="0">
                <a:latin typeface="+mj-lt"/>
              </a:rPr>
              <a:t> according to the month in which the survey was conducted.</a:t>
            </a:r>
          </a:p>
          <a:p>
            <a:pPr marL="285750" indent="-285750">
              <a:buFont typeface="Arial" panose="020B0604020202020204" pitchFamily="34" charset="0"/>
              <a:buChar char="•"/>
            </a:pPr>
            <a:endParaRPr lang="en-US" dirty="0">
              <a:latin typeface="+mj-lt"/>
            </a:endParaRPr>
          </a:p>
        </p:txBody>
      </p:sp>
    </p:spTree>
    <p:extLst>
      <p:ext uri="{BB962C8B-B14F-4D97-AF65-F5344CB8AC3E}">
        <p14:creationId xmlns:p14="http://schemas.microsoft.com/office/powerpoint/2010/main" val="39286531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58021-ACC3-4B82-A5AB-BC24BCB44C82}"/>
              </a:ext>
            </a:extLst>
          </p:cNvPr>
          <p:cNvSpPr>
            <a:spLocks noGrp="1"/>
          </p:cNvSpPr>
          <p:nvPr>
            <p:ph type="title"/>
          </p:nvPr>
        </p:nvSpPr>
        <p:spPr/>
        <p:txBody>
          <a:bodyPr/>
          <a:lstStyle/>
          <a:p>
            <a:r>
              <a:rPr lang="en-US">
                <a:latin typeface="Tw Cen MT" panose="020B0602020104020603" pitchFamily="34" charset="0"/>
              </a:rPr>
              <a:t>III. Key Findings</a:t>
            </a:r>
            <a:endParaRPr lang="en-US" dirty="0">
              <a:latin typeface="Tw Cen MT" panose="020B0602020104020603" pitchFamily="34" charset="0"/>
            </a:endParaRPr>
          </a:p>
        </p:txBody>
      </p:sp>
      <p:sp>
        <p:nvSpPr>
          <p:cNvPr id="3" name="Content Placeholder 2">
            <a:extLst>
              <a:ext uri="{FF2B5EF4-FFF2-40B4-BE49-F238E27FC236}">
                <a16:creationId xmlns:a16="http://schemas.microsoft.com/office/drawing/2014/main" id="{5955E1D6-776A-4A16-A473-76B2ED3FC25F}"/>
              </a:ext>
            </a:extLst>
          </p:cNvPr>
          <p:cNvSpPr>
            <a:spLocks noGrp="1"/>
          </p:cNvSpPr>
          <p:nvPr>
            <p:ph idx="1"/>
          </p:nvPr>
        </p:nvSpPr>
        <p:spPr>
          <a:xfrm>
            <a:off x="838200" y="1441450"/>
            <a:ext cx="10515600" cy="498475"/>
          </a:xfrm>
        </p:spPr>
        <p:txBody>
          <a:bodyPr>
            <a:normAutofit/>
          </a:bodyPr>
          <a:lstStyle/>
          <a:p>
            <a:pPr marL="0" indent="0">
              <a:buNone/>
            </a:pPr>
            <a:r>
              <a:rPr lang="en-US" sz="2000" b="1" dirty="0">
                <a:latin typeface="+mj-lt"/>
              </a:rPr>
              <a:t>C. Regional and temporal variations in grain consumption</a:t>
            </a:r>
            <a:endParaRPr lang="en-US" sz="2000" b="1" dirty="0"/>
          </a:p>
        </p:txBody>
      </p:sp>
      <p:sp>
        <p:nvSpPr>
          <p:cNvPr id="6" name="TextBox 5">
            <a:extLst>
              <a:ext uri="{FF2B5EF4-FFF2-40B4-BE49-F238E27FC236}">
                <a16:creationId xmlns:a16="http://schemas.microsoft.com/office/drawing/2014/main" id="{B652C5E0-321A-4B13-8A58-4CEE9662A61C}"/>
              </a:ext>
            </a:extLst>
          </p:cNvPr>
          <p:cNvSpPr txBox="1"/>
          <p:nvPr/>
        </p:nvSpPr>
        <p:spPr>
          <a:xfrm>
            <a:off x="838200" y="1939925"/>
            <a:ext cx="10370325" cy="923330"/>
          </a:xfrm>
          <a:prstGeom prst="rect">
            <a:avLst/>
          </a:prstGeom>
          <a:noFill/>
        </p:spPr>
        <p:txBody>
          <a:bodyPr wrap="square" rtlCol="0">
            <a:spAutoFit/>
          </a:bodyPr>
          <a:lstStyle/>
          <a:p>
            <a:pPr marL="285750" indent="-285750">
              <a:spcBef>
                <a:spcPts val="600"/>
              </a:spcBef>
              <a:buFont typeface="Arial" panose="020B0604020202020204" pitchFamily="34" charset="0"/>
              <a:buChar char="•"/>
            </a:pPr>
            <a:r>
              <a:rPr lang="en-US" dirty="0">
                <a:latin typeface="+mj-lt"/>
              </a:rPr>
              <a:t>Data from the household questionnaire revealed that consumption of “other cereals” from own production was highest during and following the main harvest period (May-August) in regions where communal production is common (see Figures 6 &amp; 7)</a:t>
            </a:r>
            <a:r>
              <a:rPr lang="en-US" baseline="30000" dirty="0">
                <a:latin typeface="+mj-lt"/>
              </a:rPr>
              <a:t>10</a:t>
            </a:r>
          </a:p>
        </p:txBody>
      </p:sp>
      <p:sp>
        <p:nvSpPr>
          <p:cNvPr id="4" name="TextBox 3">
            <a:extLst>
              <a:ext uri="{FF2B5EF4-FFF2-40B4-BE49-F238E27FC236}">
                <a16:creationId xmlns:a16="http://schemas.microsoft.com/office/drawing/2014/main" id="{54616D6D-4B63-4318-BE93-B004F5EBAFE5}"/>
              </a:ext>
            </a:extLst>
          </p:cNvPr>
          <p:cNvSpPr txBox="1"/>
          <p:nvPr/>
        </p:nvSpPr>
        <p:spPr>
          <a:xfrm>
            <a:off x="838199" y="6518599"/>
            <a:ext cx="10715625" cy="369332"/>
          </a:xfrm>
          <a:prstGeom prst="rect">
            <a:avLst/>
          </a:prstGeom>
          <a:noFill/>
        </p:spPr>
        <p:txBody>
          <a:bodyPr wrap="square" rtlCol="0">
            <a:spAutoFit/>
          </a:bodyPr>
          <a:lstStyle/>
          <a:p>
            <a:r>
              <a:rPr lang="en-US" sz="900" baseline="30000">
                <a:latin typeface="+mj-lt"/>
              </a:rPr>
              <a:t>10 </a:t>
            </a:r>
            <a:r>
              <a:rPr lang="en-US" sz="900">
                <a:latin typeface="+mj-lt"/>
              </a:rPr>
              <a:t>Data from Kavango West and Omusati regions are depicted because they have high levels of communal maize and mahangu production, respectively (see Figures 3 &amp; 4 above)</a:t>
            </a:r>
          </a:p>
          <a:p>
            <a:endParaRPr lang="en-US" sz="900" dirty="0">
              <a:latin typeface="+mj-lt"/>
            </a:endParaRPr>
          </a:p>
        </p:txBody>
      </p:sp>
      <p:pic>
        <p:nvPicPr>
          <p:cNvPr id="8" name="Graphic 7">
            <a:extLst>
              <a:ext uri="{FF2B5EF4-FFF2-40B4-BE49-F238E27FC236}">
                <a16:creationId xmlns:a16="http://schemas.microsoft.com/office/drawing/2014/main" id="{834C91D4-FFC1-463B-A5CF-A284DE28251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38199" y="3192532"/>
            <a:ext cx="4800600" cy="3200400"/>
          </a:xfrm>
          <a:prstGeom prst="rect">
            <a:avLst/>
          </a:prstGeom>
        </p:spPr>
      </p:pic>
      <p:pic>
        <p:nvPicPr>
          <p:cNvPr id="14" name="Graphic 13">
            <a:extLst>
              <a:ext uri="{FF2B5EF4-FFF2-40B4-BE49-F238E27FC236}">
                <a16:creationId xmlns:a16="http://schemas.microsoft.com/office/drawing/2014/main" id="{C32F683A-6D40-443C-967B-25CFB989928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196011" y="3186524"/>
            <a:ext cx="4800600" cy="3200400"/>
          </a:xfrm>
          <a:prstGeom prst="rect">
            <a:avLst/>
          </a:prstGeom>
        </p:spPr>
      </p:pic>
      <p:sp>
        <p:nvSpPr>
          <p:cNvPr id="15" name="TextBox 14">
            <a:extLst>
              <a:ext uri="{FF2B5EF4-FFF2-40B4-BE49-F238E27FC236}">
                <a16:creationId xmlns:a16="http://schemas.microsoft.com/office/drawing/2014/main" id="{FED5AF7E-1133-4873-A842-01F385FA0DCF}"/>
              </a:ext>
            </a:extLst>
          </p:cNvPr>
          <p:cNvSpPr txBox="1"/>
          <p:nvPr/>
        </p:nvSpPr>
        <p:spPr>
          <a:xfrm>
            <a:off x="715930" y="3066865"/>
            <a:ext cx="5125536" cy="461665"/>
          </a:xfrm>
          <a:prstGeom prst="rect">
            <a:avLst/>
          </a:prstGeom>
          <a:noFill/>
        </p:spPr>
        <p:txBody>
          <a:bodyPr wrap="square" rtlCol="0">
            <a:spAutoFit/>
          </a:bodyPr>
          <a:lstStyle/>
          <a:p>
            <a:r>
              <a:rPr lang="en-US" sz="1200" b="1" dirty="0">
                <a:latin typeface="Tw Cen MT" panose="020B0602020104020603" pitchFamily="34" charset="0"/>
              </a:rPr>
              <a:t>Figure 6. Proportion of households consuming “other cereals” from own production in </a:t>
            </a:r>
            <a:r>
              <a:rPr lang="en-US" sz="1200" b="1" dirty="0" err="1">
                <a:latin typeface="Tw Cen MT" panose="020B0602020104020603" pitchFamily="34" charset="0"/>
              </a:rPr>
              <a:t>Kavango</a:t>
            </a:r>
            <a:r>
              <a:rPr lang="en-US" sz="1200" b="1" dirty="0">
                <a:latin typeface="Tw Cen MT" panose="020B0602020104020603" pitchFamily="34" charset="0"/>
              </a:rPr>
              <a:t> West between April 2015 and March 2016</a:t>
            </a:r>
          </a:p>
        </p:txBody>
      </p:sp>
      <p:sp>
        <p:nvSpPr>
          <p:cNvPr id="16" name="TextBox 15">
            <a:extLst>
              <a:ext uri="{FF2B5EF4-FFF2-40B4-BE49-F238E27FC236}">
                <a16:creationId xmlns:a16="http://schemas.microsoft.com/office/drawing/2014/main" id="{5D0AAFE3-7503-487E-AA5D-7BF9FE236BAF}"/>
              </a:ext>
            </a:extLst>
          </p:cNvPr>
          <p:cNvSpPr txBox="1"/>
          <p:nvPr/>
        </p:nvSpPr>
        <p:spPr>
          <a:xfrm>
            <a:off x="6350536" y="3025955"/>
            <a:ext cx="4910108" cy="461665"/>
          </a:xfrm>
          <a:prstGeom prst="rect">
            <a:avLst/>
          </a:prstGeom>
          <a:noFill/>
        </p:spPr>
        <p:txBody>
          <a:bodyPr wrap="square" rtlCol="0">
            <a:spAutoFit/>
          </a:bodyPr>
          <a:lstStyle/>
          <a:p>
            <a:r>
              <a:rPr lang="en-US" sz="1200" b="1" dirty="0">
                <a:latin typeface="Tw Cen MT" panose="020B0602020104020603" pitchFamily="34" charset="0"/>
              </a:rPr>
              <a:t>Figure 7. Proportion of households consuming “other cereals” from own production in </a:t>
            </a:r>
            <a:r>
              <a:rPr lang="en-US" sz="1200" b="1" dirty="0" err="1">
                <a:latin typeface="Tw Cen MT" panose="020B0602020104020603" pitchFamily="34" charset="0"/>
              </a:rPr>
              <a:t>Omusati</a:t>
            </a:r>
            <a:r>
              <a:rPr lang="en-US" sz="1200" b="1" dirty="0">
                <a:latin typeface="Tw Cen MT" panose="020B0602020104020603" pitchFamily="34" charset="0"/>
              </a:rPr>
              <a:t> between April 2015 and March 2016</a:t>
            </a:r>
          </a:p>
        </p:txBody>
      </p:sp>
    </p:spTree>
    <p:extLst>
      <p:ext uri="{BB962C8B-B14F-4D97-AF65-F5344CB8AC3E}">
        <p14:creationId xmlns:p14="http://schemas.microsoft.com/office/powerpoint/2010/main" val="3242673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58021-ACC3-4B82-A5AB-BC24BCB44C82}"/>
              </a:ext>
            </a:extLst>
          </p:cNvPr>
          <p:cNvSpPr>
            <a:spLocks noGrp="1"/>
          </p:cNvSpPr>
          <p:nvPr>
            <p:ph type="title"/>
          </p:nvPr>
        </p:nvSpPr>
        <p:spPr/>
        <p:txBody>
          <a:bodyPr/>
          <a:lstStyle/>
          <a:p>
            <a:r>
              <a:rPr lang="en-US" dirty="0">
                <a:latin typeface="Tw Cen MT" panose="020B0602020104020603" pitchFamily="34" charset="0"/>
              </a:rPr>
              <a:t>III. Key Findings</a:t>
            </a:r>
          </a:p>
        </p:txBody>
      </p:sp>
      <p:sp>
        <p:nvSpPr>
          <p:cNvPr id="3" name="Content Placeholder 2">
            <a:extLst>
              <a:ext uri="{FF2B5EF4-FFF2-40B4-BE49-F238E27FC236}">
                <a16:creationId xmlns:a16="http://schemas.microsoft.com/office/drawing/2014/main" id="{5955E1D6-776A-4A16-A473-76B2ED3FC25F}"/>
              </a:ext>
            </a:extLst>
          </p:cNvPr>
          <p:cNvSpPr>
            <a:spLocks noGrp="1"/>
          </p:cNvSpPr>
          <p:nvPr>
            <p:ph idx="1"/>
          </p:nvPr>
        </p:nvSpPr>
        <p:spPr>
          <a:xfrm>
            <a:off x="838200" y="1441450"/>
            <a:ext cx="6400800" cy="498475"/>
          </a:xfrm>
        </p:spPr>
        <p:txBody>
          <a:bodyPr>
            <a:noAutofit/>
          </a:bodyPr>
          <a:lstStyle/>
          <a:p>
            <a:pPr marL="0" indent="0">
              <a:buNone/>
            </a:pPr>
            <a:r>
              <a:rPr lang="en-US" sz="2000" b="1" dirty="0">
                <a:latin typeface="+mj-lt"/>
              </a:rPr>
              <a:t>C. Regional and temporal variations in grain consumption</a:t>
            </a:r>
            <a:endParaRPr lang="en-US" sz="2000" b="1" dirty="0"/>
          </a:p>
        </p:txBody>
      </p:sp>
      <p:sp>
        <p:nvSpPr>
          <p:cNvPr id="6" name="TextBox 5">
            <a:extLst>
              <a:ext uri="{FF2B5EF4-FFF2-40B4-BE49-F238E27FC236}">
                <a16:creationId xmlns:a16="http://schemas.microsoft.com/office/drawing/2014/main" id="{B652C5E0-321A-4B13-8A58-4CEE9662A61C}"/>
              </a:ext>
            </a:extLst>
          </p:cNvPr>
          <p:cNvSpPr txBox="1"/>
          <p:nvPr/>
        </p:nvSpPr>
        <p:spPr>
          <a:xfrm>
            <a:off x="838199" y="2039170"/>
            <a:ext cx="6024937" cy="4185761"/>
          </a:xfrm>
          <a:prstGeom prst="rect">
            <a:avLst/>
          </a:prstGeom>
          <a:noFill/>
        </p:spPr>
        <p:txBody>
          <a:bodyPr wrap="square" rtlCol="0">
            <a:spAutoFit/>
          </a:bodyPr>
          <a:lstStyle/>
          <a:p>
            <a:pPr marL="285750" indent="-285750">
              <a:spcBef>
                <a:spcPts val="1200"/>
              </a:spcBef>
              <a:buFont typeface="Arial" panose="020B0604020202020204" pitchFamily="34" charset="0"/>
              <a:buChar char="•"/>
            </a:pPr>
            <a:r>
              <a:rPr lang="en-US" dirty="0">
                <a:latin typeface="+mj-lt"/>
              </a:rPr>
              <a:t>One finding from the 7-day food diary: of maize, </a:t>
            </a:r>
            <a:r>
              <a:rPr lang="en-US" dirty="0" err="1">
                <a:latin typeface="+mj-lt"/>
              </a:rPr>
              <a:t>mahangu</a:t>
            </a:r>
            <a:r>
              <a:rPr lang="en-US" dirty="0">
                <a:latin typeface="+mj-lt"/>
              </a:rPr>
              <a:t> and sorghum, </a:t>
            </a:r>
            <a:r>
              <a:rPr lang="en-US" dirty="0" err="1">
                <a:latin typeface="+mj-lt"/>
              </a:rPr>
              <a:t>mahangu</a:t>
            </a:r>
            <a:r>
              <a:rPr lang="en-US" dirty="0">
                <a:latin typeface="+mj-lt"/>
              </a:rPr>
              <a:t> is the only grain frequently consumed from own production. This is intuitive when considering the overall quantities produced (see Figure. 3, 4, &amp; 5)</a:t>
            </a:r>
            <a:r>
              <a:rPr lang="en-US" baseline="30000" dirty="0">
                <a:latin typeface="+mj-lt"/>
              </a:rPr>
              <a:t>11</a:t>
            </a:r>
          </a:p>
          <a:p>
            <a:pPr marL="285750" indent="-285750">
              <a:spcBef>
                <a:spcPts val="1200"/>
              </a:spcBef>
              <a:buFont typeface="Arial" panose="020B0604020202020204" pitchFamily="34" charset="0"/>
              <a:buChar char="•"/>
            </a:pPr>
            <a:r>
              <a:rPr lang="en-US" dirty="0">
                <a:latin typeface="+mj-lt"/>
              </a:rPr>
              <a:t>Analyses of mahangu consumption from own production from the 7-day food diary reveal a similar regional and temporal pattern as observed for “other cereals” from the household questionnaire (Figures 8 &amp; 9 below)</a:t>
            </a:r>
            <a:r>
              <a:rPr lang="en-US" baseline="30000" dirty="0">
                <a:latin typeface="+mj-lt"/>
              </a:rPr>
              <a:t>12</a:t>
            </a:r>
          </a:p>
          <a:p>
            <a:pPr marL="285750" indent="-285750">
              <a:spcBef>
                <a:spcPts val="1200"/>
              </a:spcBef>
              <a:buFont typeface="Arial" panose="020B0604020202020204" pitchFamily="34" charset="0"/>
              <a:buChar char="•"/>
            </a:pPr>
            <a:r>
              <a:rPr lang="en-US" dirty="0">
                <a:latin typeface="+mj-lt"/>
              </a:rPr>
              <a:t>Figures 8 and 9 also demonstrate that even in </a:t>
            </a:r>
            <a:r>
              <a:rPr lang="en-US" dirty="0" err="1">
                <a:latin typeface="+mj-lt"/>
              </a:rPr>
              <a:t>Omusati</a:t>
            </a:r>
            <a:r>
              <a:rPr lang="en-US" dirty="0">
                <a:latin typeface="+mj-lt"/>
              </a:rPr>
              <a:t>, the region with the greatest amount of communal mahangu production (Figure 4), purchased maize and bread make up a significant proportion of the diet. (Figure 9)</a:t>
            </a:r>
          </a:p>
          <a:p>
            <a:pPr marL="285750" indent="-285750">
              <a:buFont typeface="Arial" panose="020B0604020202020204" pitchFamily="34" charset="0"/>
              <a:buChar char="•"/>
            </a:pPr>
            <a:endParaRPr lang="en-US" baseline="30000" dirty="0">
              <a:latin typeface="+mj-lt"/>
            </a:endParaRPr>
          </a:p>
        </p:txBody>
      </p:sp>
      <p:sp>
        <p:nvSpPr>
          <p:cNvPr id="4" name="TextBox 3">
            <a:extLst>
              <a:ext uri="{FF2B5EF4-FFF2-40B4-BE49-F238E27FC236}">
                <a16:creationId xmlns:a16="http://schemas.microsoft.com/office/drawing/2014/main" id="{6B816729-B8A0-4DFA-984F-ABA93BC19A3A}"/>
              </a:ext>
            </a:extLst>
          </p:cNvPr>
          <p:cNvSpPr txBox="1"/>
          <p:nvPr/>
        </p:nvSpPr>
        <p:spPr>
          <a:xfrm>
            <a:off x="838200" y="6234934"/>
            <a:ext cx="10915650" cy="553998"/>
          </a:xfrm>
          <a:prstGeom prst="rect">
            <a:avLst/>
          </a:prstGeom>
          <a:noFill/>
        </p:spPr>
        <p:txBody>
          <a:bodyPr wrap="square" rtlCol="0">
            <a:spAutoFit/>
          </a:bodyPr>
          <a:lstStyle/>
          <a:p>
            <a:r>
              <a:rPr lang="en-US" sz="1000" baseline="30000" dirty="0">
                <a:latin typeface="+mj-lt"/>
              </a:rPr>
              <a:t>11</a:t>
            </a:r>
            <a:r>
              <a:rPr lang="en-US" sz="1000" dirty="0">
                <a:latin typeface="+mj-lt"/>
              </a:rPr>
              <a:t> The 7-day food diary, unlike the household questionnaire, contained more detailed information on the food consumed and allowed for analysis of specific grains</a:t>
            </a:r>
          </a:p>
          <a:p>
            <a:r>
              <a:rPr lang="en-US" sz="1000" baseline="30000" dirty="0">
                <a:latin typeface="+mj-lt"/>
              </a:rPr>
              <a:t>12</a:t>
            </a:r>
            <a:r>
              <a:rPr lang="en-US" sz="1000" dirty="0">
                <a:latin typeface="+mj-lt"/>
              </a:rPr>
              <a:t> </a:t>
            </a:r>
            <a:r>
              <a:rPr lang="en-US" sz="1000" dirty="0" err="1">
                <a:latin typeface="+mj-lt"/>
              </a:rPr>
              <a:t>Kavango</a:t>
            </a:r>
            <a:r>
              <a:rPr lang="en-US" sz="1000" dirty="0">
                <a:latin typeface="+mj-lt"/>
              </a:rPr>
              <a:t> West region was chosen as an example of temporal grain consumption patterns; all regions with communal </a:t>
            </a:r>
            <a:r>
              <a:rPr lang="en-US" sz="1000" dirty="0" err="1">
                <a:latin typeface="+mj-lt"/>
              </a:rPr>
              <a:t>mahangu</a:t>
            </a:r>
            <a:r>
              <a:rPr lang="en-US" sz="1000" dirty="0">
                <a:latin typeface="+mj-lt"/>
              </a:rPr>
              <a:t> production had similar patterns of cereal consumption. Other forms of grain consumption were not depicted (e.g., maize from own production) due to very small values.</a:t>
            </a:r>
            <a:endParaRPr lang="en-US" sz="1000" dirty="0"/>
          </a:p>
        </p:txBody>
      </p:sp>
      <p:pic>
        <p:nvPicPr>
          <p:cNvPr id="5" name="Graphic 4">
            <a:extLst>
              <a:ext uri="{FF2B5EF4-FFF2-40B4-BE49-F238E27FC236}">
                <a16:creationId xmlns:a16="http://schemas.microsoft.com/office/drawing/2014/main" id="{57C07C9A-9F2A-444C-A4E3-6F94CF57E32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239000" y="685800"/>
            <a:ext cx="4114800" cy="2743200"/>
          </a:xfrm>
          <a:prstGeom prst="rect">
            <a:avLst/>
          </a:prstGeom>
        </p:spPr>
      </p:pic>
      <p:sp>
        <p:nvSpPr>
          <p:cNvPr id="8" name="TextBox 7">
            <a:extLst>
              <a:ext uri="{FF2B5EF4-FFF2-40B4-BE49-F238E27FC236}">
                <a16:creationId xmlns:a16="http://schemas.microsoft.com/office/drawing/2014/main" id="{3D0A6B4D-C531-49D0-A27C-AFB812DF388B}"/>
              </a:ext>
            </a:extLst>
          </p:cNvPr>
          <p:cNvSpPr txBox="1"/>
          <p:nvPr/>
        </p:nvSpPr>
        <p:spPr>
          <a:xfrm>
            <a:off x="7439377" y="500073"/>
            <a:ext cx="4752621" cy="461665"/>
          </a:xfrm>
          <a:prstGeom prst="rect">
            <a:avLst/>
          </a:prstGeom>
          <a:noFill/>
        </p:spPr>
        <p:txBody>
          <a:bodyPr wrap="square" rtlCol="0">
            <a:spAutoFit/>
          </a:bodyPr>
          <a:lstStyle/>
          <a:p>
            <a:r>
              <a:rPr lang="en-US" sz="1200" b="1" dirty="0">
                <a:latin typeface="Tw Cen MT" panose="020B0602020104020603" pitchFamily="34" charset="0"/>
              </a:rPr>
              <a:t>Figure 8. Consumption of grains products in Namibia as a percentage of total food servings between April 2015 and March 2016</a:t>
            </a:r>
            <a:endParaRPr lang="en-US" sz="1200" b="1" dirty="0">
              <a:solidFill>
                <a:srgbClr val="FF0000"/>
              </a:solidFill>
              <a:latin typeface="Tw Cen MT" panose="020B0602020104020603" pitchFamily="34" charset="0"/>
            </a:endParaRPr>
          </a:p>
        </p:txBody>
      </p:sp>
      <p:sp>
        <p:nvSpPr>
          <p:cNvPr id="16" name="TextBox 15">
            <a:extLst>
              <a:ext uri="{FF2B5EF4-FFF2-40B4-BE49-F238E27FC236}">
                <a16:creationId xmlns:a16="http://schemas.microsoft.com/office/drawing/2014/main" id="{7D66A16F-D962-4EF4-BB3F-AA7CCBFE4B94}"/>
              </a:ext>
            </a:extLst>
          </p:cNvPr>
          <p:cNvSpPr txBox="1"/>
          <p:nvPr/>
        </p:nvSpPr>
        <p:spPr>
          <a:xfrm>
            <a:off x="7439378" y="3294650"/>
            <a:ext cx="4752621" cy="461665"/>
          </a:xfrm>
          <a:prstGeom prst="rect">
            <a:avLst/>
          </a:prstGeom>
          <a:noFill/>
        </p:spPr>
        <p:txBody>
          <a:bodyPr wrap="square" rtlCol="0">
            <a:spAutoFit/>
          </a:bodyPr>
          <a:lstStyle/>
          <a:p>
            <a:r>
              <a:rPr lang="en-US" sz="1200" b="1" dirty="0">
                <a:latin typeface="Tw Cen MT" panose="020B0602020104020603" pitchFamily="34" charset="0"/>
              </a:rPr>
              <a:t>Figure 9. Consumption of grains products in </a:t>
            </a:r>
            <a:r>
              <a:rPr lang="en-US" sz="1200" b="1" dirty="0" err="1">
                <a:latin typeface="Tw Cen MT" panose="020B0602020104020603" pitchFamily="34" charset="0"/>
              </a:rPr>
              <a:t>Omusati</a:t>
            </a:r>
            <a:r>
              <a:rPr lang="en-US" sz="1200" b="1" dirty="0">
                <a:latin typeface="Tw Cen MT" panose="020B0602020104020603" pitchFamily="34" charset="0"/>
              </a:rPr>
              <a:t> as a percentage of total food servings between April 2015 and March 2016</a:t>
            </a:r>
          </a:p>
        </p:txBody>
      </p:sp>
      <p:pic>
        <p:nvPicPr>
          <p:cNvPr id="10" name="Picture 9" descr="Chart, line chart&#10;&#10;Description automatically generated">
            <a:extLst>
              <a:ext uri="{FF2B5EF4-FFF2-40B4-BE49-F238E27FC236}">
                <a16:creationId xmlns:a16="http://schemas.microsoft.com/office/drawing/2014/main" id="{64577BA5-9CAB-4840-9A63-992C5A9EE346}"/>
              </a:ext>
            </a:extLst>
          </p:cNvPr>
          <p:cNvPicPr/>
          <p:nvPr/>
        </p:nvPicPr>
        <p:blipFill>
          <a:blip r:embed="rId4" cstate="print">
            <a:extLst>
              <a:ext uri="{28A0092B-C50C-407E-A947-70E740481C1C}">
                <a14:useLocalDpi xmlns:a14="http://schemas.microsoft.com/office/drawing/2010/main" val="0"/>
              </a:ext>
            </a:extLst>
          </a:blip>
          <a:stretch>
            <a:fillRect/>
          </a:stretch>
        </p:blipFill>
        <p:spPr>
          <a:xfrm>
            <a:off x="7439376" y="3879137"/>
            <a:ext cx="3821099" cy="2478790"/>
          </a:xfrm>
          <a:prstGeom prst="rect">
            <a:avLst/>
          </a:prstGeom>
        </p:spPr>
      </p:pic>
    </p:spTree>
    <p:extLst>
      <p:ext uri="{BB962C8B-B14F-4D97-AF65-F5344CB8AC3E}">
        <p14:creationId xmlns:p14="http://schemas.microsoft.com/office/powerpoint/2010/main" val="17892090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58021-ACC3-4B82-A5AB-BC24BCB44C82}"/>
              </a:ext>
            </a:extLst>
          </p:cNvPr>
          <p:cNvSpPr>
            <a:spLocks noGrp="1"/>
          </p:cNvSpPr>
          <p:nvPr>
            <p:ph type="title"/>
          </p:nvPr>
        </p:nvSpPr>
        <p:spPr/>
        <p:txBody>
          <a:bodyPr/>
          <a:lstStyle/>
          <a:p>
            <a:r>
              <a:rPr lang="en-US" dirty="0">
                <a:latin typeface="Tw Cen MT" panose="020B0602020104020603" pitchFamily="34" charset="0"/>
              </a:rPr>
              <a:t>III. Key Findings</a:t>
            </a:r>
          </a:p>
        </p:txBody>
      </p:sp>
      <p:sp>
        <p:nvSpPr>
          <p:cNvPr id="3" name="Content Placeholder 2">
            <a:extLst>
              <a:ext uri="{FF2B5EF4-FFF2-40B4-BE49-F238E27FC236}">
                <a16:creationId xmlns:a16="http://schemas.microsoft.com/office/drawing/2014/main" id="{5955E1D6-776A-4A16-A473-76B2ED3FC25F}"/>
              </a:ext>
            </a:extLst>
          </p:cNvPr>
          <p:cNvSpPr>
            <a:spLocks noGrp="1"/>
          </p:cNvSpPr>
          <p:nvPr>
            <p:ph idx="1"/>
          </p:nvPr>
        </p:nvSpPr>
        <p:spPr>
          <a:xfrm>
            <a:off x="838200" y="1441450"/>
            <a:ext cx="6682483" cy="498475"/>
          </a:xfrm>
        </p:spPr>
        <p:txBody>
          <a:bodyPr>
            <a:normAutofit/>
          </a:bodyPr>
          <a:lstStyle/>
          <a:p>
            <a:pPr marL="0" indent="0">
              <a:buNone/>
            </a:pPr>
            <a:r>
              <a:rPr lang="en-US" sz="2000" b="1" dirty="0">
                <a:latin typeface="+mj-lt"/>
              </a:rPr>
              <a:t>C. Regional and temporal variations in grain consumption</a:t>
            </a:r>
            <a:endParaRPr lang="en-US" sz="2000" b="1" dirty="0"/>
          </a:p>
        </p:txBody>
      </p:sp>
      <p:pic>
        <p:nvPicPr>
          <p:cNvPr id="7" name="Picture 6" descr="Chart, bar chart&#10;&#10;Description automatically generated">
            <a:extLst>
              <a:ext uri="{FF2B5EF4-FFF2-40B4-BE49-F238E27FC236}">
                <a16:creationId xmlns:a16="http://schemas.microsoft.com/office/drawing/2014/main" id="{73755B22-1608-451B-99F6-6E2BC19838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38463" y="2546675"/>
            <a:ext cx="6004908" cy="3602945"/>
          </a:xfrm>
          <a:prstGeom prst="rect">
            <a:avLst/>
          </a:prstGeom>
        </p:spPr>
      </p:pic>
      <p:sp>
        <p:nvSpPr>
          <p:cNvPr id="17" name="TextBox 16">
            <a:extLst>
              <a:ext uri="{FF2B5EF4-FFF2-40B4-BE49-F238E27FC236}">
                <a16:creationId xmlns:a16="http://schemas.microsoft.com/office/drawing/2014/main" id="{EA95631F-6057-4778-AAAC-29F3DB21AA43}"/>
              </a:ext>
            </a:extLst>
          </p:cNvPr>
          <p:cNvSpPr txBox="1"/>
          <p:nvPr/>
        </p:nvSpPr>
        <p:spPr>
          <a:xfrm>
            <a:off x="6096000" y="2161309"/>
            <a:ext cx="4845898" cy="276999"/>
          </a:xfrm>
          <a:prstGeom prst="rect">
            <a:avLst/>
          </a:prstGeom>
          <a:noFill/>
        </p:spPr>
        <p:txBody>
          <a:bodyPr wrap="square" rtlCol="0">
            <a:spAutoFit/>
          </a:bodyPr>
          <a:lstStyle/>
          <a:p>
            <a:r>
              <a:rPr lang="en-US" sz="1200" b="1" dirty="0">
                <a:latin typeface="Tw Cen MT" panose="020B0602020104020603" pitchFamily="34" charset="0"/>
              </a:rPr>
              <a:t>Figure 10. Quantity of cereals and cereal products consumed by region</a:t>
            </a:r>
          </a:p>
        </p:txBody>
      </p:sp>
      <p:sp>
        <p:nvSpPr>
          <p:cNvPr id="18" name="TextBox 17">
            <a:extLst>
              <a:ext uri="{FF2B5EF4-FFF2-40B4-BE49-F238E27FC236}">
                <a16:creationId xmlns:a16="http://schemas.microsoft.com/office/drawing/2014/main" id="{FE0A9008-FFDA-4335-A3C9-C48DEF33479A}"/>
              </a:ext>
            </a:extLst>
          </p:cNvPr>
          <p:cNvSpPr txBox="1"/>
          <p:nvPr/>
        </p:nvSpPr>
        <p:spPr>
          <a:xfrm>
            <a:off x="838200" y="2161309"/>
            <a:ext cx="4845898" cy="2031325"/>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mj-lt"/>
              </a:rPr>
              <a:t>However, consumption of purchased maize and bread – items likely to be fortified – remain a significant part of food consumed (in g/c/day) throughout the year even in regions with significant communal </a:t>
            </a:r>
            <a:r>
              <a:rPr lang="en-US" dirty="0" err="1">
                <a:latin typeface="+mj-lt"/>
              </a:rPr>
              <a:t>mahangu</a:t>
            </a:r>
            <a:r>
              <a:rPr lang="en-US" dirty="0">
                <a:latin typeface="+mj-lt"/>
              </a:rPr>
              <a:t> production (Figure 10).</a:t>
            </a:r>
          </a:p>
          <a:p>
            <a:endParaRPr lang="en-US" dirty="0"/>
          </a:p>
        </p:txBody>
      </p:sp>
    </p:spTree>
    <p:extLst>
      <p:ext uri="{BB962C8B-B14F-4D97-AF65-F5344CB8AC3E}">
        <p14:creationId xmlns:p14="http://schemas.microsoft.com/office/powerpoint/2010/main" val="6000313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F7154-0C54-4070-A61E-238A67C3F68F}"/>
              </a:ext>
            </a:extLst>
          </p:cNvPr>
          <p:cNvSpPr>
            <a:spLocks noGrp="1"/>
          </p:cNvSpPr>
          <p:nvPr>
            <p:ph type="title"/>
          </p:nvPr>
        </p:nvSpPr>
        <p:spPr/>
        <p:txBody>
          <a:bodyPr/>
          <a:lstStyle/>
          <a:p>
            <a:r>
              <a:rPr lang="en-US" dirty="0">
                <a:latin typeface="Tw Cen MT" panose="020B0602020104020603" pitchFamily="34" charset="0"/>
              </a:rPr>
              <a:t>IV. Appendix A: Summary of Methods</a:t>
            </a:r>
          </a:p>
        </p:txBody>
      </p:sp>
      <p:sp>
        <p:nvSpPr>
          <p:cNvPr id="8" name="TextBox 7">
            <a:extLst>
              <a:ext uri="{FF2B5EF4-FFF2-40B4-BE49-F238E27FC236}">
                <a16:creationId xmlns:a16="http://schemas.microsoft.com/office/drawing/2014/main" id="{BE6A4E93-9C90-45C2-938E-AB4A90F4DDF8}"/>
              </a:ext>
            </a:extLst>
          </p:cNvPr>
          <p:cNvSpPr txBox="1"/>
          <p:nvPr/>
        </p:nvSpPr>
        <p:spPr>
          <a:xfrm>
            <a:off x="838199" y="1690688"/>
            <a:ext cx="10515599" cy="369332"/>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mj-lt"/>
              </a:rPr>
              <a:t>Analysis files, including detailed source code, comprehensive tables and charts/graphs can be found </a:t>
            </a:r>
            <a:r>
              <a:rPr lang="en-US" b="1" dirty="0">
                <a:highlight>
                  <a:srgbClr val="FFFF00"/>
                </a:highlight>
                <a:latin typeface="+mj-lt"/>
                <a:hlinkClick r:id="rId2"/>
              </a:rPr>
              <a:t>HERE</a:t>
            </a:r>
            <a:r>
              <a:rPr lang="en-US" dirty="0">
                <a:latin typeface="+mj-lt"/>
              </a:rPr>
              <a:t>.</a:t>
            </a:r>
          </a:p>
        </p:txBody>
      </p:sp>
    </p:spTree>
    <p:extLst>
      <p:ext uri="{BB962C8B-B14F-4D97-AF65-F5344CB8AC3E}">
        <p14:creationId xmlns:p14="http://schemas.microsoft.com/office/powerpoint/2010/main" val="39224259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31E12-C82D-4D37-9005-C11740BB85D4}"/>
              </a:ext>
            </a:extLst>
          </p:cNvPr>
          <p:cNvSpPr>
            <a:spLocks noGrp="1"/>
          </p:cNvSpPr>
          <p:nvPr>
            <p:ph type="title"/>
          </p:nvPr>
        </p:nvSpPr>
        <p:spPr/>
        <p:txBody>
          <a:bodyPr>
            <a:normAutofit/>
          </a:bodyPr>
          <a:lstStyle/>
          <a:p>
            <a:r>
              <a:rPr lang="en-US" sz="2800" b="1" dirty="0">
                <a:latin typeface="Tw Cen MT" panose="020B0602020104020603" pitchFamily="34" charset="0"/>
              </a:rPr>
              <a:t>A. Analysis of household-level food consumption and grain production according to key demographics</a:t>
            </a:r>
            <a:endParaRPr lang="en-US" sz="2800" dirty="0">
              <a:latin typeface="Tw Cen MT" panose="020B0602020104020603" pitchFamily="34" charset="0"/>
            </a:endParaRPr>
          </a:p>
        </p:txBody>
      </p:sp>
      <p:sp>
        <p:nvSpPr>
          <p:cNvPr id="3" name="Content Placeholder 2">
            <a:extLst>
              <a:ext uri="{FF2B5EF4-FFF2-40B4-BE49-F238E27FC236}">
                <a16:creationId xmlns:a16="http://schemas.microsoft.com/office/drawing/2014/main" id="{58461496-CFCE-47FB-9F57-C327BAA2FCB8}"/>
              </a:ext>
            </a:extLst>
          </p:cNvPr>
          <p:cNvSpPr>
            <a:spLocks noGrp="1"/>
          </p:cNvSpPr>
          <p:nvPr>
            <p:ph idx="1"/>
          </p:nvPr>
        </p:nvSpPr>
        <p:spPr/>
        <p:txBody>
          <a:bodyPr/>
          <a:lstStyle/>
          <a:p>
            <a:pPr marL="512064">
              <a:spcBef>
                <a:spcPts val="1200"/>
              </a:spcBef>
              <a:spcAft>
                <a:spcPts val="1200"/>
              </a:spcAft>
              <a:buFont typeface="Wingdings" panose="05000000000000000000" pitchFamily="2" charset="2"/>
              <a:buChar char="§"/>
            </a:pPr>
            <a:r>
              <a:rPr lang="en-US" sz="1800" b="1" dirty="0">
                <a:latin typeface="+mj-lt"/>
              </a:rPr>
              <a:t>Data Sources</a:t>
            </a:r>
            <a:r>
              <a:rPr lang="en-US" sz="1800" dirty="0">
                <a:latin typeface="+mj-lt"/>
              </a:rPr>
              <a:t>: </a:t>
            </a:r>
            <a:r>
              <a:rPr lang="en-US" sz="1800" b="0" kern="1200" dirty="0">
                <a:solidFill>
                  <a:schemeClr val="tx1"/>
                </a:solidFill>
                <a:latin typeface="+mj-lt"/>
                <a:ea typeface="+mn-ea"/>
                <a:cs typeface="+mn-cs"/>
              </a:rPr>
              <a:t>NHIES 2015/16 Household Dataset file</a:t>
            </a:r>
            <a:endParaRPr lang="en-US" sz="1800" dirty="0">
              <a:latin typeface="+mj-lt"/>
            </a:endParaRPr>
          </a:p>
          <a:p>
            <a:pPr marL="512064">
              <a:spcBef>
                <a:spcPts val="1200"/>
              </a:spcBef>
              <a:spcAft>
                <a:spcPts val="1200"/>
              </a:spcAft>
              <a:buFont typeface="Wingdings" panose="05000000000000000000" pitchFamily="2" charset="2"/>
              <a:buChar char="§"/>
            </a:pPr>
            <a:r>
              <a:rPr lang="en-US" sz="1800" b="1" dirty="0">
                <a:latin typeface="+mj-lt"/>
              </a:rPr>
              <a:t>Software</a:t>
            </a:r>
            <a:r>
              <a:rPr lang="en-US" sz="1800" dirty="0">
                <a:latin typeface="+mj-lt"/>
              </a:rPr>
              <a:t>: Python 3.8</a:t>
            </a:r>
          </a:p>
          <a:p>
            <a:pPr marL="512064">
              <a:spcBef>
                <a:spcPts val="1200"/>
              </a:spcBef>
              <a:spcAft>
                <a:spcPts val="1200"/>
              </a:spcAft>
              <a:buFont typeface="Wingdings" panose="05000000000000000000" pitchFamily="2" charset="2"/>
              <a:buChar char="§"/>
            </a:pPr>
            <a:r>
              <a:rPr lang="en-US" sz="1800" b="1" dirty="0">
                <a:latin typeface="+mj-lt"/>
              </a:rPr>
              <a:t>Analysis</a:t>
            </a:r>
            <a:r>
              <a:rPr lang="en-US" sz="1800" dirty="0">
                <a:latin typeface="+mj-lt"/>
              </a:rPr>
              <a:t> </a:t>
            </a:r>
            <a:r>
              <a:rPr lang="en-US" sz="1800" b="1" dirty="0">
                <a:latin typeface="+mj-lt"/>
              </a:rPr>
              <a:t>Process</a:t>
            </a:r>
            <a:r>
              <a:rPr lang="en-US" sz="1800" dirty="0">
                <a:latin typeface="+mj-lt"/>
              </a:rPr>
              <a:t>: Weighted frequencies and means were calculated for variables of interest from Sections 2E and 7 of the household questionnaire. </a:t>
            </a:r>
          </a:p>
          <a:p>
            <a:pPr marL="512064">
              <a:spcBef>
                <a:spcPts val="1200"/>
              </a:spcBef>
              <a:spcAft>
                <a:spcPts val="1200"/>
              </a:spcAft>
              <a:buFont typeface="Wingdings" panose="05000000000000000000" pitchFamily="2" charset="2"/>
              <a:buChar char="§"/>
            </a:pPr>
            <a:r>
              <a:rPr lang="en-US" sz="1800" b="1" dirty="0">
                <a:latin typeface="+mj-lt"/>
              </a:rPr>
              <a:t>Limitations</a:t>
            </a:r>
            <a:r>
              <a:rPr lang="en-US" sz="1800" dirty="0">
                <a:latin typeface="+mj-lt"/>
              </a:rPr>
              <a:t>: </a:t>
            </a:r>
            <a:r>
              <a:rPr lang="en-US" sz="1800" b="0" dirty="0">
                <a:latin typeface="+mj-lt"/>
              </a:rPr>
              <a:t>The household dataset/questionnaire did not allow analysis of consumption by specific grain type (e.g., maize, </a:t>
            </a:r>
            <a:r>
              <a:rPr lang="en-US" sz="1800" b="0" dirty="0" err="1">
                <a:latin typeface="+mj-lt"/>
              </a:rPr>
              <a:t>mahangu</a:t>
            </a:r>
            <a:r>
              <a:rPr lang="en-US" sz="1800" b="0" dirty="0">
                <a:latin typeface="+mj-lt"/>
              </a:rPr>
              <a:t>, and sorghum) – these were all lumped together under the “other cereals” category in Section 2E.</a:t>
            </a:r>
          </a:p>
          <a:p>
            <a:pPr marL="512064">
              <a:buFont typeface="Wingdings" panose="05000000000000000000" pitchFamily="2" charset="2"/>
              <a:buChar char="§"/>
            </a:pPr>
            <a:endParaRPr lang="en-US" sz="2400" dirty="0">
              <a:latin typeface="+mj-lt"/>
            </a:endParaRPr>
          </a:p>
        </p:txBody>
      </p:sp>
    </p:spTree>
    <p:extLst>
      <p:ext uri="{BB962C8B-B14F-4D97-AF65-F5344CB8AC3E}">
        <p14:creationId xmlns:p14="http://schemas.microsoft.com/office/powerpoint/2010/main" val="38381960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31E12-C82D-4D37-9005-C11740BB85D4}"/>
              </a:ext>
            </a:extLst>
          </p:cNvPr>
          <p:cNvSpPr>
            <a:spLocks noGrp="1"/>
          </p:cNvSpPr>
          <p:nvPr>
            <p:ph type="title"/>
          </p:nvPr>
        </p:nvSpPr>
        <p:spPr/>
        <p:txBody>
          <a:bodyPr>
            <a:normAutofit/>
          </a:bodyPr>
          <a:lstStyle/>
          <a:p>
            <a:r>
              <a:rPr lang="en-US" sz="2800" b="1" dirty="0">
                <a:latin typeface="Tw Cen MT" panose="020B0602020104020603" pitchFamily="34" charset="0"/>
              </a:rPr>
              <a:t>B. Comparison of regional cereal production data from MAWF, NAB and NHIES</a:t>
            </a:r>
          </a:p>
        </p:txBody>
      </p:sp>
      <p:sp>
        <p:nvSpPr>
          <p:cNvPr id="3" name="Content Placeholder 2">
            <a:extLst>
              <a:ext uri="{FF2B5EF4-FFF2-40B4-BE49-F238E27FC236}">
                <a16:creationId xmlns:a16="http://schemas.microsoft.com/office/drawing/2014/main" id="{58461496-CFCE-47FB-9F57-C327BAA2FCB8}"/>
              </a:ext>
            </a:extLst>
          </p:cNvPr>
          <p:cNvSpPr>
            <a:spLocks noGrp="1"/>
          </p:cNvSpPr>
          <p:nvPr>
            <p:ph idx="1"/>
          </p:nvPr>
        </p:nvSpPr>
        <p:spPr/>
        <p:txBody>
          <a:bodyPr>
            <a:normAutofit lnSpcReduction="10000"/>
          </a:bodyPr>
          <a:lstStyle/>
          <a:p>
            <a:pPr marL="512064">
              <a:spcBef>
                <a:spcPts val="1200"/>
              </a:spcBef>
              <a:spcAft>
                <a:spcPts val="1200"/>
              </a:spcAft>
              <a:buFont typeface="Wingdings" panose="05000000000000000000" pitchFamily="2" charset="2"/>
              <a:buChar char="§"/>
            </a:pPr>
            <a:r>
              <a:rPr lang="en-US" sz="1800" b="1" dirty="0">
                <a:latin typeface="+mj-lt"/>
              </a:rPr>
              <a:t>Data Sources</a:t>
            </a:r>
            <a:r>
              <a:rPr lang="en-US" sz="1800" dirty="0">
                <a:latin typeface="+mj-lt"/>
              </a:rPr>
              <a:t>: </a:t>
            </a:r>
            <a:r>
              <a:rPr lang="en-US" sz="1800" b="0" kern="1200" dirty="0">
                <a:solidFill>
                  <a:schemeClr val="tx1"/>
                </a:solidFill>
                <a:latin typeface="+mj-lt"/>
                <a:ea typeface="+mn-ea"/>
                <a:cs typeface="+mn-cs"/>
              </a:rPr>
              <a:t>NHIES 2015/16 Household Dataset file; MAWF regional crop production data; NAB commercial and import data; Namibia Inter-</a:t>
            </a:r>
            <a:r>
              <a:rPr lang="en-US" sz="1800" b="0" kern="1200" dirty="0" err="1">
                <a:solidFill>
                  <a:schemeClr val="tx1"/>
                </a:solidFill>
                <a:latin typeface="+mj-lt"/>
                <a:ea typeface="+mn-ea"/>
                <a:cs typeface="+mn-cs"/>
              </a:rPr>
              <a:t>censal</a:t>
            </a:r>
            <a:r>
              <a:rPr lang="en-US" sz="1800" b="0" kern="1200" dirty="0">
                <a:solidFill>
                  <a:schemeClr val="tx1"/>
                </a:solidFill>
                <a:latin typeface="+mj-lt"/>
                <a:ea typeface="+mn-ea"/>
                <a:cs typeface="+mn-cs"/>
              </a:rPr>
              <a:t> Demographic Survey</a:t>
            </a:r>
            <a:endParaRPr lang="en-US" sz="1800" dirty="0">
              <a:latin typeface="+mj-lt"/>
            </a:endParaRPr>
          </a:p>
          <a:p>
            <a:pPr marL="512064">
              <a:spcBef>
                <a:spcPts val="1200"/>
              </a:spcBef>
              <a:spcAft>
                <a:spcPts val="1200"/>
              </a:spcAft>
              <a:buFont typeface="Wingdings" panose="05000000000000000000" pitchFamily="2" charset="2"/>
              <a:buChar char="§"/>
            </a:pPr>
            <a:r>
              <a:rPr lang="en-US" sz="1800" b="1" dirty="0">
                <a:latin typeface="+mj-lt"/>
              </a:rPr>
              <a:t>Software</a:t>
            </a:r>
            <a:r>
              <a:rPr lang="en-US" sz="1800" dirty="0">
                <a:latin typeface="+mj-lt"/>
              </a:rPr>
              <a:t>: Python 3.8</a:t>
            </a:r>
          </a:p>
          <a:p>
            <a:pPr marL="512064">
              <a:spcBef>
                <a:spcPts val="1200"/>
              </a:spcBef>
              <a:spcAft>
                <a:spcPts val="1200"/>
              </a:spcAft>
              <a:buFont typeface="Wingdings" panose="05000000000000000000" pitchFamily="2" charset="2"/>
              <a:buChar char="§"/>
            </a:pPr>
            <a:r>
              <a:rPr lang="en-US" sz="1800" b="1" dirty="0">
                <a:latin typeface="+mj-lt"/>
              </a:rPr>
              <a:t>Analysis</a:t>
            </a:r>
            <a:r>
              <a:rPr lang="en-US" sz="1800" dirty="0">
                <a:latin typeface="+mj-lt"/>
              </a:rPr>
              <a:t> </a:t>
            </a:r>
            <a:r>
              <a:rPr lang="en-US" sz="1800" b="1" dirty="0">
                <a:latin typeface="+mj-lt"/>
              </a:rPr>
              <a:t>Process</a:t>
            </a:r>
            <a:r>
              <a:rPr lang="en-US" sz="1800" dirty="0">
                <a:latin typeface="+mj-lt"/>
              </a:rPr>
              <a:t>: Twenty years of regional (communal) crop production data were obtained from MAWF. Ten years of import and commercial crop production data were sourced from NAB and annual reports. To calculate regional production estimates from NHIES data, the weighted median amount grown in each region was multiplied by the % of households growing the crop and the number of households in the region according to Inter-</a:t>
            </a:r>
            <a:r>
              <a:rPr lang="en-US" sz="1800" dirty="0" err="1">
                <a:latin typeface="+mj-lt"/>
              </a:rPr>
              <a:t>censal</a:t>
            </a:r>
            <a:r>
              <a:rPr lang="en-US" sz="1800" dirty="0">
                <a:latin typeface="+mj-lt"/>
              </a:rPr>
              <a:t> Survey 2016.</a:t>
            </a:r>
          </a:p>
          <a:p>
            <a:pPr marL="512064">
              <a:spcBef>
                <a:spcPts val="1200"/>
              </a:spcBef>
              <a:spcAft>
                <a:spcPts val="1200"/>
              </a:spcAft>
              <a:buFont typeface="Wingdings" panose="05000000000000000000" pitchFamily="2" charset="2"/>
              <a:buChar char="§"/>
            </a:pPr>
            <a:r>
              <a:rPr lang="en-US" sz="1800" b="1" dirty="0">
                <a:latin typeface="+mj-lt"/>
              </a:rPr>
              <a:t>Limitations</a:t>
            </a:r>
            <a:r>
              <a:rPr lang="en-US" sz="1800" dirty="0">
                <a:latin typeface="+mj-lt"/>
              </a:rPr>
              <a:t>: MAWF only collects/records maize crop production estimates for high-production regions (East and West </a:t>
            </a:r>
            <a:r>
              <a:rPr lang="en-US" sz="1800" dirty="0" err="1">
                <a:latin typeface="+mj-lt"/>
              </a:rPr>
              <a:t>Kavango</a:t>
            </a:r>
            <a:r>
              <a:rPr lang="en-US" sz="1800" dirty="0">
                <a:latin typeface="+mj-lt"/>
              </a:rPr>
              <a:t>, Zambezi) which made comparison with other regions impossible. NHIES likely captured at least one large-scale (or commercial) maize and </a:t>
            </a:r>
            <a:r>
              <a:rPr lang="en-US" sz="1800" dirty="0" err="1">
                <a:latin typeface="+mj-lt"/>
              </a:rPr>
              <a:t>mahangu</a:t>
            </a:r>
            <a:r>
              <a:rPr lang="en-US" sz="1800" dirty="0">
                <a:latin typeface="+mj-lt"/>
              </a:rPr>
              <a:t> operation. Medians were used to minimize the impact of these outliers. While NHIES crop production data relies on households’ verbal reports, MAWF uses more sophisticated methods to calculated their estimates – this may help explain some discrepancy.</a:t>
            </a:r>
          </a:p>
        </p:txBody>
      </p:sp>
    </p:spTree>
    <p:extLst>
      <p:ext uri="{BB962C8B-B14F-4D97-AF65-F5344CB8AC3E}">
        <p14:creationId xmlns:p14="http://schemas.microsoft.com/office/powerpoint/2010/main" val="22233930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31E12-C82D-4D37-9005-C11740BB85D4}"/>
              </a:ext>
            </a:extLst>
          </p:cNvPr>
          <p:cNvSpPr>
            <a:spLocks noGrp="1"/>
          </p:cNvSpPr>
          <p:nvPr>
            <p:ph type="title"/>
          </p:nvPr>
        </p:nvSpPr>
        <p:spPr/>
        <p:txBody>
          <a:bodyPr>
            <a:normAutofit/>
          </a:bodyPr>
          <a:lstStyle/>
          <a:p>
            <a:r>
              <a:rPr lang="en-US" sz="2800" b="1" dirty="0">
                <a:latin typeface="Tw Cen MT" panose="020B0602020104020603" pitchFamily="34" charset="0"/>
              </a:rPr>
              <a:t>C. Mapping of regional and temporal variations in household-level grain consumption</a:t>
            </a:r>
          </a:p>
        </p:txBody>
      </p:sp>
      <p:sp>
        <p:nvSpPr>
          <p:cNvPr id="3" name="Content Placeholder 2">
            <a:extLst>
              <a:ext uri="{FF2B5EF4-FFF2-40B4-BE49-F238E27FC236}">
                <a16:creationId xmlns:a16="http://schemas.microsoft.com/office/drawing/2014/main" id="{58461496-CFCE-47FB-9F57-C327BAA2FCB8}"/>
              </a:ext>
            </a:extLst>
          </p:cNvPr>
          <p:cNvSpPr>
            <a:spLocks noGrp="1"/>
          </p:cNvSpPr>
          <p:nvPr>
            <p:ph idx="1"/>
          </p:nvPr>
        </p:nvSpPr>
        <p:spPr/>
        <p:txBody>
          <a:bodyPr>
            <a:normAutofit lnSpcReduction="10000"/>
          </a:bodyPr>
          <a:lstStyle/>
          <a:p>
            <a:pPr marL="512064">
              <a:spcBef>
                <a:spcPts val="1200"/>
              </a:spcBef>
              <a:spcAft>
                <a:spcPts val="1200"/>
              </a:spcAft>
              <a:buFont typeface="Wingdings" panose="05000000000000000000" pitchFamily="2" charset="2"/>
              <a:buChar char="§"/>
            </a:pPr>
            <a:r>
              <a:rPr lang="en-US" sz="1800" b="1" dirty="0">
                <a:latin typeface="+mj-lt"/>
              </a:rPr>
              <a:t>Data Sources</a:t>
            </a:r>
            <a:r>
              <a:rPr lang="en-US" sz="1800" dirty="0">
                <a:latin typeface="+mj-lt"/>
              </a:rPr>
              <a:t>: </a:t>
            </a:r>
            <a:r>
              <a:rPr lang="en-US" sz="1800" b="0" kern="1200" dirty="0">
                <a:solidFill>
                  <a:schemeClr val="tx1"/>
                </a:solidFill>
                <a:latin typeface="+mj-lt"/>
                <a:ea typeface="+mn-ea"/>
                <a:cs typeface="+mn-cs"/>
              </a:rPr>
              <a:t>NHIES 2015/16 Household Dataset file and Daily Record Book Dataset file</a:t>
            </a:r>
            <a:endParaRPr lang="en-US" sz="1800" dirty="0">
              <a:latin typeface="+mj-lt"/>
            </a:endParaRPr>
          </a:p>
          <a:p>
            <a:pPr marL="512064">
              <a:spcBef>
                <a:spcPts val="1200"/>
              </a:spcBef>
              <a:spcAft>
                <a:spcPts val="1200"/>
              </a:spcAft>
              <a:buFont typeface="Wingdings" panose="05000000000000000000" pitchFamily="2" charset="2"/>
              <a:buChar char="§"/>
            </a:pPr>
            <a:r>
              <a:rPr lang="en-US" sz="1800" b="1" dirty="0">
                <a:latin typeface="+mj-lt"/>
              </a:rPr>
              <a:t>Software</a:t>
            </a:r>
            <a:r>
              <a:rPr lang="en-US" sz="1800" dirty="0">
                <a:latin typeface="+mj-lt"/>
              </a:rPr>
              <a:t>: Python 3.8</a:t>
            </a:r>
          </a:p>
          <a:p>
            <a:pPr marL="512064">
              <a:spcBef>
                <a:spcPts val="1200"/>
              </a:spcBef>
              <a:spcAft>
                <a:spcPts val="600"/>
              </a:spcAft>
              <a:buFont typeface="Wingdings" panose="05000000000000000000" pitchFamily="2" charset="2"/>
              <a:buChar char="§"/>
            </a:pPr>
            <a:r>
              <a:rPr lang="en-US" sz="1800" b="1" dirty="0">
                <a:latin typeface="+mj-lt"/>
              </a:rPr>
              <a:t>Analysis</a:t>
            </a:r>
            <a:r>
              <a:rPr lang="en-US" sz="1800" dirty="0">
                <a:latin typeface="+mj-lt"/>
              </a:rPr>
              <a:t> </a:t>
            </a:r>
            <a:r>
              <a:rPr lang="en-US" sz="1800" b="1" dirty="0">
                <a:latin typeface="+mj-lt"/>
              </a:rPr>
              <a:t>Process</a:t>
            </a:r>
            <a:r>
              <a:rPr lang="en-US" sz="1800" dirty="0">
                <a:latin typeface="+mj-lt"/>
              </a:rPr>
              <a:t>: A clean survey date variable </a:t>
            </a:r>
            <a:r>
              <a:rPr lang="en-US" sz="1400" dirty="0">
                <a:latin typeface="+mj-lt"/>
              </a:rPr>
              <a:t>[</a:t>
            </a:r>
            <a:r>
              <a:rPr lang="en-US" sz="1400" dirty="0" err="1">
                <a:latin typeface="Cascadia Code" panose="020B0609020000020004" pitchFamily="49" charset="0"/>
                <a:cs typeface="Cascadia Code" panose="020B0609020000020004" pitchFamily="49" charset="0"/>
              </a:rPr>
              <a:t>start_date</a:t>
            </a:r>
            <a:r>
              <a:rPr lang="en-US" sz="1400" dirty="0">
                <a:latin typeface="+mj-lt"/>
              </a:rPr>
              <a:t>] </a:t>
            </a:r>
            <a:r>
              <a:rPr lang="en-US" sz="1800" dirty="0">
                <a:latin typeface="+mj-lt"/>
              </a:rPr>
              <a:t>was created based on </a:t>
            </a:r>
            <a:r>
              <a:rPr lang="en-US" sz="1400" dirty="0">
                <a:latin typeface="+mj-lt"/>
              </a:rPr>
              <a:t>[</a:t>
            </a:r>
            <a:r>
              <a:rPr lang="en-US" sz="1400" dirty="0" err="1">
                <a:latin typeface="Cascadia Code" panose="020B0609020000020004" pitchFamily="49" charset="0"/>
                <a:cs typeface="Cascadia Code" panose="020B0609020000020004" pitchFamily="49" charset="0"/>
              </a:rPr>
              <a:t>ah_start_date</a:t>
            </a:r>
            <a:r>
              <a:rPr lang="en-US" sz="1400" dirty="0">
                <a:latin typeface="+mj-lt"/>
              </a:rPr>
              <a:t>]</a:t>
            </a:r>
            <a:r>
              <a:rPr lang="en-US" sz="1800" dirty="0">
                <a:latin typeface="+mj-lt"/>
              </a:rPr>
              <a:t> from the household questionnaire dataset. This household dataset was then sorted according to this variable and implausible entries removed (i.e. before April 2015). The dataset was then grouped by month and region and the weighted mean of households reporting consuming “other cereals” from own production was calculated.</a:t>
            </a:r>
          </a:p>
          <a:p>
            <a:pPr marL="512064" indent="0">
              <a:spcBef>
                <a:spcPts val="600"/>
              </a:spcBef>
              <a:spcAft>
                <a:spcPts val="1200"/>
              </a:spcAft>
              <a:buNone/>
            </a:pPr>
            <a:r>
              <a:rPr lang="en-US" sz="1800" dirty="0">
                <a:latin typeface="+mj-lt"/>
              </a:rPr>
              <a:t>For the 7-day food diary analysis, the same date variable was used (merged into 7-day food diary dataset using a unique household identification number [</a:t>
            </a:r>
            <a:r>
              <a:rPr lang="en-US" sz="1400" dirty="0" err="1">
                <a:latin typeface="Cascadia Code" panose="020B0609020000020004" pitchFamily="49" charset="0"/>
                <a:cs typeface="Cascadia Code" panose="020B0609020000020004" pitchFamily="49" charset="0"/>
              </a:rPr>
              <a:t>hhid</a:t>
            </a:r>
            <a:r>
              <a:rPr lang="en-US" sz="1800" dirty="0">
                <a:latin typeface="+mj-lt"/>
              </a:rPr>
              <a:t>]) and the same grouping process applied. However, the DRB contains counts of food items consumed over a 7-day period; therefore, the denominator is NOT total households (as above) but total number of food items consumed over a 7-day period.</a:t>
            </a:r>
          </a:p>
          <a:p>
            <a:pPr marL="512064">
              <a:spcBef>
                <a:spcPts val="1200"/>
              </a:spcBef>
              <a:spcAft>
                <a:spcPts val="1200"/>
              </a:spcAft>
              <a:buFont typeface="Wingdings" panose="05000000000000000000" pitchFamily="2" charset="2"/>
              <a:buChar char="§"/>
            </a:pPr>
            <a:r>
              <a:rPr lang="en-US" sz="1800" b="1" dirty="0">
                <a:latin typeface="+mj-lt"/>
              </a:rPr>
              <a:t>Limitations</a:t>
            </a:r>
            <a:r>
              <a:rPr lang="en-US" sz="1800" dirty="0">
                <a:latin typeface="+mj-lt"/>
              </a:rPr>
              <a:t>: The NHIES 2015/16 started and ended data collection just before harvest season which makes visualization of seasonal consumption trends slightly more difficult.</a:t>
            </a:r>
          </a:p>
        </p:txBody>
      </p:sp>
    </p:spTree>
    <p:extLst>
      <p:ext uri="{BB962C8B-B14F-4D97-AF65-F5344CB8AC3E}">
        <p14:creationId xmlns:p14="http://schemas.microsoft.com/office/powerpoint/2010/main" val="14251326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F7154-0C54-4070-A61E-238A67C3F68F}"/>
              </a:ext>
            </a:extLst>
          </p:cNvPr>
          <p:cNvSpPr>
            <a:spLocks noGrp="1"/>
          </p:cNvSpPr>
          <p:nvPr>
            <p:ph type="title"/>
          </p:nvPr>
        </p:nvSpPr>
        <p:spPr/>
        <p:txBody>
          <a:bodyPr/>
          <a:lstStyle/>
          <a:p>
            <a:r>
              <a:rPr lang="en-US" dirty="0">
                <a:latin typeface="Tw Cen MT" panose="020B0602020104020603" pitchFamily="34" charset="0"/>
              </a:rPr>
              <a:t>IV. Appendix B: Data Tables</a:t>
            </a:r>
          </a:p>
        </p:txBody>
      </p:sp>
      <p:graphicFrame>
        <p:nvGraphicFramePr>
          <p:cNvPr id="3" name="Table 3">
            <a:extLst>
              <a:ext uri="{FF2B5EF4-FFF2-40B4-BE49-F238E27FC236}">
                <a16:creationId xmlns:a16="http://schemas.microsoft.com/office/drawing/2014/main" id="{E2581179-2337-465E-9E9C-999AA1FA5182}"/>
              </a:ext>
            </a:extLst>
          </p:cNvPr>
          <p:cNvGraphicFramePr>
            <a:graphicFrameLocks noGrp="1"/>
          </p:cNvGraphicFramePr>
          <p:nvPr>
            <p:extLst>
              <p:ext uri="{D42A27DB-BD31-4B8C-83A1-F6EECF244321}">
                <p14:modId xmlns:p14="http://schemas.microsoft.com/office/powerpoint/2010/main" val="2910884740"/>
              </p:ext>
            </p:extLst>
          </p:nvPr>
        </p:nvGraphicFramePr>
        <p:xfrm>
          <a:off x="838200" y="2013959"/>
          <a:ext cx="10515600" cy="4515236"/>
        </p:xfrm>
        <a:graphic>
          <a:graphicData uri="http://schemas.openxmlformats.org/drawingml/2006/table">
            <a:tbl>
              <a:tblPr firstRow="1" bandRow="1">
                <a:tableStyleId>{3B4B98B0-60AC-42C2-AFA5-B58CD77FA1E5}</a:tableStyleId>
              </a:tblPr>
              <a:tblGrid>
                <a:gridCol w="2103120">
                  <a:extLst>
                    <a:ext uri="{9D8B030D-6E8A-4147-A177-3AD203B41FA5}">
                      <a16:colId xmlns:a16="http://schemas.microsoft.com/office/drawing/2014/main" val="3771755485"/>
                    </a:ext>
                  </a:extLst>
                </a:gridCol>
                <a:gridCol w="2103120">
                  <a:extLst>
                    <a:ext uri="{9D8B030D-6E8A-4147-A177-3AD203B41FA5}">
                      <a16:colId xmlns:a16="http://schemas.microsoft.com/office/drawing/2014/main" val="1647068758"/>
                    </a:ext>
                  </a:extLst>
                </a:gridCol>
                <a:gridCol w="2103120">
                  <a:extLst>
                    <a:ext uri="{9D8B030D-6E8A-4147-A177-3AD203B41FA5}">
                      <a16:colId xmlns:a16="http://schemas.microsoft.com/office/drawing/2014/main" val="3136655689"/>
                    </a:ext>
                  </a:extLst>
                </a:gridCol>
                <a:gridCol w="2103120">
                  <a:extLst>
                    <a:ext uri="{9D8B030D-6E8A-4147-A177-3AD203B41FA5}">
                      <a16:colId xmlns:a16="http://schemas.microsoft.com/office/drawing/2014/main" val="26931426"/>
                    </a:ext>
                  </a:extLst>
                </a:gridCol>
                <a:gridCol w="2103120">
                  <a:extLst>
                    <a:ext uri="{9D8B030D-6E8A-4147-A177-3AD203B41FA5}">
                      <a16:colId xmlns:a16="http://schemas.microsoft.com/office/drawing/2014/main" val="57770954"/>
                    </a:ext>
                  </a:extLst>
                </a:gridCol>
              </a:tblGrid>
              <a:tr h="278974">
                <a:tc>
                  <a:txBody>
                    <a:bodyPr/>
                    <a:lstStyle/>
                    <a:p>
                      <a:r>
                        <a:rPr lang="en-US" sz="1400" b="1" dirty="0">
                          <a:latin typeface="+mj-lt"/>
                        </a:rPr>
                        <a:t>Region</a:t>
                      </a:r>
                    </a:p>
                  </a:txBody>
                  <a:tcPr/>
                </a:tc>
                <a:tc>
                  <a:txBody>
                    <a:bodyPr/>
                    <a:lstStyle/>
                    <a:p>
                      <a:pPr algn="ctr"/>
                      <a:r>
                        <a:rPr lang="en-US" sz="1400" b="1" dirty="0" err="1">
                          <a:latin typeface="+mj-lt"/>
                        </a:rPr>
                        <a:t>Mahangu</a:t>
                      </a:r>
                      <a:r>
                        <a:rPr lang="en-US" sz="1400" b="1" dirty="0">
                          <a:latin typeface="+mj-lt"/>
                        </a:rPr>
                        <a:t> (%)</a:t>
                      </a:r>
                    </a:p>
                  </a:txBody>
                  <a:tcPr/>
                </a:tc>
                <a:tc>
                  <a:txBody>
                    <a:bodyPr/>
                    <a:lstStyle/>
                    <a:p>
                      <a:pPr algn="ctr"/>
                      <a:r>
                        <a:rPr lang="en-US" sz="1400" b="1" dirty="0">
                          <a:latin typeface="+mj-lt"/>
                        </a:rPr>
                        <a:t>Maize (%)</a:t>
                      </a:r>
                    </a:p>
                  </a:txBody>
                  <a:tcPr/>
                </a:tc>
                <a:tc>
                  <a:txBody>
                    <a:bodyPr/>
                    <a:lstStyle/>
                    <a:p>
                      <a:pPr algn="ctr"/>
                      <a:r>
                        <a:rPr lang="en-US" sz="1400" b="1" dirty="0">
                          <a:latin typeface="+mj-lt"/>
                        </a:rPr>
                        <a:t>Sorghum (%)</a:t>
                      </a:r>
                    </a:p>
                  </a:txBody>
                  <a:tcPr/>
                </a:tc>
                <a:tc>
                  <a:txBody>
                    <a:bodyPr/>
                    <a:lstStyle/>
                    <a:p>
                      <a:pPr algn="ctr"/>
                      <a:r>
                        <a:rPr lang="en-US" sz="1400" b="1" dirty="0">
                          <a:latin typeface="+mj-lt"/>
                        </a:rPr>
                        <a:t>N</a:t>
                      </a:r>
                    </a:p>
                  </a:txBody>
                  <a:tcPr/>
                </a:tc>
                <a:extLst>
                  <a:ext uri="{0D108BD9-81ED-4DB2-BD59-A6C34878D82A}">
                    <a16:rowId xmlns:a16="http://schemas.microsoft.com/office/drawing/2014/main" val="2920181130"/>
                  </a:ext>
                </a:extLst>
              </a:tr>
              <a:tr h="278974">
                <a:tc>
                  <a:txBody>
                    <a:bodyPr/>
                    <a:lstStyle/>
                    <a:p>
                      <a:pPr marL="91440" algn="l" fontAlgn="b"/>
                      <a:r>
                        <a:rPr lang="en-US" sz="1400" b="1" u="none" strike="noStrike" dirty="0">
                          <a:solidFill>
                            <a:srgbClr val="000000"/>
                          </a:solidFill>
                          <a:effectLst/>
                          <a:latin typeface="+mj-lt"/>
                        </a:rPr>
                        <a:t>!</a:t>
                      </a:r>
                      <a:r>
                        <a:rPr lang="en-US" sz="1400" b="1" u="none" strike="noStrike" dirty="0" err="1">
                          <a:solidFill>
                            <a:srgbClr val="000000"/>
                          </a:solidFill>
                          <a:effectLst/>
                          <a:latin typeface="+mj-lt"/>
                        </a:rPr>
                        <a:t>Karas</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dirty="0">
                          <a:solidFill>
                            <a:srgbClr val="000000"/>
                          </a:solidFill>
                          <a:effectLst/>
                          <a:latin typeface="+mj-lt"/>
                        </a:rPr>
                        <a:t>0.1</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0.3</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0.0</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559</a:t>
                      </a:r>
                      <a:endParaRPr lang="en-US" sz="1400" b="1" i="0" u="none" strike="noStrike" dirty="0">
                        <a:solidFill>
                          <a:srgbClr val="000000"/>
                        </a:solidFill>
                        <a:effectLst/>
                        <a:latin typeface="+mj-lt"/>
                      </a:endParaRPr>
                    </a:p>
                  </a:txBody>
                  <a:tcPr marL="6350" marR="6350" marT="6350" marB="0" anchor="b"/>
                </a:tc>
                <a:extLst>
                  <a:ext uri="{0D108BD9-81ED-4DB2-BD59-A6C34878D82A}">
                    <a16:rowId xmlns:a16="http://schemas.microsoft.com/office/drawing/2014/main" val="2916333070"/>
                  </a:ext>
                </a:extLst>
              </a:tr>
              <a:tr h="278974">
                <a:tc>
                  <a:txBody>
                    <a:bodyPr/>
                    <a:lstStyle/>
                    <a:p>
                      <a:pPr marL="91440" algn="l" fontAlgn="b"/>
                      <a:r>
                        <a:rPr lang="en-US" sz="1400" b="1" u="none" strike="noStrike" dirty="0" err="1">
                          <a:solidFill>
                            <a:srgbClr val="000000"/>
                          </a:solidFill>
                          <a:effectLst/>
                          <a:latin typeface="+mj-lt"/>
                        </a:rPr>
                        <a:t>Erongo</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a:solidFill>
                            <a:srgbClr val="000000"/>
                          </a:solidFill>
                          <a:effectLst/>
                          <a:latin typeface="+mj-lt"/>
                        </a:rPr>
                        <a:t>0.6</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0.1</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0.1</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828</a:t>
                      </a:r>
                      <a:endParaRPr lang="en-US" sz="1400" b="1" i="0" u="none" strike="noStrike">
                        <a:solidFill>
                          <a:srgbClr val="000000"/>
                        </a:solidFill>
                        <a:effectLst/>
                        <a:latin typeface="+mj-lt"/>
                      </a:endParaRPr>
                    </a:p>
                  </a:txBody>
                  <a:tcPr marL="6350" marR="6350" marT="6350" marB="0" anchor="b"/>
                </a:tc>
                <a:extLst>
                  <a:ext uri="{0D108BD9-81ED-4DB2-BD59-A6C34878D82A}">
                    <a16:rowId xmlns:a16="http://schemas.microsoft.com/office/drawing/2014/main" val="163960317"/>
                  </a:ext>
                </a:extLst>
              </a:tr>
              <a:tr h="278974">
                <a:tc>
                  <a:txBody>
                    <a:bodyPr/>
                    <a:lstStyle/>
                    <a:p>
                      <a:pPr marL="91440" algn="l" fontAlgn="b"/>
                      <a:r>
                        <a:rPr lang="en-US" sz="1400" b="1" u="none" strike="noStrike" dirty="0" err="1">
                          <a:solidFill>
                            <a:srgbClr val="000000"/>
                          </a:solidFill>
                          <a:effectLst/>
                          <a:latin typeface="+mj-lt"/>
                        </a:rPr>
                        <a:t>Hardap</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dirty="0">
                          <a:solidFill>
                            <a:srgbClr val="000000"/>
                          </a:solidFill>
                          <a:effectLst/>
                          <a:latin typeface="+mj-lt"/>
                        </a:rPr>
                        <a:t>0.5</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0.2</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0.1</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561</a:t>
                      </a:r>
                      <a:endParaRPr lang="en-US" sz="1400" b="1" i="0" u="none" strike="noStrike">
                        <a:solidFill>
                          <a:srgbClr val="000000"/>
                        </a:solidFill>
                        <a:effectLst/>
                        <a:latin typeface="+mj-lt"/>
                      </a:endParaRPr>
                    </a:p>
                  </a:txBody>
                  <a:tcPr marL="6350" marR="6350" marT="6350" marB="0" anchor="b"/>
                </a:tc>
                <a:extLst>
                  <a:ext uri="{0D108BD9-81ED-4DB2-BD59-A6C34878D82A}">
                    <a16:rowId xmlns:a16="http://schemas.microsoft.com/office/drawing/2014/main" val="4254878266"/>
                  </a:ext>
                </a:extLst>
              </a:tr>
              <a:tr h="278974">
                <a:tc>
                  <a:txBody>
                    <a:bodyPr/>
                    <a:lstStyle/>
                    <a:p>
                      <a:pPr marL="91440" algn="l" fontAlgn="b"/>
                      <a:r>
                        <a:rPr lang="en-US" sz="1400" b="1" u="none" strike="noStrike" dirty="0" err="1">
                          <a:solidFill>
                            <a:srgbClr val="000000"/>
                          </a:solidFill>
                          <a:effectLst/>
                          <a:latin typeface="+mj-lt"/>
                        </a:rPr>
                        <a:t>Kavango</a:t>
                      </a:r>
                      <a:r>
                        <a:rPr lang="en-US" sz="1400" b="1" u="none" strike="noStrike" dirty="0">
                          <a:solidFill>
                            <a:srgbClr val="000000"/>
                          </a:solidFill>
                          <a:effectLst/>
                          <a:latin typeface="+mj-lt"/>
                        </a:rPr>
                        <a:t> East</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dirty="0">
                          <a:solidFill>
                            <a:srgbClr val="000000"/>
                          </a:solidFill>
                          <a:effectLst/>
                          <a:latin typeface="+mj-lt"/>
                        </a:rPr>
                        <a:t>22.9</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16.0</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1.5</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554</a:t>
                      </a:r>
                      <a:endParaRPr lang="en-US" sz="1400" b="1" i="0" u="none" strike="noStrike">
                        <a:solidFill>
                          <a:srgbClr val="000000"/>
                        </a:solidFill>
                        <a:effectLst/>
                        <a:latin typeface="+mj-lt"/>
                      </a:endParaRPr>
                    </a:p>
                  </a:txBody>
                  <a:tcPr marL="6350" marR="6350" marT="6350" marB="0" anchor="b"/>
                </a:tc>
                <a:extLst>
                  <a:ext uri="{0D108BD9-81ED-4DB2-BD59-A6C34878D82A}">
                    <a16:rowId xmlns:a16="http://schemas.microsoft.com/office/drawing/2014/main" val="1029589026"/>
                  </a:ext>
                </a:extLst>
              </a:tr>
              <a:tr h="278974">
                <a:tc>
                  <a:txBody>
                    <a:bodyPr/>
                    <a:lstStyle/>
                    <a:p>
                      <a:pPr marL="91440" algn="l" fontAlgn="b"/>
                      <a:r>
                        <a:rPr lang="en-US" sz="1400" b="1" u="none" strike="noStrike" dirty="0" err="1">
                          <a:solidFill>
                            <a:srgbClr val="000000"/>
                          </a:solidFill>
                          <a:effectLst/>
                          <a:latin typeface="+mj-lt"/>
                        </a:rPr>
                        <a:t>Kavango</a:t>
                      </a:r>
                      <a:r>
                        <a:rPr lang="en-US" sz="1400" b="1" u="none" strike="noStrike" dirty="0">
                          <a:solidFill>
                            <a:srgbClr val="000000"/>
                          </a:solidFill>
                          <a:effectLst/>
                          <a:latin typeface="+mj-lt"/>
                        </a:rPr>
                        <a:t> West</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dirty="0">
                          <a:solidFill>
                            <a:srgbClr val="000000"/>
                          </a:solidFill>
                          <a:effectLst/>
                          <a:latin typeface="+mj-lt"/>
                        </a:rPr>
                        <a:t>52.7</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35.9</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9.3</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568</a:t>
                      </a:r>
                      <a:endParaRPr lang="en-US" sz="1400" b="1" i="0" u="none" strike="noStrike">
                        <a:solidFill>
                          <a:srgbClr val="000000"/>
                        </a:solidFill>
                        <a:effectLst/>
                        <a:latin typeface="+mj-lt"/>
                      </a:endParaRPr>
                    </a:p>
                  </a:txBody>
                  <a:tcPr marL="6350" marR="6350" marT="6350" marB="0" anchor="b"/>
                </a:tc>
                <a:extLst>
                  <a:ext uri="{0D108BD9-81ED-4DB2-BD59-A6C34878D82A}">
                    <a16:rowId xmlns:a16="http://schemas.microsoft.com/office/drawing/2014/main" val="4019125081"/>
                  </a:ext>
                </a:extLst>
              </a:tr>
              <a:tr h="278974">
                <a:tc>
                  <a:txBody>
                    <a:bodyPr/>
                    <a:lstStyle/>
                    <a:p>
                      <a:pPr marL="91440" algn="l" fontAlgn="b"/>
                      <a:r>
                        <a:rPr lang="en-US" sz="1400" b="1" u="none" strike="noStrike" dirty="0" err="1">
                          <a:solidFill>
                            <a:srgbClr val="000000"/>
                          </a:solidFill>
                          <a:effectLst/>
                          <a:latin typeface="+mj-lt"/>
                        </a:rPr>
                        <a:t>Khomas</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dirty="0">
                          <a:solidFill>
                            <a:srgbClr val="000000"/>
                          </a:solidFill>
                          <a:effectLst/>
                          <a:latin typeface="+mj-lt"/>
                        </a:rPr>
                        <a:t>0.9</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1.2</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1.0</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1,084</a:t>
                      </a:r>
                      <a:endParaRPr lang="en-US" sz="1400" b="1" i="0" u="none" strike="noStrike">
                        <a:solidFill>
                          <a:srgbClr val="000000"/>
                        </a:solidFill>
                        <a:effectLst/>
                        <a:latin typeface="+mj-lt"/>
                      </a:endParaRPr>
                    </a:p>
                  </a:txBody>
                  <a:tcPr marL="6350" marR="6350" marT="6350" marB="0" anchor="b"/>
                </a:tc>
                <a:extLst>
                  <a:ext uri="{0D108BD9-81ED-4DB2-BD59-A6C34878D82A}">
                    <a16:rowId xmlns:a16="http://schemas.microsoft.com/office/drawing/2014/main" val="3972360046"/>
                  </a:ext>
                </a:extLst>
              </a:tr>
              <a:tr h="278974">
                <a:tc>
                  <a:txBody>
                    <a:bodyPr/>
                    <a:lstStyle/>
                    <a:p>
                      <a:pPr marL="91440" algn="l" fontAlgn="b"/>
                      <a:r>
                        <a:rPr lang="en-US" sz="1400" b="1" u="none" strike="noStrike" dirty="0">
                          <a:solidFill>
                            <a:srgbClr val="000000"/>
                          </a:solidFill>
                          <a:effectLst/>
                          <a:latin typeface="+mj-lt"/>
                        </a:rPr>
                        <a:t>Kunene</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dirty="0">
                          <a:solidFill>
                            <a:srgbClr val="000000"/>
                          </a:solidFill>
                          <a:effectLst/>
                          <a:latin typeface="+mj-lt"/>
                        </a:rPr>
                        <a:t>0.8</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2.7</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0.3</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570</a:t>
                      </a:r>
                      <a:endParaRPr lang="en-US" sz="1400" b="1" i="0" u="none" strike="noStrike">
                        <a:solidFill>
                          <a:srgbClr val="000000"/>
                        </a:solidFill>
                        <a:effectLst/>
                        <a:latin typeface="+mj-lt"/>
                      </a:endParaRPr>
                    </a:p>
                  </a:txBody>
                  <a:tcPr marL="6350" marR="6350" marT="6350" marB="0" anchor="b"/>
                </a:tc>
                <a:extLst>
                  <a:ext uri="{0D108BD9-81ED-4DB2-BD59-A6C34878D82A}">
                    <a16:rowId xmlns:a16="http://schemas.microsoft.com/office/drawing/2014/main" val="3618263224"/>
                  </a:ext>
                </a:extLst>
              </a:tr>
              <a:tr h="278974">
                <a:tc>
                  <a:txBody>
                    <a:bodyPr/>
                    <a:lstStyle/>
                    <a:p>
                      <a:pPr marL="91440" algn="l" fontAlgn="b"/>
                      <a:r>
                        <a:rPr lang="en-US" sz="1400" b="1" u="none" strike="noStrike" dirty="0">
                          <a:solidFill>
                            <a:srgbClr val="000000"/>
                          </a:solidFill>
                          <a:effectLst/>
                          <a:latin typeface="+mj-lt"/>
                        </a:rPr>
                        <a:t>Ohangwena</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dirty="0">
                          <a:solidFill>
                            <a:srgbClr val="000000"/>
                          </a:solidFill>
                          <a:effectLst/>
                          <a:latin typeface="+mj-lt"/>
                        </a:rPr>
                        <a:t>66.6</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11.4</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25.3</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854</a:t>
                      </a:r>
                      <a:endParaRPr lang="en-US" sz="1400" b="1" i="0" u="none" strike="noStrike">
                        <a:solidFill>
                          <a:srgbClr val="000000"/>
                        </a:solidFill>
                        <a:effectLst/>
                        <a:latin typeface="+mj-lt"/>
                      </a:endParaRPr>
                    </a:p>
                  </a:txBody>
                  <a:tcPr marL="6350" marR="6350" marT="6350" marB="0" anchor="b"/>
                </a:tc>
                <a:extLst>
                  <a:ext uri="{0D108BD9-81ED-4DB2-BD59-A6C34878D82A}">
                    <a16:rowId xmlns:a16="http://schemas.microsoft.com/office/drawing/2014/main" val="3424570291"/>
                  </a:ext>
                </a:extLst>
              </a:tr>
              <a:tr h="278974">
                <a:tc>
                  <a:txBody>
                    <a:bodyPr/>
                    <a:lstStyle/>
                    <a:p>
                      <a:pPr marL="91440" algn="l" fontAlgn="b"/>
                      <a:r>
                        <a:rPr lang="en-US" sz="1400" b="1" u="none" strike="noStrike" dirty="0">
                          <a:solidFill>
                            <a:srgbClr val="000000"/>
                          </a:solidFill>
                          <a:effectLst/>
                          <a:latin typeface="+mj-lt"/>
                        </a:rPr>
                        <a:t>Omaheke</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a:solidFill>
                            <a:srgbClr val="000000"/>
                          </a:solidFill>
                          <a:effectLst/>
                          <a:latin typeface="+mj-lt"/>
                        </a:rPr>
                        <a:t>0.0</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2.3</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0.0</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557</a:t>
                      </a:r>
                      <a:endParaRPr lang="en-US" sz="1400" b="1" i="0" u="none" strike="noStrike">
                        <a:solidFill>
                          <a:srgbClr val="000000"/>
                        </a:solidFill>
                        <a:effectLst/>
                        <a:latin typeface="+mj-lt"/>
                      </a:endParaRPr>
                    </a:p>
                  </a:txBody>
                  <a:tcPr marL="6350" marR="6350" marT="6350" marB="0" anchor="b"/>
                </a:tc>
                <a:extLst>
                  <a:ext uri="{0D108BD9-81ED-4DB2-BD59-A6C34878D82A}">
                    <a16:rowId xmlns:a16="http://schemas.microsoft.com/office/drawing/2014/main" val="281784712"/>
                  </a:ext>
                </a:extLst>
              </a:tr>
              <a:tr h="278974">
                <a:tc>
                  <a:txBody>
                    <a:bodyPr/>
                    <a:lstStyle/>
                    <a:p>
                      <a:pPr marL="91440" algn="l" fontAlgn="b"/>
                      <a:r>
                        <a:rPr lang="en-US" sz="1400" b="1" u="none" strike="noStrike" dirty="0" err="1">
                          <a:solidFill>
                            <a:srgbClr val="000000"/>
                          </a:solidFill>
                          <a:effectLst/>
                          <a:latin typeface="+mj-lt"/>
                        </a:rPr>
                        <a:t>Omusati</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a:solidFill>
                            <a:srgbClr val="000000"/>
                          </a:solidFill>
                          <a:effectLst/>
                          <a:latin typeface="+mj-lt"/>
                        </a:rPr>
                        <a:t>59.0</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8.4</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25.5</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854</a:t>
                      </a:r>
                      <a:endParaRPr lang="en-US" sz="1400" b="1" i="0" u="none" strike="noStrike">
                        <a:solidFill>
                          <a:srgbClr val="000000"/>
                        </a:solidFill>
                        <a:effectLst/>
                        <a:latin typeface="+mj-lt"/>
                      </a:endParaRPr>
                    </a:p>
                  </a:txBody>
                  <a:tcPr marL="6350" marR="6350" marT="6350" marB="0" anchor="b"/>
                </a:tc>
                <a:extLst>
                  <a:ext uri="{0D108BD9-81ED-4DB2-BD59-A6C34878D82A}">
                    <a16:rowId xmlns:a16="http://schemas.microsoft.com/office/drawing/2014/main" val="1369239062"/>
                  </a:ext>
                </a:extLst>
              </a:tr>
              <a:tr h="278974">
                <a:tc>
                  <a:txBody>
                    <a:bodyPr/>
                    <a:lstStyle/>
                    <a:p>
                      <a:pPr marL="91440" algn="l" fontAlgn="b"/>
                      <a:r>
                        <a:rPr lang="en-US" sz="1400" b="1" u="none" strike="noStrike" dirty="0">
                          <a:solidFill>
                            <a:srgbClr val="000000"/>
                          </a:solidFill>
                          <a:effectLst/>
                          <a:latin typeface="+mj-lt"/>
                        </a:rPr>
                        <a:t>Oshana</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a:solidFill>
                            <a:srgbClr val="000000"/>
                          </a:solidFill>
                          <a:effectLst/>
                          <a:latin typeface="+mj-lt"/>
                        </a:rPr>
                        <a:t>38.9</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4.2</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11.2</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846</a:t>
                      </a:r>
                      <a:endParaRPr lang="en-US" sz="1400" b="1" i="0" u="none" strike="noStrike">
                        <a:solidFill>
                          <a:srgbClr val="000000"/>
                        </a:solidFill>
                        <a:effectLst/>
                        <a:latin typeface="+mj-lt"/>
                      </a:endParaRPr>
                    </a:p>
                  </a:txBody>
                  <a:tcPr marL="6350" marR="6350" marT="6350" marB="0" anchor="b"/>
                </a:tc>
                <a:extLst>
                  <a:ext uri="{0D108BD9-81ED-4DB2-BD59-A6C34878D82A}">
                    <a16:rowId xmlns:a16="http://schemas.microsoft.com/office/drawing/2014/main" val="410517136"/>
                  </a:ext>
                </a:extLst>
              </a:tr>
              <a:tr h="278974">
                <a:tc>
                  <a:txBody>
                    <a:bodyPr/>
                    <a:lstStyle/>
                    <a:p>
                      <a:pPr marL="91440" algn="l" fontAlgn="b"/>
                      <a:r>
                        <a:rPr lang="en-US" sz="1400" b="1" u="none" strike="noStrike" dirty="0" err="1">
                          <a:solidFill>
                            <a:srgbClr val="000000"/>
                          </a:solidFill>
                          <a:effectLst/>
                          <a:latin typeface="+mj-lt"/>
                        </a:rPr>
                        <a:t>Oshikoto</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a:solidFill>
                            <a:srgbClr val="000000"/>
                          </a:solidFill>
                          <a:effectLst/>
                          <a:latin typeface="+mj-lt"/>
                        </a:rPr>
                        <a:t>51.9</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7.0</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8.7</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852</a:t>
                      </a:r>
                      <a:endParaRPr lang="en-US" sz="1400" b="1" i="0" u="none" strike="noStrike">
                        <a:solidFill>
                          <a:srgbClr val="000000"/>
                        </a:solidFill>
                        <a:effectLst/>
                        <a:latin typeface="+mj-lt"/>
                      </a:endParaRPr>
                    </a:p>
                  </a:txBody>
                  <a:tcPr marL="6350" marR="6350" marT="6350" marB="0" anchor="b"/>
                </a:tc>
                <a:extLst>
                  <a:ext uri="{0D108BD9-81ED-4DB2-BD59-A6C34878D82A}">
                    <a16:rowId xmlns:a16="http://schemas.microsoft.com/office/drawing/2014/main" val="2809514853"/>
                  </a:ext>
                </a:extLst>
              </a:tr>
              <a:tr h="278974">
                <a:tc>
                  <a:txBody>
                    <a:bodyPr/>
                    <a:lstStyle/>
                    <a:p>
                      <a:pPr marL="91440" algn="l" fontAlgn="b"/>
                      <a:r>
                        <a:rPr lang="en-US" sz="1400" b="1" u="none" strike="noStrike" dirty="0" err="1">
                          <a:solidFill>
                            <a:srgbClr val="000000"/>
                          </a:solidFill>
                          <a:effectLst/>
                          <a:latin typeface="+mj-lt"/>
                        </a:rPr>
                        <a:t>Otjozondjupa</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a:solidFill>
                            <a:srgbClr val="000000"/>
                          </a:solidFill>
                          <a:effectLst/>
                          <a:latin typeface="+mj-lt"/>
                        </a:rPr>
                        <a:t>0.2</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1.4</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0.3</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837</a:t>
                      </a:r>
                      <a:endParaRPr lang="en-US" sz="1400" b="1" i="0" u="none" strike="noStrike" dirty="0">
                        <a:solidFill>
                          <a:srgbClr val="000000"/>
                        </a:solidFill>
                        <a:effectLst/>
                        <a:latin typeface="+mj-lt"/>
                      </a:endParaRPr>
                    </a:p>
                  </a:txBody>
                  <a:tcPr marL="6350" marR="6350" marT="6350" marB="0" anchor="b"/>
                </a:tc>
                <a:extLst>
                  <a:ext uri="{0D108BD9-81ED-4DB2-BD59-A6C34878D82A}">
                    <a16:rowId xmlns:a16="http://schemas.microsoft.com/office/drawing/2014/main" val="672803013"/>
                  </a:ext>
                </a:extLst>
              </a:tr>
              <a:tr h="278974">
                <a:tc>
                  <a:txBody>
                    <a:bodyPr/>
                    <a:lstStyle/>
                    <a:p>
                      <a:pPr marL="91440" algn="l" fontAlgn="b"/>
                      <a:r>
                        <a:rPr lang="en-US" sz="1400" b="1" u="none" strike="noStrike" dirty="0">
                          <a:solidFill>
                            <a:srgbClr val="000000"/>
                          </a:solidFill>
                          <a:effectLst/>
                          <a:latin typeface="+mj-lt"/>
                        </a:rPr>
                        <a:t>Zambezi</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dirty="0">
                          <a:solidFill>
                            <a:srgbClr val="000000"/>
                          </a:solidFill>
                          <a:effectLst/>
                          <a:latin typeface="+mj-lt"/>
                        </a:rPr>
                        <a:t>4.0</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27.7</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2.0</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566</a:t>
                      </a:r>
                      <a:endParaRPr lang="en-US" sz="1400" b="1" i="0" u="none" strike="noStrike" dirty="0">
                        <a:solidFill>
                          <a:srgbClr val="000000"/>
                        </a:solidFill>
                        <a:effectLst/>
                        <a:latin typeface="+mj-lt"/>
                      </a:endParaRPr>
                    </a:p>
                  </a:txBody>
                  <a:tcPr marL="6350" marR="6350" marT="6350" marB="0" anchor="b"/>
                </a:tc>
                <a:extLst>
                  <a:ext uri="{0D108BD9-81ED-4DB2-BD59-A6C34878D82A}">
                    <a16:rowId xmlns:a16="http://schemas.microsoft.com/office/drawing/2014/main" val="1426088456"/>
                  </a:ext>
                </a:extLst>
              </a:tr>
              <a:tr h="278974">
                <a:tc>
                  <a:txBody>
                    <a:bodyPr/>
                    <a:lstStyle/>
                    <a:p>
                      <a:r>
                        <a:rPr lang="en-US" sz="1400" b="1" dirty="0">
                          <a:latin typeface="+mj-lt"/>
                        </a:rPr>
                        <a:t>Total</a:t>
                      </a:r>
                    </a:p>
                  </a:txBody>
                  <a:tcPr anchor="ctr"/>
                </a:tc>
                <a:tc>
                  <a:txBody>
                    <a:bodyPr/>
                    <a:lstStyle/>
                    <a:p>
                      <a:pPr algn="ctr"/>
                      <a:r>
                        <a:rPr lang="en-US" sz="1400" b="1" dirty="0">
                          <a:latin typeface="+mj-lt"/>
                        </a:rPr>
                        <a:t>21.8</a:t>
                      </a:r>
                    </a:p>
                  </a:txBody>
                  <a:tcPr/>
                </a:tc>
                <a:tc>
                  <a:txBody>
                    <a:bodyPr/>
                    <a:lstStyle/>
                    <a:p>
                      <a:pPr algn="ctr"/>
                      <a:r>
                        <a:rPr lang="en-US" sz="1400" b="1" dirty="0">
                          <a:latin typeface="+mj-lt"/>
                        </a:rPr>
                        <a:t>6.1</a:t>
                      </a:r>
                    </a:p>
                  </a:txBody>
                  <a:tcPr/>
                </a:tc>
                <a:tc>
                  <a:txBody>
                    <a:bodyPr/>
                    <a:lstStyle/>
                    <a:p>
                      <a:pPr algn="ctr"/>
                      <a:r>
                        <a:rPr lang="en-US" sz="1400" b="1" dirty="0">
                          <a:latin typeface="+mj-lt"/>
                        </a:rPr>
                        <a:t>7.0</a:t>
                      </a:r>
                    </a:p>
                  </a:txBody>
                  <a:tcPr/>
                </a:tc>
                <a:tc>
                  <a:txBody>
                    <a:bodyPr/>
                    <a:lstStyle/>
                    <a:p>
                      <a:pPr algn="ctr" fontAlgn="b"/>
                      <a:r>
                        <a:rPr lang="en-US" sz="1400" b="1" u="none" strike="noStrike" dirty="0">
                          <a:solidFill>
                            <a:srgbClr val="000000"/>
                          </a:solidFill>
                          <a:effectLst/>
                          <a:latin typeface="+mj-lt"/>
                        </a:rPr>
                        <a:t>10,090</a:t>
                      </a:r>
                      <a:endParaRPr lang="en-US" sz="1400" b="1" i="0" u="none" strike="noStrike" dirty="0">
                        <a:solidFill>
                          <a:srgbClr val="000000"/>
                        </a:solidFill>
                        <a:effectLst/>
                        <a:latin typeface="+mj-lt"/>
                      </a:endParaRPr>
                    </a:p>
                  </a:txBody>
                  <a:tcPr marL="6350" marR="6350" marT="6350" marB="0" anchor="b"/>
                </a:tc>
                <a:extLst>
                  <a:ext uri="{0D108BD9-81ED-4DB2-BD59-A6C34878D82A}">
                    <a16:rowId xmlns:a16="http://schemas.microsoft.com/office/drawing/2014/main" val="2667869443"/>
                  </a:ext>
                </a:extLst>
              </a:tr>
            </a:tbl>
          </a:graphicData>
        </a:graphic>
      </p:graphicFrame>
      <p:sp>
        <p:nvSpPr>
          <p:cNvPr id="5" name="TextBox 4">
            <a:extLst>
              <a:ext uri="{FF2B5EF4-FFF2-40B4-BE49-F238E27FC236}">
                <a16:creationId xmlns:a16="http://schemas.microsoft.com/office/drawing/2014/main" id="{2DB8F50B-D865-4C2C-8B9C-3E9CDBFA2428}"/>
              </a:ext>
            </a:extLst>
          </p:cNvPr>
          <p:cNvSpPr txBox="1"/>
          <p:nvPr/>
        </p:nvSpPr>
        <p:spPr>
          <a:xfrm>
            <a:off x="838200" y="1579421"/>
            <a:ext cx="10439400" cy="369332"/>
          </a:xfrm>
          <a:prstGeom prst="rect">
            <a:avLst/>
          </a:prstGeom>
          <a:noFill/>
        </p:spPr>
        <p:txBody>
          <a:bodyPr wrap="square" rtlCol="0">
            <a:spAutoFit/>
          </a:bodyPr>
          <a:lstStyle/>
          <a:p>
            <a:r>
              <a:rPr lang="en-US" b="1" dirty="0">
                <a:latin typeface="Tw Cen MT" panose="020B0602020104020603" pitchFamily="34" charset="0"/>
              </a:rPr>
              <a:t>Table 1. Proportion of households which reported growing </a:t>
            </a:r>
            <a:r>
              <a:rPr lang="en-US" b="1" dirty="0" err="1">
                <a:latin typeface="Tw Cen MT" panose="020B0602020104020603" pitchFamily="34" charset="0"/>
              </a:rPr>
              <a:t>mahangu</a:t>
            </a:r>
            <a:r>
              <a:rPr lang="en-US" b="1" dirty="0">
                <a:latin typeface="Tw Cen MT" panose="020B0602020104020603" pitchFamily="34" charset="0"/>
              </a:rPr>
              <a:t>, maize and sorghum (NHIES 2015/16)</a:t>
            </a:r>
          </a:p>
        </p:txBody>
      </p:sp>
    </p:spTree>
    <p:extLst>
      <p:ext uri="{BB962C8B-B14F-4D97-AF65-F5344CB8AC3E}">
        <p14:creationId xmlns:p14="http://schemas.microsoft.com/office/powerpoint/2010/main" val="38103507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F7154-0C54-4070-A61E-238A67C3F68F}"/>
              </a:ext>
            </a:extLst>
          </p:cNvPr>
          <p:cNvSpPr>
            <a:spLocks noGrp="1"/>
          </p:cNvSpPr>
          <p:nvPr>
            <p:ph type="title"/>
          </p:nvPr>
        </p:nvSpPr>
        <p:spPr/>
        <p:txBody>
          <a:bodyPr/>
          <a:lstStyle/>
          <a:p>
            <a:r>
              <a:rPr lang="en-US" dirty="0">
                <a:latin typeface="Tw Cen MT" panose="020B0602020104020603" pitchFamily="34" charset="0"/>
              </a:rPr>
              <a:t>IV. Appendix B: Data Tables</a:t>
            </a:r>
          </a:p>
        </p:txBody>
      </p:sp>
      <p:graphicFrame>
        <p:nvGraphicFramePr>
          <p:cNvPr id="3" name="Table 3">
            <a:extLst>
              <a:ext uri="{FF2B5EF4-FFF2-40B4-BE49-F238E27FC236}">
                <a16:creationId xmlns:a16="http://schemas.microsoft.com/office/drawing/2014/main" id="{E2581179-2337-465E-9E9C-999AA1FA5182}"/>
              </a:ext>
            </a:extLst>
          </p:cNvPr>
          <p:cNvGraphicFramePr>
            <a:graphicFrameLocks noGrp="1"/>
          </p:cNvGraphicFramePr>
          <p:nvPr>
            <p:extLst>
              <p:ext uri="{D42A27DB-BD31-4B8C-83A1-F6EECF244321}">
                <p14:modId xmlns:p14="http://schemas.microsoft.com/office/powerpoint/2010/main" val="2889320236"/>
              </p:ext>
            </p:extLst>
          </p:nvPr>
        </p:nvGraphicFramePr>
        <p:xfrm>
          <a:off x="838200" y="2226394"/>
          <a:ext cx="10515600" cy="4515236"/>
        </p:xfrm>
        <a:graphic>
          <a:graphicData uri="http://schemas.openxmlformats.org/drawingml/2006/table">
            <a:tbl>
              <a:tblPr firstRow="1" bandRow="1">
                <a:tableStyleId>{3B4B98B0-60AC-42C2-AFA5-B58CD77FA1E5}</a:tableStyleId>
              </a:tblPr>
              <a:tblGrid>
                <a:gridCol w="2103120">
                  <a:extLst>
                    <a:ext uri="{9D8B030D-6E8A-4147-A177-3AD203B41FA5}">
                      <a16:colId xmlns:a16="http://schemas.microsoft.com/office/drawing/2014/main" val="3771755485"/>
                    </a:ext>
                  </a:extLst>
                </a:gridCol>
                <a:gridCol w="2103120">
                  <a:extLst>
                    <a:ext uri="{9D8B030D-6E8A-4147-A177-3AD203B41FA5}">
                      <a16:colId xmlns:a16="http://schemas.microsoft.com/office/drawing/2014/main" val="1647068758"/>
                    </a:ext>
                  </a:extLst>
                </a:gridCol>
                <a:gridCol w="2103120">
                  <a:extLst>
                    <a:ext uri="{9D8B030D-6E8A-4147-A177-3AD203B41FA5}">
                      <a16:colId xmlns:a16="http://schemas.microsoft.com/office/drawing/2014/main" val="3136655689"/>
                    </a:ext>
                  </a:extLst>
                </a:gridCol>
                <a:gridCol w="2103120">
                  <a:extLst>
                    <a:ext uri="{9D8B030D-6E8A-4147-A177-3AD203B41FA5}">
                      <a16:colId xmlns:a16="http://schemas.microsoft.com/office/drawing/2014/main" val="26931426"/>
                    </a:ext>
                  </a:extLst>
                </a:gridCol>
                <a:gridCol w="2103120">
                  <a:extLst>
                    <a:ext uri="{9D8B030D-6E8A-4147-A177-3AD203B41FA5}">
                      <a16:colId xmlns:a16="http://schemas.microsoft.com/office/drawing/2014/main" val="57770954"/>
                    </a:ext>
                  </a:extLst>
                </a:gridCol>
              </a:tblGrid>
              <a:tr h="278974">
                <a:tc>
                  <a:txBody>
                    <a:bodyPr/>
                    <a:lstStyle/>
                    <a:p>
                      <a:r>
                        <a:rPr lang="en-US" sz="1400" b="1" dirty="0">
                          <a:latin typeface="+mj-lt"/>
                        </a:rPr>
                        <a:t>Region</a:t>
                      </a:r>
                    </a:p>
                  </a:txBody>
                  <a:tcPr/>
                </a:tc>
                <a:tc>
                  <a:txBody>
                    <a:bodyPr/>
                    <a:lstStyle/>
                    <a:p>
                      <a:pPr algn="ctr"/>
                      <a:r>
                        <a:rPr lang="en-US" sz="1400" b="1" dirty="0">
                          <a:latin typeface="+mj-lt"/>
                        </a:rPr>
                        <a:t>Bought with cash (%)</a:t>
                      </a:r>
                    </a:p>
                  </a:txBody>
                  <a:tcPr/>
                </a:tc>
                <a:tc>
                  <a:txBody>
                    <a:bodyPr/>
                    <a:lstStyle/>
                    <a:p>
                      <a:pPr algn="ctr"/>
                      <a:r>
                        <a:rPr lang="en-US" sz="1400" b="1" dirty="0">
                          <a:latin typeface="+mj-lt"/>
                        </a:rPr>
                        <a:t>Own production (%)</a:t>
                      </a:r>
                    </a:p>
                  </a:txBody>
                  <a:tcPr/>
                </a:tc>
                <a:tc>
                  <a:txBody>
                    <a:bodyPr/>
                    <a:lstStyle/>
                    <a:p>
                      <a:pPr algn="ctr"/>
                      <a:r>
                        <a:rPr lang="en-US" sz="1400" b="1" dirty="0">
                          <a:latin typeface="+mj-lt"/>
                        </a:rPr>
                        <a:t>Assistance (%)</a:t>
                      </a:r>
                    </a:p>
                  </a:txBody>
                  <a:tcPr/>
                </a:tc>
                <a:tc>
                  <a:txBody>
                    <a:bodyPr/>
                    <a:lstStyle/>
                    <a:p>
                      <a:pPr algn="ctr"/>
                      <a:r>
                        <a:rPr lang="en-US" sz="1400" b="1" dirty="0">
                          <a:latin typeface="+mj-lt"/>
                        </a:rPr>
                        <a:t>N</a:t>
                      </a:r>
                    </a:p>
                  </a:txBody>
                  <a:tcPr/>
                </a:tc>
                <a:extLst>
                  <a:ext uri="{0D108BD9-81ED-4DB2-BD59-A6C34878D82A}">
                    <a16:rowId xmlns:a16="http://schemas.microsoft.com/office/drawing/2014/main" val="2920181130"/>
                  </a:ext>
                </a:extLst>
              </a:tr>
              <a:tr h="278974">
                <a:tc>
                  <a:txBody>
                    <a:bodyPr/>
                    <a:lstStyle/>
                    <a:p>
                      <a:pPr marL="91440" algn="l" fontAlgn="b"/>
                      <a:r>
                        <a:rPr lang="en-US" sz="1400" b="1" u="none" strike="noStrike" dirty="0">
                          <a:solidFill>
                            <a:srgbClr val="000000"/>
                          </a:solidFill>
                          <a:effectLst/>
                          <a:latin typeface="+mj-lt"/>
                        </a:rPr>
                        <a:t>!</a:t>
                      </a:r>
                      <a:r>
                        <a:rPr lang="en-US" sz="1400" b="1" u="none" strike="noStrike" dirty="0" err="1">
                          <a:solidFill>
                            <a:srgbClr val="000000"/>
                          </a:solidFill>
                          <a:effectLst/>
                          <a:latin typeface="+mj-lt"/>
                        </a:rPr>
                        <a:t>Karas</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dirty="0">
                          <a:solidFill>
                            <a:srgbClr val="000000"/>
                          </a:solidFill>
                          <a:effectLst/>
                          <a:latin typeface="+mj-lt"/>
                        </a:rPr>
                        <a:t>92.9</a:t>
                      </a:r>
                    </a:p>
                  </a:txBody>
                  <a:tcPr marL="6350" marR="6350" marT="6350" marB="0" anchor="b"/>
                </a:tc>
                <a:tc>
                  <a:txBody>
                    <a:bodyPr/>
                    <a:lstStyle/>
                    <a:p>
                      <a:pPr algn="ctr" fontAlgn="b"/>
                      <a:r>
                        <a:rPr lang="en-US" sz="1400" b="1" i="0" u="none" strike="noStrike" dirty="0">
                          <a:solidFill>
                            <a:srgbClr val="000000"/>
                          </a:solidFill>
                          <a:effectLst/>
                          <a:latin typeface="+mj-lt"/>
                        </a:rPr>
                        <a:t>0.9</a:t>
                      </a:r>
                    </a:p>
                  </a:txBody>
                  <a:tcPr marL="6350" marR="6350" marT="6350" marB="0" anchor="b"/>
                </a:tc>
                <a:tc>
                  <a:txBody>
                    <a:bodyPr/>
                    <a:lstStyle/>
                    <a:p>
                      <a:pPr algn="ctr" fontAlgn="b"/>
                      <a:r>
                        <a:rPr lang="en-US" sz="1400" b="1" i="0" u="none" strike="noStrike" dirty="0">
                          <a:solidFill>
                            <a:srgbClr val="000000"/>
                          </a:solidFill>
                          <a:effectLst/>
                          <a:latin typeface="+mj-lt"/>
                        </a:rPr>
                        <a:t>2.3</a:t>
                      </a:r>
                    </a:p>
                  </a:txBody>
                  <a:tcPr marL="6350" marR="6350" marT="6350" marB="0" anchor="b"/>
                </a:tc>
                <a:tc>
                  <a:txBody>
                    <a:bodyPr/>
                    <a:lstStyle/>
                    <a:p>
                      <a:pPr algn="ctr" fontAlgn="b"/>
                      <a:r>
                        <a:rPr lang="en-US" sz="1400" b="1" i="0" u="none" strike="noStrike" dirty="0">
                          <a:solidFill>
                            <a:srgbClr val="000000"/>
                          </a:solidFill>
                          <a:effectLst/>
                          <a:latin typeface="+mj-lt"/>
                        </a:rPr>
                        <a:t>423</a:t>
                      </a:r>
                    </a:p>
                  </a:txBody>
                  <a:tcPr marL="6350" marR="6350" marT="6350" marB="0" anchor="b"/>
                </a:tc>
                <a:extLst>
                  <a:ext uri="{0D108BD9-81ED-4DB2-BD59-A6C34878D82A}">
                    <a16:rowId xmlns:a16="http://schemas.microsoft.com/office/drawing/2014/main" val="2916333070"/>
                  </a:ext>
                </a:extLst>
              </a:tr>
              <a:tr h="278974">
                <a:tc>
                  <a:txBody>
                    <a:bodyPr/>
                    <a:lstStyle/>
                    <a:p>
                      <a:pPr marL="91440" algn="l" fontAlgn="b"/>
                      <a:r>
                        <a:rPr lang="en-US" sz="1400" b="1" u="none" strike="noStrike" dirty="0" err="1">
                          <a:solidFill>
                            <a:srgbClr val="000000"/>
                          </a:solidFill>
                          <a:effectLst/>
                          <a:latin typeface="+mj-lt"/>
                        </a:rPr>
                        <a:t>Erongo</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dirty="0">
                          <a:solidFill>
                            <a:srgbClr val="000000"/>
                          </a:solidFill>
                          <a:effectLst/>
                          <a:latin typeface="+mj-lt"/>
                        </a:rPr>
                        <a:t>96.0</a:t>
                      </a:r>
                    </a:p>
                  </a:txBody>
                  <a:tcPr marL="6350" marR="6350" marT="6350" marB="0" anchor="b"/>
                </a:tc>
                <a:tc>
                  <a:txBody>
                    <a:bodyPr/>
                    <a:lstStyle/>
                    <a:p>
                      <a:pPr algn="ctr" fontAlgn="b"/>
                      <a:r>
                        <a:rPr lang="en-US" sz="1400" b="1" i="0" u="none" strike="noStrike">
                          <a:solidFill>
                            <a:srgbClr val="000000"/>
                          </a:solidFill>
                          <a:effectLst/>
                          <a:latin typeface="+mj-lt"/>
                        </a:rPr>
                        <a:t>0.1</a:t>
                      </a:r>
                    </a:p>
                  </a:txBody>
                  <a:tcPr marL="6350" marR="6350" marT="6350" marB="0" anchor="b"/>
                </a:tc>
                <a:tc>
                  <a:txBody>
                    <a:bodyPr/>
                    <a:lstStyle/>
                    <a:p>
                      <a:pPr algn="ctr" fontAlgn="b"/>
                      <a:r>
                        <a:rPr lang="en-US" sz="1400" b="1" i="0" u="none" strike="noStrike">
                          <a:solidFill>
                            <a:srgbClr val="000000"/>
                          </a:solidFill>
                          <a:effectLst/>
                          <a:latin typeface="+mj-lt"/>
                        </a:rPr>
                        <a:t>2.3</a:t>
                      </a:r>
                    </a:p>
                  </a:txBody>
                  <a:tcPr marL="6350" marR="6350" marT="6350" marB="0" anchor="b"/>
                </a:tc>
                <a:tc>
                  <a:txBody>
                    <a:bodyPr/>
                    <a:lstStyle/>
                    <a:p>
                      <a:pPr algn="ctr" fontAlgn="b"/>
                      <a:r>
                        <a:rPr lang="en-US" sz="1400" b="1" i="0" u="none" strike="noStrike">
                          <a:solidFill>
                            <a:srgbClr val="000000"/>
                          </a:solidFill>
                          <a:effectLst/>
                          <a:latin typeface="+mj-lt"/>
                        </a:rPr>
                        <a:t>604</a:t>
                      </a:r>
                    </a:p>
                  </a:txBody>
                  <a:tcPr marL="6350" marR="6350" marT="6350" marB="0" anchor="b"/>
                </a:tc>
                <a:extLst>
                  <a:ext uri="{0D108BD9-81ED-4DB2-BD59-A6C34878D82A}">
                    <a16:rowId xmlns:a16="http://schemas.microsoft.com/office/drawing/2014/main" val="163960317"/>
                  </a:ext>
                </a:extLst>
              </a:tr>
              <a:tr h="278974">
                <a:tc>
                  <a:txBody>
                    <a:bodyPr/>
                    <a:lstStyle/>
                    <a:p>
                      <a:pPr marL="91440" algn="l" fontAlgn="b"/>
                      <a:r>
                        <a:rPr lang="en-US" sz="1400" b="1" u="none" strike="noStrike" dirty="0" err="1">
                          <a:solidFill>
                            <a:srgbClr val="000000"/>
                          </a:solidFill>
                          <a:effectLst/>
                          <a:latin typeface="+mj-lt"/>
                        </a:rPr>
                        <a:t>Hardap</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dirty="0">
                          <a:solidFill>
                            <a:srgbClr val="000000"/>
                          </a:solidFill>
                          <a:effectLst/>
                          <a:latin typeface="+mj-lt"/>
                        </a:rPr>
                        <a:t>81.9</a:t>
                      </a:r>
                    </a:p>
                  </a:txBody>
                  <a:tcPr marL="6350" marR="6350" marT="6350" marB="0" anchor="b"/>
                </a:tc>
                <a:tc>
                  <a:txBody>
                    <a:bodyPr/>
                    <a:lstStyle/>
                    <a:p>
                      <a:pPr algn="ctr" fontAlgn="b"/>
                      <a:r>
                        <a:rPr lang="en-US" sz="1400" b="1" i="0" u="none" strike="noStrike">
                          <a:solidFill>
                            <a:srgbClr val="000000"/>
                          </a:solidFill>
                          <a:effectLst/>
                          <a:latin typeface="+mj-lt"/>
                        </a:rPr>
                        <a:t>0.4</a:t>
                      </a:r>
                    </a:p>
                  </a:txBody>
                  <a:tcPr marL="6350" marR="6350" marT="6350" marB="0" anchor="b"/>
                </a:tc>
                <a:tc>
                  <a:txBody>
                    <a:bodyPr/>
                    <a:lstStyle/>
                    <a:p>
                      <a:pPr algn="ctr" fontAlgn="b"/>
                      <a:r>
                        <a:rPr lang="en-US" sz="1400" b="1" i="0" u="none" strike="noStrike">
                          <a:solidFill>
                            <a:srgbClr val="000000"/>
                          </a:solidFill>
                          <a:effectLst/>
                          <a:latin typeface="+mj-lt"/>
                        </a:rPr>
                        <a:t>12.0</a:t>
                      </a:r>
                    </a:p>
                  </a:txBody>
                  <a:tcPr marL="6350" marR="6350" marT="6350" marB="0" anchor="b"/>
                </a:tc>
                <a:tc>
                  <a:txBody>
                    <a:bodyPr/>
                    <a:lstStyle/>
                    <a:p>
                      <a:pPr algn="ctr" fontAlgn="b"/>
                      <a:r>
                        <a:rPr lang="en-US" sz="1400" b="1" i="0" u="none" strike="noStrike">
                          <a:solidFill>
                            <a:srgbClr val="000000"/>
                          </a:solidFill>
                          <a:effectLst/>
                          <a:latin typeface="+mj-lt"/>
                        </a:rPr>
                        <a:t>493</a:t>
                      </a:r>
                    </a:p>
                  </a:txBody>
                  <a:tcPr marL="6350" marR="6350" marT="6350" marB="0" anchor="b"/>
                </a:tc>
                <a:extLst>
                  <a:ext uri="{0D108BD9-81ED-4DB2-BD59-A6C34878D82A}">
                    <a16:rowId xmlns:a16="http://schemas.microsoft.com/office/drawing/2014/main" val="4254878266"/>
                  </a:ext>
                </a:extLst>
              </a:tr>
              <a:tr h="278974">
                <a:tc>
                  <a:txBody>
                    <a:bodyPr/>
                    <a:lstStyle/>
                    <a:p>
                      <a:pPr marL="91440" algn="l" fontAlgn="b"/>
                      <a:r>
                        <a:rPr lang="en-US" sz="1400" b="1" u="none" strike="noStrike" dirty="0" err="1">
                          <a:solidFill>
                            <a:srgbClr val="000000"/>
                          </a:solidFill>
                          <a:effectLst/>
                          <a:latin typeface="+mj-lt"/>
                        </a:rPr>
                        <a:t>Kavango</a:t>
                      </a:r>
                      <a:r>
                        <a:rPr lang="en-US" sz="1400" b="1" u="none" strike="noStrike" dirty="0">
                          <a:solidFill>
                            <a:srgbClr val="000000"/>
                          </a:solidFill>
                          <a:effectLst/>
                          <a:latin typeface="+mj-lt"/>
                        </a:rPr>
                        <a:t> East</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dirty="0">
                          <a:solidFill>
                            <a:srgbClr val="000000"/>
                          </a:solidFill>
                          <a:effectLst/>
                          <a:latin typeface="+mj-lt"/>
                        </a:rPr>
                        <a:t>75.7</a:t>
                      </a:r>
                    </a:p>
                  </a:txBody>
                  <a:tcPr marL="6350" marR="6350" marT="6350" marB="0" anchor="b"/>
                </a:tc>
                <a:tc>
                  <a:txBody>
                    <a:bodyPr/>
                    <a:lstStyle/>
                    <a:p>
                      <a:pPr algn="ctr" fontAlgn="b"/>
                      <a:r>
                        <a:rPr lang="en-US" sz="1400" b="1" i="0" u="none" strike="noStrike">
                          <a:solidFill>
                            <a:srgbClr val="000000"/>
                          </a:solidFill>
                          <a:effectLst/>
                          <a:latin typeface="+mj-lt"/>
                        </a:rPr>
                        <a:t>3.0</a:t>
                      </a:r>
                    </a:p>
                  </a:txBody>
                  <a:tcPr marL="6350" marR="6350" marT="6350" marB="0" anchor="b"/>
                </a:tc>
                <a:tc>
                  <a:txBody>
                    <a:bodyPr/>
                    <a:lstStyle/>
                    <a:p>
                      <a:pPr algn="ctr" fontAlgn="b"/>
                      <a:r>
                        <a:rPr lang="en-US" sz="1400" b="1" i="0" u="none" strike="noStrike">
                          <a:solidFill>
                            <a:srgbClr val="000000"/>
                          </a:solidFill>
                          <a:effectLst/>
                          <a:latin typeface="+mj-lt"/>
                        </a:rPr>
                        <a:t>5.9</a:t>
                      </a:r>
                    </a:p>
                  </a:txBody>
                  <a:tcPr marL="6350" marR="6350" marT="6350" marB="0" anchor="b"/>
                </a:tc>
                <a:tc>
                  <a:txBody>
                    <a:bodyPr/>
                    <a:lstStyle/>
                    <a:p>
                      <a:pPr algn="ctr" fontAlgn="b"/>
                      <a:r>
                        <a:rPr lang="en-US" sz="1400" b="1" i="0" u="none" strike="noStrike">
                          <a:solidFill>
                            <a:srgbClr val="000000"/>
                          </a:solidFill>
                          <a:effectLst/>
                          <a:latin typeface="+mj-lt"/>
                        </a:rPr>
                        <a:t>475</a:t>
                      </a:r>
                    </a:p>
                  </a:txBody>
                  <a:tcPr marL="6350" marR="6350" marT="6350" marB="0" anchor="b"/>
                </a:tc>
                <a:extLst>
                  <a:ext uri="{0D108BD9-81ED-4DB2-BD59-A6C34878D82A}">
                    <a16:rowId xmlns:a16="http://schemas.microsoft.com/office/drawing/2014/main" val="1029589026"/>
                  </a:ext>
                </a:extLst>
              </a:tr>
              <a:tr h="278974">
                <a:tc>
                  <a:txBody>
                    <a:bodyPr/>
                    <a:lstStyle/>
                    <a:p>
                      <a:pPr marL="91440" algn="l" fontAlgn="b"/>
                      <a:r>
                        <a:rPr lang="en-US" sz="1400" b="1" u="none" strike="noStrike" dirty="0" err="1">
                          <a:solidFill>
                            <a:srgbClr val="000000"/>
                          </a:solidFill>
                          <a:effectLst/>
                          <a:latin typeface="+mj-lt"/>
                        </a:rPr>
                        <a:t>Kavango</a:t>
                      </a:r>
                      <a:r>
                        <a:rPr lang="en-US" sz="1400" b="1" u="none" strike="noStrike" dirty="0">
                          <a:solidFill>
                            <a:srgbClr val="000000"/>
                          </a:solidFill>
                          <a:effectLst/>
                          <a:latin typeface="+mj-lt"/>
                        </a:rPr>
                        <a:t> West</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dirty="0">
                          <a:solidFill>
                            <a:srgbClr val="000000"/>
                          </a:solidFill>
                          <a:effectLst/>
                          <a:latin typeface="+mj-lt"/>
                        </a:rPr>
                        <a:t>60.9</a:t>
                      </a:r>
                    </a:p>
                  </a:txBody>
                  <a:tcPr marL="6350" marR="6350" marT="6350" marB="0" anchor="b"/>
                </a:tc>
                <a:tc>
                  <a:txBody>
                    <a:bodyPr/>
                    <a:lstStyle/>
                    <a:p>
                      <a:pPr algn="ctr" fontAlgn="b"/>
                      <a:r>
                        <a:rPr lang="en-US" sz="1400" b="1" i="0" u="none" strike="noStrike">
                          <a:solidFill>
                            <a:srgbClr val="000000"/>
                          </a:solidFill>
                          <a:effectLst/>
                          <a:latin typeface="+mj-lt"/>
                        </a:rPr>
                        <a:t>14.2</a:t>
                      </a:r>
                    </a:p>
                  </a:txBody>
                  <a:tcPr marL="6350" marR="6350" marT="6350" marB="0" anchor="b"/>
                </a:tc>
                <a:tc>
                  <a:txBody>
                    <a:bodyPr/>
                    <a:lstStyle/>
                    <a:p>
                      <a:pPr algn="ctr" fontAlgn="b"/>
                      <a:r>
                        <a:rPr lang="en-US" sz="1400" b="1" i="0" u="none" strike="noStrike">
                          <a:solidFill>
                            <a:srgbClr val="000000"/>
                          </a:solidFill>
                          <a:effectLst/>
                          <a:latin typeface="+mj-lt"/>
                        </a:rPr>
                        <a:t>8.9</a:t>
                      </a:r>
                    </a:p>
                  </a:txBody>
                  <a:tcPr marL="6350" marR="6350" marT="6350" marB="0" anchor="b"/>
                </a:tc>
                <a:tc>
                  <a:txBody>
                    <a:bodyPr/>
                    <a:lstStyle/>
                    <a:p>
                      <a:pPr algn="ctr" fontAlgn="b"/>
                      <a:r>
                        <a:rPr lang="en-US" sz="1400" b="1" i="0" u="none" strike="noStrike">
                          <a:solidFill>
                            <a:srgbClr val="000000"/>
                          </a:solidFill>
                          <a:effectLst/>
                          <a:latin typeface="+mj-lt"/>
                        </a:rPr>
                        <a:t>505</a:t>
                      </a:r>
                    </a:p>
                  </a:txBody>
                  <a:tcPr marL="6350" marR="6350" marT="6350" marB="0" anchor="b"/>
                </a:tc>
                <a:extLst>
                  <a:ext uri="{0D108BD9-81ED-4DB2-BD59-A6C34878D82A}">
                    <a16:rowId xmlns:a16="http://schemas.microsoft.com/office/drawing/2014/main" val="4019125081"/>
                  </a:ext>
                </a:extLst>
              </a:tr>
              <a:tr h="278974">
                <a:tc>
                  <a:txBody>
                    <a:bodyPr/>
                    <a:lstStyle/>
                    <a:p>
                      <a:pPr marL="91440" algn="l" fontAlgn="b"/>
                      <a:r>
                        <a:rPr lang="en-US" sz="1400" b="1" u="none" strike="noStrike" dirty="0" err="1">
                          <a:solidFill>
                            <a:srgbClr val="000000"/>
                          </a:solidFill>
                          <a:effectLst/>
                          <a:latin typeface="+mj-lt"/>
                        </a:rPr>
                        <a:t>Khomas</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dirty="0">
                          <a:solidFill>
                            <a:srgbClr val="000000"/>
                          </a:solidFill>
                          <a:effectLst/>
                          <a:latin typeface="+mj-lt"/>
                        </a:rPr>
                        <a:t>92.1</a:t>
                      </a:r>
                    </a:p>
                  </a:txBody>
                  <a:tcPr marL="6350" marR="6350" marT="6350" marB="0" anchor="b"/>
                </a:tc>
                <a:tc>
                  <a:txBody>
                    <a:bodyPr/>
                    <a:lstStyle/>
                    <a:p>
                      <a:pPr algn="ctr" fontAlgn="b"/>
                      <a:r>
                        <a:rPr lang="en-US" sz="1400" b="1" i="0" u="none" strike="noStrike" dirty="0">
                          <a:solidFill>
                            <a:srgbClr val="000000"/>
                          </a:solidFill>
                          <a:effectLst/>
                          <a:latin typeface="+mj-lt"/>
                        </a:rPr>
                        <a:t>0.2</a:t>
                      </a:r>
                    </a:p>
                  </a:txBody>
                  <a:tcPr marL="6350" marR="6350" marT="6350" marB="0" anchor="b"/>
                </a:tc>
                <a:tc>
                  <a:txBody>
                    <a:bodyPr/>
                    <a:lstStyle/>
                    <a:p>
                      <a:pPr algn="ctr" fontAlgn="b"/>
                      <a:r>
                        <a:rPr lang="en-US" sz="1400" b="1" i="0" u="none" strike="noStrike">
                          <a:solidFill>
                            <a:srgbClr val="000000"/>
                          </a:solidFill>
                          <a:effectLst/>
                          <a:latin typeface="+mj-lt"/>
                        </a:rPr>
                        <a:t>1.7</a:t>
                      </a:r>
                    </a:p>
                  </a:txBody>
                  <a:tcPr marL="6350" marR="6350" marT="6350" marB="0" anchor="b"/>
                </a:tc>
                <a:tc>
                  <a:txBody>
                    <a:bodyPr/>
                    <a:lstStyle/>
                    <a:p>
                      <a:pPr algn="ctr" fontAlgn="b"/>
                      <a:r>
                        <a:rPr lang="en-US" sz="1400" b="1" i="0" u="none" strike="noStrike">
                          <a:solidFill>
                            <a:srgbClr val="000000"/>
                          </a:solidFill>
                          <a:effectLst/>
                          <a:latin typeface="+mj-lt"/>
                        </a:rPr>
                        <a:t>862</a:t>
                      </a:r>
                    </a:p>
                  </a:txBody>
                  <a:tcPr marL="6350" marR="6350" marT="6350" marB="0" anchor="b"/>
                </a:tc>
                <a:extLst>
                  <a:ext uri="{0D108BD9-81ED-4DB2-BD59-A6C34878D82A}">
                    <a16:rowId xmlns:a16="http://schemas.microsoft.com/office/drawing/2014/main" val="3972360046"/>
                  </a:ext>
                </a:extLst>
              </a:tr>
              <a:tr h="278974">
                <a:tc>
                  <a:txBody>
                    <a:bodyPr/>
                    <a:lstStyle/>
                    <a:p>
                      <a:pPr marL="91440" algn="l" fontAlgn="b"/>
                      <a:r>
                        <a:rPr lang="en-US" sz="1400" b="1" u="none" strike="noStrike" dirty="0">
                          <a:solidFill>
                            <a:srgbClr val="000000"/>
                          </a:solidFill>
                          <a:effectLst/>
                          <a:latin typeface="+mj-lt"/>
                        </a:rPr>
                        <a:t>Kunene</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dirty="0">
                          <a:solidFill>
                            <a:srgbClr val="000000"/>
                          </a:solidFill>
                          <a:effectLst/>
                          <a:latin typeface="+mj-lt"/>
                        </a:rPr>
                        <a:t>62.0</a:t>
                      </a:r>
                    </a:p>
                  </a:txBody>
                  <a:tcPr marL="6350" marR="6350" marT="6350" marB="0" anchor="b"/>
                </a:tc>
                <a:tc>
                  <a:txBody>
                    <a:bodyPr/>
                    <a:lstStyle/>
                    <a:p>
                      <a:pPr algn="ctr" fontAlgn="b"/>
                      <a:r>
                        <a:rPr lang="en-US" sz="1400" b="1" i="0" u="none" strike="noStrike" dirty="0">
                          <a:solidFill>
                            <a:srgbClr val="000000"/>
                          </a:solidFill>
                          <a:effectLst/>
                          <a:latin typeface="+mj-lt"/>
                        </a:rPr>
                        <a:t>2.4</a:t>
                      </a:r>
                    </a:p>
                  </a:txBody>
                  <a:tcPr marL="6350" marR="6350" marT="6350" marB="0" anchor="b"/>
                </a:tc>
                <a:tc>
                  <a:txBody>
                    <a:bodyPr/>
                    <a:lstStyle/>
                    <a:p>
                      <a:pPr algn="ctr" fontAlgn="b"/>
                      <a:r>
                        <a:rPr lang="en-US" sz="1400" b="1" i="0" u="none" strike="noStrike">
                          <a:solidFill>
                            <a:srgbClr val="000000"/>
                          </a:solidFill>
                          <a:effectLst/>
                          <a:latin typeface="+mj-lt"/>
                        </a:rPr>
                        <a:t>21.7</a:t>
                      </a:r>
                    </a:p>
                  </a:txBody>
                  <a:tcPr marL="6350" marR="6350" marT="6350" marB="0" anchor="b"/>
                </a:tc>
                <a:tc>
                  <a:txBody>
                    <a:bodyPr/>
                    <a:lstStyle/>
                    <a:p>
                      <a:pPr algn="ctr" fontAlgn="b"/>
                      <a:r>
                        <a:rPr lang="en-US" sz="1400" b="1" i="0" u="none" strike="noStrike">
                          <a:solidFill>
                            <a:srgbClr val="000000"/>
                          </a:solidFill>
                          <a:effectLst/>
                          <a:latin typeface="+mj-lt"/>
                        </a:rPr>
                        <a:t>531</a:t>
                      </a:r>
                    </a:p>
                  </a:txBody>
                  <a:tcPr marL="6350" marR="6350" marT="6350" marB="0" anchor="b"/>
                </a:tc>
                <a:extLst>
                  <a:ext uri="{0D108BD9-81ED-4DB2-BD59-A6C34878D82A}">
                    <a16:rowId xmlns:a16="http://schemas.microsoft.com/office/drawing/2014/main" val="3618263224"/>
                  </a:ext>
                </a:extLst>
              </a:tr>
              <a:tr h="278974">
                <a:tc>
                  <a:txBody>
                    <a:bodyPr/>
                    <a:lstStyle/>
                    <a:p>
                      <a:pPr marL="91440" algn="l" fontAlgn="b"/>
                      <a:r>
                        <a:rPr lang="en-US" sz="1400" b="1" u="none" strike="noStrike" dirty="0">
                          <a:solidFill>
                            <a:srgbClr val="000000"/>
                          </a:solidFill>
                          <a:effectLst/>
                          <a:latin typeface="+mj-lt"/>
                        </a:rPr>
                        <a:t>Ohangwena</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a:solidFill>
                            <a:srgbClr val="000000"/>
                          </a:solidFill>
                          <a:effectLst/>
                          <a:latin typeface="+mj-lt"/>
                        </a:rPr>
                        <a:t>51.3</a:t>
                      </a:r>
                    </a:p>
                  </a:txBody>
                  <a:tcPr marL="6350" marR="6350" marT="6350" marB="0" anchor="b"/>
                </a:tc>
                <a:tc>
                  <a:txBody>
                    <a:bodyPr/>
                    <a:lstStyle/>
                    <a:p>
                      <a:pPr algn="ctr" fontAlgn="b"/>
                      <a:r>
                        <a:rPr lang="en-US" sz="1400" b="1" i="0" u="none" strike="noStrike" dirty="0">
                          <a:solidFill>
                            <a:srgbClr val="000000"/>
                          </a:solidFill>
                          <a:effectLst/>
                          <a:latin typeface="+mj-lt"/>
                        </a:rPr>
                        <a:t>35.2</a:t>
                      </a:r>
                    </a:p>
                  </a:txBody>
                  <a:tcPr marL="6350" marR="6350" marT="6350" marB="0" anchor="b"/>
                </a:tc>
                <a:tc>
                  <a:txBody>
                    <a:bodyPr/>
                    <a:lstStyle/>
                    <a:p>
                      <a:pPr algn="ctr" fontAlgn="b"/>
                      <a:r>
                        <a:rPr lang="en-US" sz="1400" b="1" i="0" u="none" strike="noStrike">
                          <a:solidFill>
                            <a:srgbClr val="000000"/>
                          </a:solidFill>
                          <a:effectLst/>
                          <a:latin typeface="+mj-lt"/>
                        </a:rPr>
                        <a:t>6.2</a:t>
                      </a:r>
                    </a:p>
                  </a:txBody>
                  <a:tcPr marL="6350" marR="6350" marT="6350" marB="0" anchor="b"/>
                </a:tc>
                <a:tc>
                  <a:txBody>
                    <a:bodyPr/>
                    <a:lstStyle/>
                    <a:p>
                      <a:pPr algn="ctr" fontAlgn="b"/>
                      <a:r>
                        <a:rPr lang="en-US" sz="1400" b="1" i="0" u="none" strike="noStrike">
                          <a:solidFill>
                            <a:srgbClr val="000000"/>
                          </a:solidFill>
                          <a:effectLst/>
                          <a:latin typeface="+mj-lt"/>
                        </a:rPr>
                        <a:t>700</a:t>
                      </a:r>
                    </a:p>
                  </a:txBody>
                  <a:tcPr marL="6350" marR="6350" marT="6350" marB="0" anchor="b"/>
                </a:tc>
                <a:extLst>
                  <a:ext uri="{0D108BD9-81ED-4DB2-BD59-A6C34878D82A}">
                    <a16:rowId xmlns:a16="http://schemas.microsoft.com/office/drawing/2014/main" val="3424570291"/>
                  </a:ext>
                </a:extLst>
              </a:tr>
              <a:tr h="278974">
                <a:tc>
                  <a:txBody>
                    <a:bodyPr/>
                    <a:lstStyle/>
                    <a:p>
                      <a:pPr marL="91440" algn="l" fontAlgn="b"/>
                      <a:r>
                        <a:rPr lang="en-US" sz="1400" b="1" u="none" strike="noStrike" dirty="0">
                          <a:solidFill>
                            <a:srgbClr val="000000"/>
                          </a:solidFill>
                          <a:effectLst/>
                          <a:latin typeface="+mj-lt"/>
                        </a:rPr>
                        <a:t>Omaheke</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a:solidFill>
                            <a:srgbClr val="000000"/>
                          </a:solidFill>
                          <a:effectLst/>
                          <a:latin typeface="+mj-lt"/>
                        </a:rPr>
                        <a:t>76.2</a:t>
                      </a:r>
                    </a:p>
                  </a:txBody>
                  <a:tcPr marL="6350" marR="6350" marT="6350" marB="0" anchor="b"/>
                </a:tc>
                <a:tc>
                  <a:txBody>
                    <a:bodyPr/>
                    <a:lstStyle/>
                    <a:p>
                      <a:pPr algn="ctr" fontAlgn="b"/>
                      <a:r>
                        <a:rPr lang="en-US" sz="1400" b="1" i="0" u="none" strike="noStrike" dirty="0">
                          <a:solidFill>
                            <a:srgbClr val="000000"/>
                          </a:solidFill>
                          <a:effectLst/>
                          <a:latin typeface="+mj-lt"/>
                        </a:rPr>
                        <a:t>2.5</a:t>
                      </a:r>
                    </a:p>
                  </a:txBody>
                  <a:tcPr marL="6350" marR="6350" marT="6350" marB="0" anchor="b"/>
                </a:tc>
                <a:tc>
                  <a:txBody>
                    <a:bodyPr/>
                    <a:lstStyle/>
                    <a:p>
                      <a:pPr algn="ctr" fontAlgn="b"/>
                      <a:r>
                        <a:rPr lang="en-US" sz="1400" b="1" i="0" u="none" strike="noStrike">
                          <a:solidFill>
                            <a:srgbClr val="000000"/>
                          </a:solidFill>
                          <a:effectLst/>
                          <a:latin typeface="+mj-lt"/>
                        </a:rPr>
                        <a:t>7.6</a:t>
                      </a:r>
                    </a:p>
                  </a:txBody>
                  <a:tcPr marL="6350" marR="6350" marT="6350" marB="0" anchor="b"/>
                </a:tc>
                <a:tc>
                  <a:txBody>
                    <a:bodyPr/>
                    <a:lstStyle/>
                    <a:p>
                      <a:pPr algn="ctr" fontAlgn="b"/>
                      <a:r>
                        <a:rPr lang="en-US" sz="1400" b="1" i="0" u="none" strike="noStrike">
                          <a:solidFill>
                            <a:srgbClr val="000000"/>
                          </a:solidFill>
                          <a:effectLst/>
                          <a:latin typeface="+mj-lt"/>
                        </a:rPr>
                        <a:t>484</a:t>
                      </a:r>
                    </a:p>
                  </a:txBody>
                  <a:tcPr marL="6350" marR="6350" marT="6350" marB="0" anchor="b"/>
                </a:tc>
                <a:extLst>
                  <a:ext uri="{0D108BD9-81ED-4DB2-BD59-A6C34878D82A}">
                    <a16:rowId xmlns:a16="http://schemas.microsoft.com/office/drawing/2014/main" val="281784712"/>
                  </a:ext>
                </a:extLst>
              </a:tr>
              <a:tr h="278974">
                <a:tc>
                  <a:txBody>
                    <a:bodyPr/>
                    <a:lstStyle/>
                    <a:p>
                      <a:pPr marL="91440" algn="l" fontAlgn="b"/>
                      <a:r>
                        <a:rPr lang="en-US" sz="1400" b="1" u="none" strike="noStrike" dirty="0" err="1">
                          <a:solidFill>
                            <a:srgbClr val="000000"/>
                          </a:solidFill>
                          <a:effectLst/>
                          <a:latin typeface="+mj-lt"/>
                        </a:rPr>
                        <a:t>Omusati</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a:solidFill>
                            <a:srgbClr val="000000"/>
                          </a:solidFill>
                          <a:effectLst/>
                          <a:latin typeface="+mj-lt"/>
                        </a:rPr>
                        <a:t>24.5</a:t>
                      </a:r>
                    </a:p>
                  </a:txBody>
                  <a:tcPr marL="6350" marR="6350" marT="6350" marB="0" anchor="b"/>
                </a:tc>
                <a:tc>
                  <a:txBody>
                    <a:bodyPr/>
                    <a:lstStyle/>
                    <a:p>
                      <a:pPr algn="ctr" fontAlgn="b"/>
                      <a:r>
                        <a:rPr lang="en-US" sz="1400" b="1" i="0" u="none" strike="noStrike" dirty="0">
                          <a:solidFill>
                            <a:srgbClr val="000000"/>
                          </a:solidFill>
                          <a:effectLst/>
                          <a:latin typeface="+mj-lt"/>
                        </a:rPr>
                        <a:t>59.2</a:t>
                      </a:r>
                    </a:p>
                  </a:txBody>
                  <a:tcPr marL="6350" marR="6350" marT="6350" marB="0" anchor="b"/>
                </a:tc>
                <a:tc>
                  <a:txBody>
                    <a:bodyPr/>
                    <a:lstStyle/>
                    <a:p>
                      <a:pPr algn="ctr" fontAlgn="b"/>
                      <a:r>
                        <a:rPr lang="en-US" sz="1400" b="1" i="0" u="none" strike="noStrike" dirty="0">
                          <a:solidFill>
                            <a:srgbClr val="000000"/>
                          </a:solidFill>
                          <a:effectLst/>
                          <a:latin typeface="+mj-lt"/>
                        </a:rPr>
                        <a:t>8.9</a:t>
                      </a:r>
                    </a:p>
                  </a:txBody>
                  <a:tcPr marL="6350" marR="6350" marT="6350" marB="0" anchor="b"/>
                </a:tc>
                <a:tc>
                  <a:txBody>
                    <a:bodyPr/>
                    <a:lstStyle/>
                    <a:p>
                      <a:pPr algn="ctr" fontAlgn="b"/>
                      <a:r>
                        <a:rPr lang="en-US" sz="1400" b="1" i="0" u="none" strike="noStrike">
                          <a:solidFill>
                            <a:srgbClr val="000000"/>
                          </a:solidFill>
                          <a:effectLst/>
                          <a:latin typeface="+mj-lt"/>
                        </a:rPr>
                        <a:t>645</a:t>
                      </a:r>
                    </a:p>
                  </a:txBody>
                  <a:tcPr marL="6350" marR="6350" marT="6350" marB="0" anchor="b"/>
                </a:tc>
                <a:extLst>
                  <a:ext uri="{0D108BD9-81ED-4DB2-BD59-A6C34878D82A}">
                    <a16:rowId xmlns:a16="http://schemas.microsoft.com/office/drawing/2014/main" val="1369239062"/>
                  </a:ext>
                </a:extLst>
              </a:tr>
              <a:tr h="278974">
                <a:tc>
                  <a:txBody>
                    <a:bodyPr/>
                    <a:lstStyle/>
                    <a:p>
                      <a:pPr marL="91440" algn="l" fontAlgn="b"/>
                      <a:r>
                        <a:rPr lang="en-US" sz="1400" b="1" u="none" strike="noStrike" dirty="0">
                          <a:solidFill>
                            <a:srgbClr val="000000"/>
                          </a:solidFill>
                          <a:effectLst/>
                          <a:latin typeface="+mj-lt"/>
                        </a:rPr>
                        <a:t>Oshana</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a:solidFill>
                            <a:srgbClr val="000000"/>
                          </a:solidFill>
                          <a:effectLst/>
                          <a:latin typeface="+mj-lt"/>
                        </a:rPr>
                        <a:t>54.7</a:t>
                      </a:r>
                    </a:p>
                  </a:txBody>
                  <a:tcPr marL="6350" marR="6350" marT="6350" marB="0" anchor="b"/>
                </a:tc>
                <a:tc>
                  <a:txBody>
                    <a:bodyPr/>
                    <a:lstStyle/>
                    <a:p>
                      <a:pPr algn="ctr" fontAlgn="b"/>
                      <a:r>
                        <a:rPr lang="en-US" sz="1400" b="1" i="0" u="none" strike="noStrike" dirty="0">
                          <a:solidFill>
                            <a:srgbClr val="000000"/>
                          </a:solidFill>
                          <a:effectLst/>
                          <a:latin typeface="+mj-lt"/>
                        </a:rPr>
                        <a:t>32.8</a:t>
                      </a:r>
                    </a:p>
                  </a:txBody>
                  <a:tcPr marL="6350" marR="6350" marT="6350" marB="0" anchor="b"/>
                </a:tc>
                <a:tc>
                  <a:txBody>
                    <a:bodyPr/>
                    <a:lstStyle/>
                    <a:p>
                      <a:pPr algn="ctr" fontAlgn="b"/>
                      <a:r>
                        <a:rPr lang="en-US" sz="1400" b="1" i="0" u="none" strike="noStrike" dirty="0">
                          <a:solidFill>
                            <a:srgbClr val="000000"/>
                          </a:solidFill>
                          <a:effectLst/>
                          <a:latin typeface="+mj-lt"/>
                        </a:rPr>
                        <a:t>1.8</a:t>
                      </a:r>
                    </a:p>
                  </a:txBody>
                  <a:tcPr marL="6350" marR="6350" marT="6350" marB="0" anchor="b"/>
                </a:tc>
                <a:tc>
                  <a:txBody>
                    <a:bodyPr/>
                    <a:lstStyle/>
                    <a:p>
                      <a:pPr algn="ctr" fontAlgn="b"/>
                      <a:r>
                        <a:rPr lang="en-US" sz="1400" b="1" i="0" u="none" strike="noStrike">
                          <a:solidFill>
                            <a:srgbClr val="000000"/>
                          </a:solidFill>
                          <a:effectLst/>
                          <a:latin typeface="+mj-lt"/>
                        </a:rPr>
                        <a:t>698</a:t>
                      </a:r>
                    </a:p>
                  </a:txBody>
                  <a:tcPr marL="6350" marR="6350" marT="6350" marB="0" anchor="b"/>
                </a:tc>
                <a:extLst>
                  <a:ext uri="{0D108BD9-81ED-4DB2-BD59-A6C34878D82A}">
                    <a16:rowId xmlns:a16="http://schemas.microsoft.com/office/drawing/2014/main" val="410517136"/>
                  </a:ext>
                </a:extLst>
              </a:tr>
              <a:tr h="278974">
                <a:tc>
                  <a:txBody>
                    <a:bodyPr/>
                    <a:lstStyle/>
                    <a:p>
                      <a:pPr marL="91440" algn="l" fontAlgn="b"/>
                      <a:r>
                        <a:rPr lang="en-US" sz="1400" b="1" u="none" strike="noStrike" dirty="0" err="1">
                          <a:solidFill>
                            <a:srgbClr val="000000"/>
                          </a:solidFill>
                          <a:effectLst/>
                          <a:latin typeface="+mj-lt"/>
                        </a:rPr>
                        <a:t>Oshikoto</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a:solidFill>
                            <a:srgbClr val="000000"/>
                          </a:solidFill>
                          <a:effectLst/>
                          <a:latin typeface="+mj-lt"/>
                        </a:rPr>
                        <a:t>50.1</a:t>
                      </a:r>
                    </a:p>
                  </a:txBody>
                  <a:tcPr marL="6350" marR="6350" marT="6350" marB="0" anchor="b"/>
                </a:tc>
                <a:tc>
                  <a:txBody>
                    <a:bodyPr/>
                    <a:lstStyle/>
                    <a:p>
                      <a:pPr algn="ctr" fontAlgn="b"/>
                      <a:r>
                        <a:rPr lang="en-US" sz="1400" b="1" i="0" u="none" strike="noStrike">
                          <a:solidFill>
                            <a:srgbClr val="000000"/>
                          </a:solidFill>
                          <a:effectLst/>
                          <a:latin typeface="+mj-lt"/>
                        </a:rPr>
                        <a:t>32.3</a:t>
                      </a:r>
                    </a:p>
                  </a:txBody>
                  <a:tcPr marL="6350" marR="6350" marT="6350" marB="0" anchor="b"/>
                </a:tc>
                <a:tc>
                  <a:txBody>
                    <a:bodyPr/>
                    <a:lstStyle/>
                    <a:p>
                      <a:pPr algn="ctr" fontAlgn="b"/>
                      <a:r>
                        <a:rPr lang="en-US" sz="1400" b="1" i="0" u="none" strike="noStrike" dirty="0">
                          <a:solidFill>
                            <a:srgbClr val="000000"/>
                          </a:solidFill>
                          <a:effectLst/>
                          <a:latin typeface="+mj-lt"/>
                        </a:rPr>
                        <a:t>11.5</a:t>
                      </a:r>
                    </a:p>
                  </a:txBody>
                  <a:tcPr marL="6350" marR="6350" marT="6350" marB="0" anchor="b"/>
                </a:tc>
                <a:tc>
                  <a:txBody>
                    <a:bodyPr/>
                    <a:lstStyle/>
                    <a:p>
                      <a:pPr algn="ctr" fontAlgn="b"/>
                      <a:r>
                        <a:rPr lang="en-US" sz="1400" b="1" i="0" u="none" strike="noStrike">
                          <a:solidFill>
                            <a:srgbClr val="000000"/>
                          </a:solidFill>
                          <a:effectLst/>
                          <a:latin typeface="+mj-lt"/>
                        </a:rPr>
                        <a:t>774</a:t>
                      </a:r>
                    </a:p>
                  </a:txBody>
                  <a:tcPr marL="6350" marR="6350" marT="6350" marB="0" anchor="b"/>
                </a:tc>
                <a:extLst>
                  <a:ext uri="{0D108BD9-81ED-4DB2-BD59-A6C34878D82A}">
                    <a16:rowId xmlns:a16="http://schemas.microsoft.com/office/drawing/2014/main" val="2809514853"/>
                  </a:ext>
                </a:extLst>
              </a:tr>
              <a:tr h="278974">
                <a:tc>
                  <a:txBody>
                    <a:bodyPr/>
                    <a:lstStyle/>
                    <a:p>
                      <a:pPr marL="91440" algn="l" fontAlgn="b"/>
                      <a:r>
                        <a:rPr lang="en-US" sz="1400" b="1" u="none" strike="noStrike" dirty="0" err="1">
                          <a:solidFill>
                            <a:srgbClr val="000000"/>
                          </a:solidFill>
                          <a:effectLst/>
                          <a:latin typeface="+mj-lt"/>
                        </a:rPr>
                        <a:t>Otjozondjupa</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a:solidFill>
                            <a:srgbClr val="000000"/>
                          </a:solidFill>
                          <a:effectLst/>
                          <a:latin typeface="+mj-lt"/>
                        </a:rPr>
                        <a:t>80.9</a:t>
                      </a:r>
                    </a:p>
                  </a:txBody>
                  <a:tcPr marL="6350" marR="6350" marT="6350" marB="0" anchor="b"/>
                </a:tc>
                <a:tc>
                  <a:txBody>
                    <a:bodyPr/>
                    <a:lstStyle/>
                    <a:p>
                      <a:pPr algn="ctr" fontAlgn="b"/>
                      <a:r>
                        <a:rPr lang="en-US" sz="1400" b="1" i="0" u="none" strike="noStrike">
                          <a:solidFill>
                            <a:srgbClr val="000000"/>
                          </a:solidFill>
                          <a:effectLst/>
                          <a:latin typeface="+mj-lt"/>
                        </a:rPr>
                        <a:t>0.9</a:t>
                      </a:r>
                    </a:p>
                  </a:txBody>
                  <a:tcPr marL="6350" marR="6350" marT="6350" marB="0" anchor="b"/>
                </a:tc>
                <a:tc>
                  <a:txBody>
                    <a:bodyPr/>
                    <a:lstStyle/>
                    <a:p>
                      <a:pPr algn="ctr" fontAlgn="b"/>
                      <a:r>
                        <a:rPr lang="en-US" sz="1400" b="1" i="0" u="none" strike="noStrike" dirty="0">
                          <a:solidFill>
                            <a:srgbClr val="000000"/>
                          </a:solidFill>
                          <a:effectLst/>
                          <a:latin typeface="+mj-lt"/>
                        </a:rPr>
                        <a:t>4.8</a:t>
                      </a:r>
                    </a:p>
                  </a:txBody>
                  <a:tcPr marL="6350" marR="6350" marT="6350" marB="0" anchor="b"/>
                </a:tc>
                <a:tc>
                  <a:txBody>
                    <a:bodyPr/>
                    <a:lstStyle/>
                    <a:p>
                      <a:pPr algn="ctr" fontAlgn="b"/>
                      <a:r>
                        <a:rPr lang="en-US" sz="1400" b="1" i="0" u="none" strike="noStrike">
                          <a:solidFill>
                            <a:srgbClr val="000000"/>
                          </a:solidFill>
                          <a:effectLst/>
                          <a:latin typeface="+mj-lt"/>
                        </a:rPr>
                        <a:t>684</a:t>
                      </a:r>
                    </a:p>
                  </a:txBody>
                  <a:tcPr marL="6350" marR="6350" marT="6350" marB="0" anchor="b"/>
                </a:tc>
                <a:extLst>
                  <a:ext uri="{0D108BD9-81ED-4DB2-BD59-A6C34878D82A}">
                    <a16:rowId xmlns:a16="http://schemas.microsoft.com/office/drawing/2014/main" val="672803013"/>
                  </a:ext>
                </a:extLst>
              </a:tr>
              <a:tr h="278974">
                <a:tc>
                  <a:txBody>
                    <a:bodyPr/>
                    <a:lstStyle/>
                    <a:p>
                      <a:pPr marL="91440" algn="l" fontAlgn="b"/>
                      <a:r>
                        <a:rPr lang="en-US" sz="1400" b="1" u="none" strike="noStrike" dirty="0">
                          <a:solidFill>
                            <a:srgbClr val="000000"/>
                          </a:solidFill>
                          <a:effectLst/>
                          <a:latin typeface="+mj-lt"/>
                        </a:rPr>
                        <a:t>Zambezi</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dirty="0">
                          <a:solidFill>
                            <a:srgbClr val="000000"/>
                          </a:solidFill>
                          <a:effectLst/>
                          <a:latin typeface="+mj-lt"/>
                        </a:rPr>
                        <a:t>83.9</a:t>
                      </a:r>
                    </a:p>
                  </a:txBody>
                  <a:tcPr marL="6350" marR="6350" marT="6350" marB="0" anchor="b"/>
                </a:tc>
                <a:tc>
                  <a:txBody>
                    <a:bodyPr/>
                    <a:lstStyle/>
                    <a:p>
                      <a:pPr algn="ctr" fontAlgn="b"/>
                      <a:r>
                        <a:rPr lang="en-US" sz="1400" b="1" i="0" u="none" strike="noStrike" dirty="0">
                          <a:solidFill>
                            <a:srgbClr val="000000"/>
                          </a:solidFill>
                          <a:effectLst/>
                          <a:latin typeface="+mj-lt"/>
                        </a:rPr>
                        <a:t>3.0</a:t>
                      </a:r>
                    </a:p>
                  </a:txBody>
                  <a:tcPr marL="6350" marR="6350" marT="6350" marB="0" anchor="b"/>
                </a:tc>
                <a:tc>
                  <a:txBody>
                    <a:bodyPr/>
                    <a:lstStyle/>
                    <a:p>
                      <a:pPr algn="ctr" fontAlgn="b"/>
                      <a:r>
                        <a:rPr lang="en-US" sz="1400" b="1" i="0" u="none" strike="noStrike" dirty="0">
                          <a:solidFill>
                            <a:srgbClr val="000000"/>
                          </a:solidFill>
                          <a:effectLst/>
                          <a:latin typeface="+mj-lt"/>
                        </a:rPr>
                        <a:t>8.9</a:t>
                      </a:r>
                    </a:p>
                  </a:txBody>
                  <a:tcPr marL="6350" marR="6350" marT="6350" marB="0" anchor="b"/>
                </a:tc>
                <a:tc>
                  <a:txBody>
                    <a:bodyPr/>
                    <a:lstStyle/>
                    <a:p>
                      <a:pPr algn="ctr" fontAlgn="b"/>
                      <a:r>
                        <a:rPr lang="en-US" sz="1400" b="1" i="0" u="none" strike="noStrike" dirty="0">
                          <a:solidFill>
                            <a:srgbClr val="000000"/>
                          </a:solidFill>
                          <a:effectLst/>
                          <a:latin typeface="+mj-lt"/>
                        </a:rPr>
                        <a:t>549</a:t>
                      </a:r>
                    </a:p>
                  </a:txBody>
                  <a:tcPr marL="6350" marR="6350" marT="6350" marB="0" anchor="b"/>
                </a:tc>
                <a:extLst>
                  <a:ext uri="{0D108BD9-81ED-4DB2-BD59-A6C34878D82A}">
                    <a16:rowId xmlns:a16="http://schemas.microsoft.com/office/drawing/2014/main" val="1426088456"/>
                  </a:ext>
                </a:extLst>
              </a:tr>
              <a:tr h="278974">
                <a:tc>
                  <a:txBody>
                    <a:bodyPr/>
                    <a:lstStyle/>
                    <a:p>
                      <a:r>
                        <a:rPr lang="en-US" sz="1400" b="1" dirty="0">
                          <a:latin typeface="+mj-lt"/>
                        </a:rPr>
                        <a:t>Total</a:t>
                      </a:r>
                    </a:p>
                  </a:txBody>
                  <a:tcPr anchor="ctr"/>
                </a:tc>
                <a:tc>
                  <a:txBody>
                    <a:bodyPr/>
                    <a:lstStyle/>
                    <a:p>
                      <a:pPr algn="ctr"/>
                      <a:r>
                        <a:rPr lang="en-US" sz="1400" b="1" dirty="0">
                          <a:latin typeface="+mj-lt"/>
                        </a:rPr>
                        <a:t>71.1</a:t>
                      </a:r>
                    </a:p>
                  </a:txBody>
                  <a:tcPr/>
                </a:tc>
                <a:tc>
                  <a:txBody>
                    <a:bodyPr/>
                    <a:lstStyle/>
                    <a:p>
                      <a:pPr algn="ctr"/>
                      <a:r>
                        <a:rPr lang="en-US" sz="1400" b="1" dirty="0">
                          <a:latin typeface="+mj-lt"/>
                        </a:rPr>
                        <a:t>14.8</a:t>
                      </a:r>
                    </a:p>
                  </a:txBody>
                  <a:tcPr/>
                </a:tc>
                <a:tc>
                  <a:txBody>
                    <a:bodyPr/>
                    <a:lstStyle/>
                    <a:p>
                      <a:pPr algn="ctr"/>
                      <a:r>
                        <a:rPr lang="en-US" sz="1400" b="1" dirty="0">
                          <a:latin typeface="+mj-lt"/>
                        </a:rPr>
                        <a:t>6.1</a:t>
                      </a:r>
                    </a:p>
                  </a:txBody>
                  <a:tcPr/>
                </a:tc>
                <a:tc>
                  <a:txBody>
                    <a:bodyPr/>
                    <a:lstStyle/>
                    <a:p>
                      <a:pPr algn="ctr" fontAlgn="b"/>
                      <a:r>
                        <a:rPr lang="en-US" sz="1400" b="1" i="0" u="none" strike="noStrike" dirty="0">
                          <a:solidFill>
                            <a:srgbClr val="000000"/>
                          </a:solidFill>
                          <a:effectLst/>
                          <a:latin typeface="+mj-lt"/>
                        </a:rPr>
                        <a:t>8,427</a:t>
                      </a:r>
                    </a:p>
                  </a:txBody>
                  <a:tcPr marL="6350" marR="6350" marT="6350" marB="0" anchor="b"/>
                </a:tc>
                <a:extLst>
                  <a:ext uri="{0D108BD9-81ED-4DB2-BD59-A6C34878D82A}">
                    <a16:rowId xmlns:a16="http://schemas.microsoft.com/office/drawing/2014/main" val="2667869443"/>
                  </a:ext>
                </a:extLst>
              </a:tr>
            </a:tbl>
          </a:graphicData>
        </a:graphic>
      </p:graphicFrame>
      <p:sp>
        <p:nvSpPr>
          <p:cNvPr id="5" name="TextBox 4">
            <a:extLst>
              <a:ext uri="{FF2B5EF4-FFF2-40B4-BE49-F238E27FC236}">
                <a16:creationId xmlns:a16="http://schemas.microsoft.com/office/drawing/2014/main" id="{2DB8F50B-D865-4C2C-8B9C-3E9CDBFA2428}"/>
              </a:ext>
            </a:extLst>
          </p:cNvPr>
          <p:cNvSpPr txBox="1"/>
          <p:nvPr/>
        </p:nvSpPr>
        <p:spPr>
          <a:xfrm>
            <a:off x="838200" y="1524005"/>
            <a:ext cx="10439400" cy="646331"/>
          </a:xfrm>
          <a:prstGeom prst="rect">
            <a:avLst/>
          </a:prstGeom>
          <a:noFill/>
        </p:spPr>
        <p:txBody>
          <a:bodyPr wrap="square" rtlCol="0">
            <a:spAutoFit/>
          </a:bodyPr>
          <a:lstStyle/>
          <a:p>
            <a:r>
              <a:rPr lang="en-US" b="1" dirty="0">
                <a:latin typeface="Tw Cen MT" panose="020B0602020104020603" pitchFamily="34" charset="0"/>
              </a:rPr>
              <a:t>Table 2. Among households consuming “other cereals” in 7 days before survey, proportion reporting main source as purchased, own production, and assistance (NHIES 2015/16)</a:t>
            </a:r>
          </a:p>
        </p:txBody>
      </p:sp>
    </p:spTree>
    <p:extLst>
      <p:ext uri="{BB962C8B-B14F-4D97-AF65-F5344CB8AC3E}">
        <p14:creationId xmlns:p14="http://schemas.microsoft.com/office/powerpoint/2010/main" val="66344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F7154-0C54-4070-A61E-238A67C3F68F}"/>
              </a:ext>
            </a:extLst>
          </p:cNvPr>
          <p:cNvSpPr>
            <a:spLocks noGrp="1"/>
          </p:cNvSpPr>
          <p:nvPr>
            <p:ph type="title"/>
          </p:nvPr>
        </p:nvSpPr>
        <p:spPr/>
        <p:txBody>
          <a:bodyPr/>
          <a:lstStyle/>
          <a:p>
            <a:r>
              <a:rPr lang="en-US" dirty="0">
                <a:latin typeface="Tw Cen MT" panose="020B0602020104020603" pitchFamily="34" charset="0"/>
              </a:rPr>
              <a:t>IV. Appendix B: Data Tables</a:t>
            </a:r>
          </a:p>
        </p:txBody>
      </p:sp>
      <p:graphicFrame>
        <p:nvGraphicFramePr>
          <p:cNvPr id="3" name="Table 3">
            <a:extLst>
              <a:ext uri="{FF2B5EF4-FFF2-40B4-BE49-F238E27FC236}">
                <a16:creationId xmlns:a16="http://schemas.microsoft.com/office/drawing/2014/main" id="{E2581179-2337-465E-9E9C-999AA1FA5182}"/>
              </a:ext>
            </a:extLst>
          </p:cNvPr>
          <p:cNvGraphicFramePr>
            <a:graphicFrameLocks noGrp="1"/>
          </p:cNvGraphicFramePr>
          <p:nvPr>
            <p:extLst>
              <p:ext uri="{D42A27DB-BD31-4B8C-83A1-F6EECF244321}">
                <p14:modId xmlns:p14="http://schemas.microsoft.com/office/powerpoint/2010/main" val="2999570614"/>
              </p:ext>
            </p:extLst>
          </p:nvPr>
        </p:nvGraphicFramePr>
        <p:xfrm>
          <a:off x="838200" y="2226394"/>
          <a:ext cx="10515605" cy="2588244"/>
        </p:xfrm>
        <a:graphic>
          <a:graphicData uri="http://schemas.openxmlformats.org/drawingml/2006/table">
            <a:tbl>
              <a:tblPr firstRow="1" bandRow="1">
                <a:tableStyleId>{3B4B98B0-60AC-42C2-AFA5-B58CD77FA1E5}</a:tableStyleId>
              </a:tblPr>
              <a:tblGrid>
                <a:gridCol w="1831109">
                  <a:extLst>
                    <a:ext uri="{9D8B030D-6E8A-4147-A177-3AD203B41FA5}">
                      <a16:colId xmlns:a16="http://schemas.microsoft.com/office/drawing/2014/main" val="3771755485"/>
                    </a:ext>
                  </a:extLst>
                </a:gridCol>
                <a:gridCol w="1447416">
                  <a:extLst>
                    <a:ext uri="{9D8B030D-6E8A-4147-A177-3AD203B41FA5}">
                      <a16:colId xmlns:a16="http://schemas.microsoft.com/office/drawing/2014/main" val="1647068758"/>
                    </a:ext>
                  </a:extLst>
                </a:gridCol>
                <a:gridCol w="1447416">
                  <a:extLst>
                    <a:ext uri="{9D8B030D-6E8A-4147-A177-3AD203B41FA5}">
                      <a16:colId xmlns:a16="http://schemas.microsoft.com/office/drawing/2014/main" val="3136655689"/>
                    </a:ext>
                  </a:extLst>
                </a:gridCol>
                <a:gridCol w="1447416">
                  <a:extLst>
                    <a:ext uri="{9D8B030D-6E8A-4147-A177-3AD203B41FA5}">
                      <a16:colId xmlns:a16="http://schemas.microsoft.com/office/drawing/2014/main" val="26931426"/>
                    </a:ext>
                  </a:extLst>
                </a:gridCol>
                <a:gridCol w="1447416">
                  <a:extLst>
                    <a:ext uri="{9D8B030D-6E8A-4147-A177-3AD203B41FA5}">
                      <a16:colId xmlns:a16="http://schemas.microsoft.com/office/drawing/2014/main" val="57770954"/>
                    </a:ext>
                  </a:extLst>
                </a:gridCol>
                <a:gridCol w="1447416">
                  <a:extLst>
                    <a:ext uri="{9D8B030D-6E8A-4147-A177-3AD203B41FA5}">
                      <a16:colId xmlns:a16="http://schemas.microsoft.com/office/drawing/2014/main" val="3656819411"/>
                    </a:ext>
                  </a:extLst>
                </a:gridCol>
                <a:gridCol w="1447416">
                  <a:extLst>
                    <a:ext uri="{9D8B030D-6E8A-4147-A177-3AD203B41FA5}">
                      <a16:colId xmlns:a16="http://schemas.microsoft.com/office/drawing/2014/main" val="1483870915"/>
                    </a:ext>
                  </a:extLst>
                </a:gridCol>
              </a:tblGrid>
              <a:tr h="278974">
                <a:tc>
                  <a:txBody>
                    <a:bodyPr/>
                    <a:lstStyle/>
                    <a:p>
                      <a:endParaRPr lang="en-US" sz="1400" b="1" dirty="0">
                        <a:latin typeface="+mj-lt"/>
                      </a:endParaRPr>
                    </a:p>
                  </a:txBody>
                  <a:tcPr/>
                </a:tc>
                <a:tc gridSpan="2">
                  <a:txBody>
                    <a:bodyPr/>
                    <a:lstStyle/>
                    <a:p>
                      <a:pPr algn="ctr"/>
                      <a:r>
                        <a:rPr lang="en-US" sz="1400" b="1" dirty="0">
                          <a:latin typeface="+mj-lt"/>
                        </a:rPr>
                        <a:t>Maize</a:t>
                      </a:r>
                    </a:p>
                  </a:txBody>
                  <a:tcPr/>
                </a:tc>
                <a:tc hMerge="1">
                  <a:txBody>
                    <a:bodyPr/>
                    <a:lstStyle/>
                    <a:p>
                      <a:pPr algn="ctr"/>
                      <a:endParaRPr lang="en-US" sz="1400" b="1" dirty="0">
                        <a:latin typeface="+mj-lt"/>
                      </a:endParaRPr>
                    </a:p>
                  </a:txBody>
                  <a:tcPr/>
                </a:tc>
                <a:tc gridSpan="2">
                  <a:txBody>
                    <a:bodyPr/>
                    <a:lstStyle/>
                    <a:p>
                      <a:pPr algn="ctr"/>
                      <a:r>
                        <a:rPr lang="en-US" sz="1400" b="1" dirty="0" err="1">
                          <a:latin typeface="+mj-lt"/>
                        </a:rPr>
                        <a:t>Mahangu</a:t>
                      </a:r>
                      <a:endParaRPr lang="en-US" sz="1400" b="1" dirty="0">
                        <a:latin typeface="+mj-lt"/>
                      </a:endParaRPr>
                    </a:p>
                  </a:txBody>
                  <a:tcPr/>
                </a:tc>
                <a:tc hMerge="1">
                  <a:txBody>
                    <a:bodyPr/>
                    <a:lstStyle/>
                    <a:p>
                      <a:pPr algn="ctr"/>
                      <a:endParaRPr lang="en-US" sz="1400" b="1" dirty="0">
                        <a:latin typeface="+mj-lt"/>
                      </a:endParaRPr>
                    </a:p>
                  </a:txBody>
                  <a:tcPr/>
                </a:tc>
                <a:tc gridSpan="2">
                  <a:txBody>
                    <a:bodyPr/>
                    <a:lstStyle/>
                    <a:p>
                      <a:pPr algn="ctr"/>
                      <a:r>
                        <a:rPr lang="en-US" sz="1400" b="1" dirty="0">
                          <a:latin typeface="+mj-lt"/>
                        </a:rPr>
                        <a:t>Sorghum</a:t>
                      </a:r>
                    </a:p>
                  </a:txBody>
                  <a:tcPr/>
                </a:tc>
                <a:tc hMerge="1">
                  <a:txBody>
                    <a:bodyPr/>
                    <a:lstStyle/>
                    <a:p>
                      <a:pPr algn="ctr"/>
                      <a:endParaRPr lang="en-US" sz="1400" b="1" dirty="0">
                        <a:latin typeface="+mj-lt"/>
                      </a:endParaRPr>
                    </a:p>
                  </a:txBody>
                  <a:tcPr/>
                </a:tc>
                <a:extLst>
                  <a:ext uri="{0D108BD9-81ED-4DB2-BD59-A6C34878D82A}">
                    <a16:rowId xmlns:a16="http://schemas.microsoft.com/office/drawing/2014/main" val="2920181130"/>
                  </a:ext>
                </a:extLst>
              </a:tr>
              <a:tr h="27897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kern="1200" dirty="0">
                          <a:solidFill>
                            <a:schemeClr val="tx1"/>
                          </a:solidFill>
                          <a:latin typeface="+mj-lt"/>
                          <a:ea typeface="+mn-ea"/>
                          <a:cs typeface="+mn-cs"/>
                        </a:rPr>
                        <a:t>Region</a:t>
                      </a:r>
                    </a:p>
                  </a:txBody>
                  <a:tcPr/>
                </a:tc>
                <a:tc>
                  <a:txBody>
                    <a:bodyPr/>
                    <a:lstStyle/>
                    <a:p>
                      <a:pPr algn="ctr"/>
                      <a:r>
                        <a:rPr lang="en-US" sz="1400" b="1" dirty="0">
                          <a:latin typeface="+mj-lt"/>
                        </a:rPr>
                        <a:t>MAWF</a:t>
                      </a:r>
                    </a:p>
                  </a:txBody>
                  <a:tcPr anchor="ctr"/>
                </a:tc>
                <a:tc>
                  <a:txBody>
                    <a:bodyPr/>
                    <a:lstStyle/>
                    <a:p>
                      <a:pPr algn="ctr"/>
                      <a:r>
                        <a:rPr lang="en-US" sz="1400" b="1" dirty="0">
                          <a:latin typeface="+mj-lt"/>
                        </a:rPr>
                        <a:t>NHIES</a:t>
                      </a:r>
                    </a:p>
                  </a:txBody>
                  <a:tcPr anchor="ctr"/>
                </a:tc>
                <a:tc>
                  <a:txBody>
                    <a:bodyPr/>
                    <a:lstStyle/>
                    <a:p>
                      <a:pPr algn="ctr"/>
                      <a:r>
                        <a:rPr lang="en-US" sz="1400" b="1" dirty="0">
                          <a:latin typeface="+mj-lt"/>
                        </a:rPr>
                        <a:t>MAWF</a:t>
                      </a:r>
                    </a:p>
                  </a:txBody>
                  <a:tcPr anchor="ctr"/>
                </a:tc>
                <a:tc>
                  <a:txBody>
                    <a:bodyPr/>
                    <a:lstStyle/>
                    <a:p>
                      <a:pPr algn="ctr"/>
                      <a:r>
                        <a:rPr lang="en-US" sz="1400" b="1" dirty="0">
                          <a:latin typeface="+mj-lt"/>
                        </a:rPr>
                        <a:t>NHIES</a:t>
                      </a:r>
                    </a:p>
                  </a:txBody>
                  <a:tcPr anchor="ctr"/>
                </a:tc>
                <a:tc>
                  <a:txBody>
                    <a:bodyPr/>
                    <a:lstStyle/>
                    <a:p>
                      <a:pPr algn="ctr"/>
                      <a:r>
                        <a:rPr lang="en-US" sz="1400" b="1" dirty="0">
                          <a:latin typeface="+mj-lt"/>
                        </a:rPr>
                        <a:t>MAWF</a:t>
                      </a:r>
                    </a:p>
                  </a:txBody>
                  <a:tcPr anchor="ctr"/>
                </a:tc>
                <a:tc>
                  <a:txBody>
                    <a:bodyPr/>
                    <a:lstStyle/>
                    <a:p>
                      <a:pPr algn="ctr"/>
                      <a:r>
                        <a:rPr lang="en-US" sz="1400" b="1" dirty="0">
                          <a:latin typeface="+mj-lt"/>
                        </a:rPr>
                        <a:t>NHIES</a:t>
                      </a:r>
                    </a:p>
                  </a:txBody>
                  <a:tcPr anchor="ctr"/>
                </a:tc>
                <a:extLst>
                  <a:ext uri="{0D108BD9-81ED-4DB2-BD59-A6C34878D82A}">
                    <a16:rowId xmlns:a16="http://schemas.microsoft.com/office/drawing/2014/main" val="171974943"/>
                  </a:ext>
                </a:extLst>
              </a:tr>
              <a:tr h="278974">
                <a:tc>
                  <a:txBody>
                    <a:bodyPr/>
                    <a:lstStyle/>
                    <a:p>
                      <a:pPr marL="91440" algn="l" fontAlgn="b"/>
                      <a:r>
                        <a:rPr lang="en-US" sz="1400" b="1" i="0" u="none" strike="noStrike" dirty="0" err="1">
                          <a:solidFill>
                            <a:srgbClr val="000000"/>
                          </a:solidFill>
                          <a:effectLst/>
                          <a:latin typeface="+mj-lt"/>
                        </a:rPr>
                        <a:t>Kavango</a:t>
                      </a:r>
                      <a:r>
                        <a:rPr lang="en-US" sz="1400" b="1" i="0" u="none" strike="noStrike" dirty="0">
                          <a:solidFill>
                            <a:srgbClr val="000000"/>
                          </a:solidFill>
                          <a:effectLst/>
                          <a:latin typeface="+mj-lt"/>
                        </a:rPr>
                        <a:t> East and West</a:t>
                      </a:r>
                    </a:p>
                  </a:txBody>
                  <a:tcPr marL="6350" marR="6350" marT="6350" marB="0" anchor="ctr"/>
                </a:tc>
                <a:tc>
                  <a:txBody>
                    <a:bodyPr/>
                    <a:lstStyle/>
                    <a:p>
                      <a:pPr algn="ctr" fontAlgn="b"/>
                      <a:r>
                        <a:rPr lang="en-US" sz="1400" b="1" i="0" u="none" strike="noStrike" dirty="0">
                          <a:solidFill>
                            <a:srgbClr val="000000"/>
                          </a:solidFill>
                          <a:effectLst/>
                          <a:latin typeface="+mj-lt"/>
                        </a:rPr>
                        <a:t>139 </a:t>
                      </a:r>
                    </a:p>
                  </a:txBody>
                  <a:tcPr marL="6350" marR="6350" marT="6350" marB="0" anchor="ctr"/>
                </a:tc>
                <a:tc>
                  <a:txBody>
                    <a:bodyPr/>
                    <a:lstStyle/>
                    <a:p>
                      <a:pPr algn="ctr" fontAlgn="b"/>
                      <a:r>
                        <a:rPr lang="en-US" sz="1400" b="1" i="0" u="none" strike="noStrike">
                          <a:solidFill>
                            <a:srgbClr val="000000"/>
                          </a:solidFill>
                          <a:effectLst/>
                          <a:latin typeface="+mj-lt"/>
                        </a:rPr>
                        <a:t>1,184</a:t>
                      </a:r>
                    </a:p>
                  </a:txBody>
                  <a:tcPr marL="6350" marR="6350" marT="6350" marB="0" anchor="ctr"/>
                </a:tc>
                <a:tc>
                  <a:txBody>
                    <a:bodyPr/>
                    <a:lstStyle/>
                    <a:p>
                      <a:pPr algn="ctr" fontAlgn="b"/>
                      <a:r>
                        <a:rPr lang="en-US" sz="1400" b="1" i="0" u="none" strike="noStrike" dirty="0">
                          <a:solidFill>
                            <a:srgbClr val="000000"/>
                          </a:solidFill>
                          <a:effectLst/>
                          <a:latin typeface="+mj-lt"/>
                        </a:rPr>
                        <a:t>763 </a:t>
                      </a:r>
                    </a:p>
                  </a:txBody>
                  <a:tcPr marL="6350" marR="6350" marT="6350" marB="0" anchor="ctr"/>
                </a:tc>
                <a:tc>
                  <a:txBody>
                    <a:bodyPr/>
                    <a:lstStyle/>
                    <a:p>
                      <a:pPr algn="ctr" fontAlgn="b"/>
                      <a:r>
                        <a:rPr lang="en-US" sz="1400" b="1" i="0" u="none" strike="noStrike" dirty="0">
                          <a:solidFill>
                            <a:srgbClr val="000000"/>
                          </a:solidFill>
                          <a:effectLst/>
                          <a:latin typeface="+mj-lt"/>
                        </a:rPr>
                        <a:t>2,166</a:t>
                      </a:r>
                    </a:p>
                  </a:txBody>
                  <a:tcPr marL="6350" marR="6350" marT="6350" marB="0" anchor="ctr"/>
                </a:tc>
                <a:tc>
                  <a:txBody>
                    <a:bodyPr/>
                    <a:lstStyle/>
                    <a:p>
                      <a:pPr algn="ctr" fontAlgn="b"/>
                      <a:r>
                        <a:rPr lang="en-US" sz="1400" b="1" i="0" u="none" strike="noStrike" dirty="0">
                          <a:solidFill>
                            <a:srgbClr val="000000"/>
                          </a:solidFill>
                          <a:effectLst/>
                          <a:latin typeface="+mj-lt"/>
                        </a:rPr>
                        <a:t>87 </a:t>
                      </a:r>
                    </a:p>
                  </a:txBody>
                  <a:tcPr marL="6350" marR="6350" marT="6350" marB="0" anchor="ctr"/>
                </a:tc>
                <a:tc>
                  <a:txBody>
                    <a:bodyPr/>
                    <a:lstStyle/>
                    <a:p>
                      <a:pPr algn="ctr" fontAlgn="b"/>
                      <a:r>
                        <a:rPr lang="en-US" sz="1400" b="1" i="0" u="none" strike="noStrike" dirty="0">
                          <a:solidFill>
                            <a:srgbClr val="000000"/>
                          </a:solidFill>
                          <a:effectLst/>
                          <a:latin typeface="+mj-lt"/>
                        </a:rPr>
                        <a:t>132</a:t>
                      </a:r>
                    </a:p>
                  </a:txBody>
                  <a:tcPr marL="6350" marR="6350" marT="6350" marB="0" anchor="ctr"/>
                </a:tc>
                <a:extLst>
                  <a:ext uri="{0D108BD9-81ED-4DB2-BD59-A6C34878D82A}">
                    <a16:rowId xmlns:a16="http://schemas.microsoft.com/office/drawing/2014/main" val="2916333070"/>
                  </a:ext>
                </a:extLst>
              </a:tr>
              <a:tr h="278974">
                <a:tc>
                  <a:txBody>
                    <a:bodyPr/>
                    <a:lstStyle/>
                    <a:p>
                      <a:pPr marL="91440" algn="l" fontAlgn="b"/>
                      <a:r>
                        <a:rPr lang="en-US" sz="1400" b="1" u="none" strike="noStrike" dirty="0">
                          <a:solidFill>
                            <a:srgbClr val="000000"/>
                          </a:solidFill>
                          <a:effectLst/>
                          <a:latin typeface="+mj-lt"/>
                        </a:rPr>
                        <a:t>Ohangwena</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dirty="0">
                          <a:solidFill>
                            <a:srgbClr val="000000"/>
                          </a:solidFill>
                          <a:effectLst/>
                          <a:latin typeface="+mj-lt"/>
                        </a:rPr>
                        <a:t> --- </a:t>
                      </a:r>
                    </a:p>
                  </a:txBody>
                  <a:tcPr marL="6350" marR="6350" marT="6350" marB="0" anchor="ctr"/>
                </a:tc>
                <a:tc>
                  <a:txBody>
                    <a:bodyPr/>
                    <a:lstStyle/>
                    <a:p>
                      <a:pPr algn="ctr" fontAlgn="b"/>
                      <a:r>
                        <a:rPr lang="en-US" sz="1400" b="1" i="0" u="none" strike="noStrike" dirty="0">
                          <a:solidFill>
                            <a:srgbClr val="000000"/>
                          </a:solidFill>
                          <a:effectLst/>
                          <a:latin typeface="+mj-lt"/>
                        </a:rPr>
                        <a:t>28</a:t>
                      </a:r>
                    </a:p>
                  </a:txBody>
                  <a:tcPr marL="6350" marR="6350" marT="6350" marB="0" anchor="ctr"/>
                </a:tc>
                <a:tc>
                  <a:txBody>
                    <a:bodyPr/>
                    <a:lstStyle/>
                    <a:p>
                      <a:pPr algn="ctr" fontAlgn="b"/>
                      <a:r>
                        <a:rPr lang="en-US" sz="1400" b="1" i="0" u="none" strike="noStrike" dirty="0">
                          <a:solidFill>
                            <a:srgbClr val="000000"/>
                          </a:solidFill>
                          <a:effectLst/>
                          <a:latin typeface="+mj-lt"/>
                        </a:rPr>
                        <a:t>2,258 </a:t>
                      </a:r>
                    </a:p>
                  </a:txBody>
                  <a:tcPr marL="6350" marR="6350" marT="6350" marB="0" anchor="ctr"/>
                </a:tc>
                <a:tc>
                  <a:txBody>
                    <a:bodyPr/>
                    <a:lstStyle/>
                    <a:p>
                      <a:pPr algn="ctr" fontAlgn="b"/>
                      <a:r>
                        <a:rPr lang="en-US" sz="1400" b="1" i="0" u="none" strike="noStrike" dirty="0">
                          <a:solidFill>
                            <a:srgbClr val="000000"/>
                          </a:solidFill>
                          <a:effectLst/>
                          <a:latin typeface="+mj-lt"/>
                        </a:rPr>
                        <a:t>4,615</a:t>
                      </a:r>
                    </a:p>
                  </a:txBody>
                  <a:tcPr marL="6350" marR="6350" marT="6350" marB="0" anchor="ctr"/>
                </a:tc>
                <a:tc>
                  <a:txBody>
                    <a:bodyPr/>
                    <a:lstStyle/>
                    <a:p>
                      <a:pPr algn="ctr" fontAlgn="b"/>
                      <a:r>
                        <a:rPr lang="en-US" sz="1400" b="1" i="0" u="none" strike="noStrike" dirty="0">
                          <a:solidFill>
                            <a:srgbClr val="000000"/>
                          </a:solidFill>
                          <a:effectLst/>
                          <a:latin typeface="+mj-lt"/>
                        </a:rPr>
                        <a:t>292 </a:t>
                      </a:r>
                    </a:p>
                  </a:txBody>
                  <a:tcPr marL="6350" marR="6350" marT="6350" marB="0" anchor="ctr"/>
                </a:tc>
                <a:tc>
                  <a:txBody>
                    <a:bodyPr/>
                    <a:lstStyle/>
                    <a:p>
                      <a:pPr algn="ctr" fontAlgn="b"/>
                      <a:r>
                        <a:rPr lang="en-US" sz="1400" b="1" i="0" u="none" strike="noStrike" dirty="0">
                          <a:solidFill>
                            <a:srgbClr val="000000"/>
                          </a:solidFill>
                          <a:effectLst/>
                          <a:latin typeface="+mj-lt"/>
                        </a:rPr>
                        <a:t>251</a:t>
                      </a:r>
                    </a:p>
                  </a:txBody>
                  <a:tcPr marL="6350" marR="6350" marT="6350" marB="0" anchor="ctr"/>
                </a:tc>
                <a:extLst>
                  <a:ext uri="{0D108BD9-81ED-4DB2-BD59-A6C34878D82A}">
                    <a16:rowId xmlns:a16="http://schemas.microsoft.com/office/drawing/2014/main" val="3424570291"/>
                  </a:ext>
                </a:extLst>
              </a:tr>
              <a:tr h="278974">
                <a:tc>
                  <a:txBody>
                    <a:bodyPr/>
                    <a:lstStyle/>
                    <a:p>
                      <a:pPr marL="91440" algn="l" fontAlgn="b"/>
                      <a:r>
                        <a:rPr lang="en-US" sz="1400" b="1" u="none" strike="noStrike" dirty="0" err="1">
                          <a:solidFill>
                            <a:srgbClr val="000000"/>
                          </a:solidFill>
                          <a:effectLst/>
                          <a:latin typeface="+mj-lt"/>
                        </a:rPr>
                        <a:t>Omusati</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dirty="0">
                          <a:solidFill>
                            <a:srgbClr val="000000"/>
                          </a:solidFill>
                          <a:effectLst/>
                          <a:latin typeface="+mj-lt"/>
                        </a:rPr>
                        <a:t> --- </a:t>
                      </a:r>
                    </a:p>
                  </a:txBody>
                  <a:tcPr marL="6350" marR="6350" marT="6350" marB="0" anchor="ctr"/>
                </a:tc>
                <a:tc>
                  <a:txBody>
                    <a:bodyPr/>
                    <a:lstStyle/>
                    <a:p>
                      <a:pPr algn="ctr" fontAlgn="b"/>
                      <a:r>
                        <a:rPr lang="en-US" sz="1400" b="1" i="0" u="none" strike="noStrike" dirty="0">
                          <a:solidFill>
                            <a:srgbClr val="000000"/>
                          </a:solidFill>
                          <a:effectLst/>
                          <a:latin typeface="+mj-lt"/>
                        </a:rPr>
                        <a:t>92</a:t>
                      </a:r>
                    </a:p>
                  </a:txBody>
                  <a:tcPr marL="6350" marR="6350" marT="6350" marB="0" anchor="ctr"/>
                </a:tc>
                <a:tc>
                  <a:txBody>
                    <a:bodyPr/>
                    <a:lstStyle/>
                    <a:p>
                      <a:pPr algn="ctr" fontAlgn="b"/>
                      <a:r>
                        <a:rPr lang="en-US" sz="1400" b="1" i="0" u="none" strike="noStrike" dirty="0">
                          <a:solidFill>
                            <a:srgbClr val="000000"/>
                          </a:solidFill>
                          <a:effectLst/>
                          <a:latin typeface="+mj-lt"/>
                        </a:rPr>
                        <a:t>3,213 </a:t>
                      </a:r>
                    </a:p>
                  </a:txBody>
                  <a:tcPr marL="6350" marR="6350" marT="6350" marB="0" anchor="ctr"/>
                </a:tc>
                <a:tc>
                  <a:txBody>
                    <a:bodyPr/>
                    <a:lstStyle/>
                    <a:p>
                      <a:pPr algn="ctr" fontAlgn="b"/>
                      <a:r>
                        <a:rPr lang="en-US" sz="1400" b="1" i="0" u="none" strike="noStrike" dirty="0">
                          <a:solidFill>
                            <a:srgbClr val="000000"/>
                          </a:solidFill>
                          <a:effectLst/>
                          <a:latin typeface="+mj-lt"/>
                        </a:rPr>
                        <a:t>6,550</a:t>
                      </a:r>
                    </a:p>
                  </a:txBody>
                  <a:tcPr marL="6350" marR="6350" marT="6350" marB="0" anchor="ctr"/>
                </a:tc>
                <a:tc>
                  <a:txBody>
                    <a:bodyPr/>
                    <a:lstStyle/>
                    <a:p>
                      <a:pPr algn="ctr" fontAlgn="b"/>
                      <a:r>
                        <a:rPr lang="en-US" sz="1400" b="1" i="0" u="none" strike="noStrike" dirty="0">
                          <a:solidFill>
                            <a:srgbClr val="000000"/>
                          </a:solidFill>
                          <a:effectLst/>
                          <a:latin typeface="+mj-lt"/>
                        </a:rPr>
                        <a:t>92 </a:t>
                      </a:r>
                    </a:p>
                  </a:txBody>
                  <a:tcPr marL="6350" marR="6350" marT="6350" marB="0" anchor="ctr"/>
                </a:tc>
                <a:tc>
                  <a:txBody>
                    <a:bodyPr/>
                    <a:lstStyle/>
                    <a:p>
                      <a:pPr algn="ctr" fontAlgn="b"/>
                      <a:r>
                        <a:rPr lang="en-US" sz="1400" b="1" i="0" u="none" strike="noStrike" dirty="0">
                          <a:solidFill>
                            <a:srgbClr val="000000"/>
                          </a:solidFill>
                          <a:effectLst/>
                          <a:latin typeface="+mj-lt"/>
                        </a:rPr>
                        <a:t>695</a:t>
                      </a:r>
                    </a:p>
                  </a:txBody>
                  <a:tcPr marL="6350" marR="6350" marT="6350" marB="0" anchor="ctr"/>
                </a:tc>
                <a:extLst>
                  <a:ext uri="{0D108BD9-81ED-4DB2-BD59-A6C34878D82A}">
                    <a16:rowId xmlns:a16="http://schemas.microsoft.com/office/drawing/2014/main" val="1369239062"/>
                  </a:ext>
                </a:extLst>
              </a:tr>
              <a:tr h="278974">
                <a:tc>
                  <a:txBody>
                    <a:bodyPr/>
                    <a:lstStyle/>
                    <a:p>
                      <a:pPr marL="91440" algn="l" fontAlgn="b"/>
                      <a:r>
                        <a:rPr lang="en-US" sz="1400" b="1" u="none" strike="noStrike" dirty="0">
                          <a:solidFill>
                            <a:srgbClr val="000000"/>
                          </a:solidFill>
                          <a:effectLst/>
                          <a:latin typeface="+mj-lt"/>
                        </a:rPr>
                        <a:t>Oshana</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dirty="0">
                          <a:solidFill>
                            <a:srgbClr val="000000"/>
                          </a:solidFill>
                          <a:effectLst/>
                          <a:latin typeface="+mj-lt"/>
                        </a:rPr>
                        <a:t> --- </a:t>
                      </a:r>
                    </a:p>
                  </a:txBody>
                  <a:tcPr marL="6350" marR="6350" marT="6350" marB="0" anchor="ctr"/>
                </a:tc>
                <a:tc>
                  <a:txBody>
                    <a:bodyPr/>
                    <a:lstStyle/>
                    <a:p>
                      <a:pPr algn="ctr" fontAlgn="b"/>
                      <a:r>
                        <a:rPr lang="en-US" sz="1400" b="1" i="0" u="none" strike="noStrike" dirty="0">
                          <a:solidFill>
                            <a:srgbClr val="000000"/>
                          </a:solidFill>
                          <a:effectLst/>
                          <a:latin typeface="+mj-lt"/>
                        </a:rPr>
                        <a:t>28</a:t>
                      </a:r>
                    </a:p>
                  </a:txBody>
                  <a:tcPr marL="6350" marR="6350" marT="6350" marB="0" anchor="ctr"/>
                </a:tc>
                <a:tc>
                  <a:txBody>
                    <a:bodyPr/>
                    <a:lstStyle/>
                    <a:p>
                      <a:pPr algn="ctr" fontAlgn="b"/>
                      <a:r>
                        <a:rPr lang="en-US" sz="1400" b="1" i="0" u="none" strike="noStrike" dirty="0">
                          <a:solidFill>
                            <a:srgbClr val="000000"/>
                          </a:solidFill>
                          <a:effectLst/>
                          <a:latin typeface="+mj-lt"/>
                        </a:rPr>
                        <a:t>3,156 </a:t>
                      </a:r>
                    </a:p>
                  </a:txBody>
                  <a:tcPr marL="6350" marR="6350" marT="6350" marB="0" anchor="ctr"/>
                </a:tc>
                <a:tc>
                  <a:txBody>
                    <a:bodyPr/>
                    <a:lstStyle/>
                    <a:p>
                      <a:pPr algn="ctr" fontAlgn="b"/>
                      <a:r>
                        <a:rPr lang="en-US" sz="1400" b="1" i="0" u="none" strike="noStrike" dirty="0">
                          <a:solidFill>
                            <a:srgbClr val="000000"/>
                          </a:solidFill>
                          <a:effectLst/>
                          <a:latin typeface="+mj-lt"/>
                        </a:rPr>
                        <a:t>2,168</a:t>
                      </a:r>
                    </a:p>
                  </a:txBody>
                  <a:tcPr marL="6350" marR="6350" marT="6350" marB="0" anchor="ctr"/>
                </a:tc>
                <a:tc>
                  <a:txBody>
                    <a:bodyPr/>
                    <a:lstStyle/>
                    <a:p>
                      <a:pPr algn="ctr" fontAlgn="b"/>
                      <a:r>
                        <a:rPr lang="en-US" sz="1400" b="1" i="0" u="none" strike="noStrike" dirty="0">
                          <a:solidFill>
                            <a:srgbClr val="000000"/>
                          </a:solidFill>
                          <a:effectLst/>
                          <a:latin typeface="+mj-lt"/>
                        </a:rPr>
                        <a:t>138 </a:t>
                      </a:r>
                    </a:p>
                  </a:txBody>
                  <a:tcPr marL="6350" marR="6350" marT="6350" marB="0" anchor="ctr"/>
                </a:tc>
                <a:tc>
                  <a:txBody>
                    <a:bodyPr/>
                    <a:lstStyle/>
                    <a:p>
                      <a:pPr algn="ctr" fontAlgn="b"/>
                      <a:r>
                        <a:rPr lang="en-US" sz="1400" b="1" i="0" u="none" strike="noStrike" dirty="0">
                          <a:solidFill>
                            <a:srgbClr val="000000"/>
                          </a:solidFill>
                          <a:effectLst/>
                          <a:latin typeface="+mj-lt"/>
                        </a:rPr>
                        <a:t>199</a:t>
                      </a:r>
                    </a:p>
                  </a:txBody>
                  <a:tcPr marL="6350" marR="6350" marT="6350" marB="0" anchor="ctr"/>
                </a:tc>
                <a:extLst>
                  <a:ext uri="{0D108BD9-81ED-4DB2-BD59-A6C34878D82A}">
                    <a16:rowId xmlns:a16="http://schemas.microsoft.com/office/drawing/2014/main" val="410517136"/>
                  </a:ext>
                </a:extLst>
              </a:tr>
              <a:tr h="278974">
                <a:tc>
                  <a:txBody>
                    <a:bodyPr/>
                    <a:lstStyle/>
                    <a:p>
                      <a:pPr marL="91440" algn="l" fontAlgn="b"/>
                      <a:r>
                        <a:rPr lang="en-US" sz="1400" b="1" u="none" strike="noStrike" dirty="0" err="1">
                          <a:solidFill>
                            <a:srgbClr val="000000"/>
                          </a:solidFill>
                          <a:effectLst/>
                          <a:latin typeface="+mj-lt"/>
                        </a:rPr>
                        <a:t>Oshikoto</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dirty="0">
                          <a:solidFill>
                            <a:srgbClr val="000000"/>
                          </a:solidFill>
                          <a:effectLst/>
                          <a:latin typeface="+mj-lt"/>
                        </a:rPr>
                        <a:t> --- </a:t>
                      </a:r>
                    </a:p>
                  </a:txBody>
                  <a:tcPr marL="6350" marR="6350" marT="6350" marB="0" anchor="ctr"/>
                </a:tc>
                <a:tc>
                  <a:txBody>
                    <a:bodyPr/>
                    <a:lstStyle/>
                    <a:p>
                      <a:pPr algn="ctr" fontAlgn="b"/>
                      <a:r>
                        <a:rPr lang="en-US" sz="1400" b="1" i="0" u="none" strike="noStrike">
                          <a:solidFill>
                            <a:srgbClr val="000000"/>
                          </a:solidFill>
                          <a:effectLst/>
                          <a:latin typeface="+mj-lt"/>
                        </a:rPr>
                        <a:t>80</a:t>
                      </a:r>
                    </a:p>
                  </a:txBody>
                  <a:tcPr marL="6350" marR="6350" marT="6350" marB="0" anchor="ctr"/>
                </a:tc>
                <a:tc>
                  <a:txBody>
                    <a:bodyPr/>
                    <a:lstStyle/>
                    <a:p>
                      <a:pPr algn="ctr" fontAlgn="b"/>
                      <a:r>
                        <a:rPr lang="en-US" sz="1400" b="1" i="0" u="none" strike="noStrike" dirty="0">
                          <a:solidFill>
                            <a:srgbClr val="000000"/>
                          </a:solidFill>
                          <a:effectLst/>
                          <a:latin typeface="+mj-lt"/>
                        </a:rPr>
                        <a:t>5,581 </a:t>
                      </a:r>
                    </a:p>
                  </a:txBody>
                  <a:tcPr marL="6350" marR="6350" marT="6350" marB="0" anchor="ctr"/>
                </a:tc>
                <a:tc>
                  <a:txBody>
                    <a:bodyPr/>
                    <a:lstStyle/>
                    <a:p>
                      <a:pPr algn="ctr" fontAlgn="b"/>
                      <a:r>
                        <a:rPr lang="en-US" sz="1400" b="1" i="0" u="none" strike="noStrike" dirty="0">
                          <a:solidFill>
                            <a:srgbClr val="000000"/>
                          </a:solidFill>
                          <a:effectLst/>
                          <a:latin typeface="+mj-lt"/>
                        </a:rPr>
                        <a:t>2,829</a:t>
                      </a:r>
                    </a:p>
                  </a:txBody>
                  <a:tcPr marL="6350" marR="6350" marT="6350" marB="0" anchor="ctr"/>
                </a:tc>
                <a:tc>
                  <a:txBody>
                    <a:bodyPr/>
                    <a:lstStyle/>
                    <a:p>
                      <a:pPr algn="ctr" fontAlgn="b"/>
                      <a:r>
                        <a:rPr lang="en-US" sz="1400" b="1" i="0" u="none" strike="noStrike" dirty="0">
                          <a:solidFill>
                            <a:srgbClr val="000000"/>
                          </a:solidFill>
                          <a:effectLst/>
                          <a:latin typeface="+mj-lt"/>
                        </a:rPr>
                        <a:t>186 </a:t>
                      </a:r>
                    </a:p>
                  </a:txBody>
                  <a:tcPr marL="6350" marR="6350" marT="6350" marB="0" anchor="ctr"/>
                </a:tc>
                <a:tc>
                  <a:txBody>
                    <a:bodyPr/>
                    <a:lstStyle/>
                    <a:p>
                      <a:pPr algn="ctr" fontAlgn="b"/>
                      <a:r>
                        <a:rPr lang="en-US" sz="1400" b="1" i="0" u="none" strike="noStrike" dirty="0">
                          <a:solidFill>
                            <a:srgbClr val="000000"/>
                          </a:solidFill>
                          <a:effectLst/>
                          <a:latin typeface="+mj-lt"/>
                        </a:rPr>
                        <a:t>87</a:t>
                      </a:r>
                    </a:p>
                  </a:txBody>
                  <a:tcPr marL="6350" marR="6350" marT="6350" marB="0" anchor="ctr"/>
                </a:tc>
                <a:extLst>
                  <a:ext uri="{0D108BD9-81ED-4DB2-BD59-A6C34878D82A}">
                    <a16:rowId xmlns:a16="http://schemas.microsoft.com/office/drawing/2014/main" val="2809514853"/>
                  </a:ext>
                </a:extLst>
              </a:tr>
              <a:tr h="278974">
                <a:tc>
                  <a:txBody>
                    <a:bodyPr/>
                    <a:lstStyle/>
                    <a:p>
                      <a:pPr marL="91440" algn="l" fontAlgn="b"/>
                      <a:r>
                        <a:rPr lang="en-US" sz="1400" b="1" u="none" strike="noStrike" dirty="0">
                          <a:solidFill>
                            <a:srgbClr val="000000"/>
                          </a:solidFill>
                          <a:effectLst/>
                          <a:latin typeface="+mj-lt"/>
                        </a:rPr>
                        <a:t>Zambezi</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dirty="0">
                          <a:solidFill>
                            <a:srgbClr val="000000"/>
                          </a:solidFill>
                          <a:effectLst/>
                          <a:latin typeface="+mj-lt"/>
                        </a:rPr>
                        <a:t>1,293 </a:t>
                      </a:r>
                    </a:p>
                  </a:txBody>
                  <a:tcPr marL="6350" marR="6350" marT="6350" marB="0" anchor="ctr"/>
                </a:tc>
                <a:tc>
                  <a:txBody>
                    <a:bodyPr/>
                    <a:lstStyle/>
                    <a:p>
                      <a:pPr algn="ctr" fontAlgn="b"/>
                      <a:r>
                        <a:rPr lang="en-US" sz="1400" b="1" i="0" u="none" strike="noStrike">
                          <a:solidFill>
                            <a:srgbClr val="000000"/>
                          </a:solidFill>
                          <a:effectLst/>
                          <a:latin typeface="+mj-lt"/>
                        </a:rPr>
                        <a:t>745</a:t>
                      </a:r>
                    </a:p>
                  </a:txBody>
                  <a:tcPr marL="6350" marR="6350" marT="6350" marB="0" anchor="ctr"/>
                </a:tc>
                <a:tc>
                  <a:txBody>
                    <a:bodyPr/>
                    <a:lstStyle/>
                    <a:p>
                      <a:pPr algn="ctr" fontAlgn="b"/>
                      <a:r>
                        <a:rPr lang="en-US" sz="1400" b="1" i="0" u="none" strike="noStrike" dirty="0">
                          <a:solidFill>
                            <a:srgbClr val="000000"/>
                          </a:solidFill>
                          <a:effectLst/>
                          <a:latin typeface="+mj-lt"/>
                        </a:rPr>
                        <a:t>331 </a:t>
                      </a:r>
                    </a:p>
                  </a:txBody>
                  <a:tcPr marL="6350" marR="6350" marT="6350" marB="0" anchor="ctr"/>
                </a:tc>
                <a:tc>
                  <a:txBody>
                    <a:bodyPr/>
                    <a:lstStyle/>
                    <a:p>
                      <a:pPr algn="ctr" fontAlgn="b"/>
                      <a:r>
                        <a:rPr lang="en-US" sz="1400" b="1" i="0" u="none" strike="noStrike" dirty="0">
                          <a:solidFill>
                            <a:srgbClr val="000000"/>
                          </a:solidFill>
                          <a:effectLst/>
                          <a:latin typeface="+mj-lt"/>
                        </a:rPr>
                        <a:t>54</a:t>
                      </a:r>
                    </a:p>
                  </a:txBody>
                  <a:tcPr marL="6350" marR="6350" marT="6350" marB="0" anchor="ctr"/>
                </a:tc>
                <a:tc>
                  <a:txBody>
                    <a:bodyPr/>
                    <a:lstStyle/>
                    <a:p>
                      <a:pPr algn="ctr" fontAlgn="b"/>
                      <a:r>
                        <a:rPr lang="en-US" sz="1400" b="1" i="0" u="none" strike="noStrike" dirty="0">
                          <a:solidFill>
                            <a:srgbClr val="000000"/>
                          </a:solidFill>
                          <a:effectLst/>
                          <a:latin typeface="+mj-lt"/>
                        </a:rPr>
                        <a:t>876 </a:t>
                      </a:r>
                    </a:p>
                  </a:txBody>
                  <a:tcPr marL="6350" marR="6350" marT="6350" marB="0" anchor="ctr"/>
                </a:tc>
                <a:tc>
                  <a:txBody>
                    <a:bodyPr/>
                    <a:lstStyle/>
                    <a:p>
                      <a:pPr algn="ctr" fontAlgn="b"/>
                      <a:r>
                        <a:rPr lang="en-US" sz="1400" b="1" i="0" u="none" strike="noStrike" dirty="0">
                          <a:solidFill>
                            <a:srgbClr val="000000"/>
                          </a:solidFill>
                          <a:effectLst/>
                          <a:latin typeface="+mj-lt"/>
                        </a:rPr>
                        <a:t>26</a:t>
                      </a:r>
                    </a:p>
                  </a:txBody>
                  <a:tcPr marL="6350" marR="6350" marT="6350" marB="0" anchor="ctr"/>
                </a:tc>
                <a:extLst>
                  <a:ext uri="{0D108BD9-81ED-4DB2-BD59-A6C34878D82A}">
                    <a16:rowId xmlns:a16="http://schemas.microsoft.com/office/drawing/2014/main" val="1426088456"/>
                  </a:ext>
                </a:extLst>
              </a:tr>
              <a:tr h="278974">
                <a:tc>
                  <a:txBody>
                    <a:bodyPr/>
                    <a:lstStyle/>
                    <a:p>
                      <a:r>
                        <a:rPr lang="en-US" sz="1400" b="1" dirty="0">
                          <a:latin typeface="+mj-lt"/>
                        </a:rPr>
                        <a:t>Total</a:t>
                      </a:r>
                    </a:p>
                  </a:txBody>
                  <a:tcPr anchor="ctr"/>
                </a:tc>
                <a:tc>
                  <a:txBody>
                    <a:bodyPr/>
                    <a:lstStyle/>
                    <a:p>
                      <a:pPr algn="ctr" fontAlgn="b"/>
                      <a:r>
                        <a:rPr lang="en-US" sz="1400" b="1" i="1" u="none" strike="noStrike" dirty="0">
                          <a:solidFill>
                            <a:srgbClr val="000000"/>
                          </a:solidFill>
                          <a:effectLst/>
                          <a:latin typeface="+mj-lt"/>
                        </a:rPr>
                        <a:t>1,432 </a:t>
                      </a:r>
                    </a:p>
                  </a:txBody>
                  <a:tcPr marL="6350" marR="6350" marT="6350" marB="0" anchor="ctr"/>
                </a:tc>
                <a:tc>
                  <a:txBody>
                    <a:bodyPr/>
                    <a:lstStyle/>
                    <a:p>
                      <a:pPr algn="ctr" fontAlgn="b"/>
                      <a:r>
                        <a:rPr lang="en-US" sz="1400" b="1" i="1" u="none" strike="noStrike" dirty="0">
                          <a:solidFill>
                            <a:srgbClr val="000000"/>
                          </a:solidFill>
                          <a:effectLst/>
                          <a:latin typeface="+mj-lt"/>
                        </a:rPr>
                        <a:t>2,157 </a:t>
                      </a:r>
                    </a:p>
                  </a:txBody>
                  <a:tcPr marL="6350" marR="6350" marT="6350" marB="0" anchor="ctr"/>
                </a:tc>
                <a:tc>
                  <a:txBody>
                    <a:bodyPr/>
                    <a:lstStyle/>
                    <a:p>
                      <a:pPr algn="ctr" fontAlgn="b"/>
                      <a:r>
                        <a:rPr lang="en-US" sz="1400" b="1" i="1" u="none" strike="noStrike" dirty="0">
                          <a:solidFill>
                            <a:srgbClr val="000000"/>
                          </a:solidFill>
                          <a:effectLst/>
                          <a:latin typeface="+mj-lt"/>
                        </a:rPr>
                        <a:t>15,302 </a:t>
                      </a:r>
                    </a:p>
                  </a:txBody>
                  <a:tcPr marL="6350" marR="6350" marT="6350" marB="0" anchor="ctr"/>
                </a:tc>
                <a:tc>
                  <a:txBody>
                    <a:bodyPr/>
                    <a:lstStyle/>
                    <a:p>
                      <a:pPr algn="ctr" fontAlgn="b"/>
                      <a:r>
                        <a:rPr lang="en-US" sz="1400" b="1" i="1" u="none" strike="noStrike" dirty="0">
                          <a:solidFill>
                            <a:srgbClr val="000000"/>
                          </a:solidFill>
                          <a:effectLst/>
                          <a:latin typeface="+mj-lt"/>
                        </a:rPr>
                        <a:t>18,382 </a:t>
                      </a:r>
                    </a:p>
                  </a:txBody>
                  <a:tcPr marL="6350" marR="6350" marT="6350" marB="0" anchor="ctr"/>
                </a:tc>
                <a:tc>
                  <a:txBody>
                    <a:bodyPr/>
                    <a:lstStyle/>
                    <a:p>
                      <a:pPr algn="ctr" fontAlgn="b"/>
                      <a:r>
                        <a:rPr lang="en-US" sz="1400" b="1" i="1" u="none" strike="noStrike" dirty="0">
                          <a:solidFill>
                            <a:srgbClr val="000000"/>
                          </a:solidFill>
                          <a:effectLst/>
                          <a:latin typeface="+mj-lt"/>
                        </a:rPr>
                        <a:t>1,671 </a:t>
                      </a:r>
                    </a:p>
                  </a:txBody>
                  <a:tcPr marL="6350" marR="6350" marT="6350" marB="0" anchor="ctr"/>
                </a:tc>
                <a:tc>
                  <a:txBody>
                    <a:bodyPr/>
                    <a:lstStyle/>
                    <a:p>
                      <a:pPr algn="ctr" fontAlgn="b"/>
                      <a:r>
                        <a:rPr lang="en-US" sz="1400" b="1" i="1" u="none" strike="noStrike" dirty="0">
                          <a:solidFill>
                            <a:srgbClr val="000000"/>
                          </a:solidFill>
                          <a:effectLst/>
                          <a:latin typeface="+mj-lt"/>
                        </a:rPr>
                        <a:t>1,390 </a:t>
                      </a:r>
                    </a:p>
                  </a:txBody>
                  <a:tcPr marL="6350" marR="6350" marT="6350" marB="0" anchor="ctr"/>
                </a:tc>
                <a:extLst>
                  <a:ext uri="{0D108BD9-81ED-4DB2-BD59-A6C34878D82A}">
                    <a16:rowId xmlns:a16="http://schemas.microsoft.com/office/drawing/2014/main" val="2667869443"/>
                  </a:ext>
                </a:extLst>
              </a:tr>
            </a:tbl>
          </a:graphicData>
        </a:graphic>
      </p:graphicFrame>
      <p:sp>
        <p:nvSpPr>
          <p:cNvPr id="5" name="TextBox 4">
            <a:extLst>
              <a:ext uri="{FF2B5EF4-FFF2-40B4-BE49-F238E27FC236}">
                <a16:creationId xmlns:a16="http://schemas.microsoft.com/office/drawing/2014/main" id="{2DB8F50B-D865-4C2C-8B9C-3E9CDBFA2428}"/>
              </a:ext>
            </a:extLst>
          </p:cNvPr>
          <p:cNvSpPr txBox="1"/>
          <p:nvPr/>
        </p:nvSpPr>
        <p:spPr>
          <a:xfrm>
            <a:off x="838200" y="1524005"/>
            <a:ext cx="10439400" cy="646331"/>
          </a:xfrm>
          <a:prstGeom prst="rect">
            <a:avLst/>
          </a:prstGeom>
          <a:noFill/>
        </p:spPr>
        <p:txBody>
          <a:bodyPr wrap="square" rtlCol="0">
            <a:spAutoFit/>
          </a:bodyPr>
          <a:lstStyle/>
          <a:p>
            <a:r>
              <a:rPr lang="en-US" b="1" dirty="0"/>
              <a:t>Table 3. Estimated communal production (MT) of maize, </a:t>
            </a:r>
            <a:r>
              <a:rPr lang="en-US" b="1" dirty="0" err="1"/>
              <a:t>mahangu</a:t>
            </a:r>
            <a:r>
              <a:rPr lang="en-US" b="1" dirty="0"/>
              <a:t> and sorghum in key administrative areas (NHIES 2015/16 and MAWF 2014)</a:t>
            </a:r>
          </a:p>
        </p:txBody>
      </p:sp>
    </p:spTree>
    <p:extLst>
      <p:ext uri="{BB962C8B-B14F-4D97-AF65-F5344CB8AC3E}">
        <p14:creationId xmlns:p14="http://schemas.microsoft.com/office/powerpoint/2010/main" val="4089075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2118</TotalTime>
  <Words>2326</Words>
  <Application>Microsoft Macintosh PowerPoint</Application>
  <PresentationFormat>Widescreen</PresentationFormat>
  <Paragraphs>320</Paragraphs>
  <Slides>18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Calibri</vt:lpstr>
      <vt:lpstr>Calibri Light</vt:lpstr>
      <vt:lpstr>Cascadia Code</vt:lpstr>
      <vt:lpstr>Tw Cen MT</vt:lpstr>
      <vt:lpstr>Wingdings</vt:lpstr>
      <vt:lpstr>Office Theme</vt:lpstr>
      <vt:lpstr>Food Production and Consumption Patterns in Namibia</vt:lpstr>
      <vt:lpstr>Overview</vt:lpstr>
      <vt:lpstr>I. Background</vt:lpstr>
      <vt:lpstr>II. Methodology</vt:lpstr>
      <vt:lpstr>III. Key Findings</vt:lpstr>
      <vt:lpstr>III. Key Findings</vt:lpstr>
      <vt:lpstr>III. Key Findings</vt:lpstr>
      <vt:lpstr>III. Key Findings</vt:lpstr>
      <vt:lpstr>III. Key Findings</vt:lpstr>
      <vt:lpstr>III. Key Findings</vt:lpstr>
      <vt:lpstr>III. Key Findings</vt:lpstr>
      <vt:lpstr>IV. Appendix A: Summary of Methods</vt:lpstr>
      <vt:lpstr>A. Analysis of household-level food consumption and grain production according to key demographics</vt:lpstr>
      <vt:lpstr>B. Comparison of regional cereal production data from MAWF, NAB and NHIES</vt:lpstr>
      <vt:lpstr>C. Mapping of regional and temporal variations in household-level grain consumption</vt:lpstr>
      <vt:lpstr>IV. Appendix B: Data Tables</vt:lpstr>
      <vt:lpstr>IV. Appendix B: Data Tables</vt:lpstr>
      <vt:lpstr>IV. Appendix B: Data Tables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Food Production and Consumption Patterns in Namibia</dc:title>
  <dc:creator>Aaron WISE</dc:creator>
  <cp:lastModifiedBy>karen codling</cp:lastModifiedBy>
  <cp:revision>115</cp:revision>
  <dcterms:created xsi:type="dcterms:W3CDTF">2020-10-13T02:26:37Z</dcterms:created>
  <dcterms:modified xsi:type="dcterms:W3CDTF">2021-02-19T09:57:00Z</dcterms:modified>
</cp:coreProperties>
</file>